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GiftWise 解决的是青年送礼时的决策困难：不是缺点子，而是缺依据、怕送错、拿不准分寸。可以做已实测声明的有七项：本机探针与单元测试、Dify 工作流真实运行 10 次模型调用 34,127 tokens、真实延迟、本机 Docker 实测九项全通过、容器校验结果与本机逐字节一致、镜像无密钥且非 root 运行、以及接入层的语义一致性与 HTTP 冒烟。必须写未完成的有十七项，我按云与编排、Dify、数据与成本、可观测性与工程四组列出，一条都不省略，第 8 页是完整清单。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最核心的痛点是分寸：给追求对象送礼，表达太强会造成压力，太弱又显得敷衍。我们把成功标准定成可验证的九条。其中四条已有真实运行证据，其余属于未完成，包括呈现阶段、页面验收和用户测量。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核心判断是：模型可以给建议，但不能给自己打分，所以硬约束全部交给独立 Python 代码，这份规则只有一份真源，同时喂给 Dify 的 Code 节点、本地 API 和容器。第二个决定是让用户在中途做选择。第三个是把可信状态放在服务端。容器我们只做了本机实测与可复现打包，明确没有上云、没有 K8s，本机容器数据是单机基线，不是生产容量结论。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左半部分是 Agent 链路，共 11 个节点 11 条边，已接线并在真实模型下跑通。右半部分是架构：同一份 Python 规则同时供 Dify Code 节点、本地 API 和容器使用。图例里实线是已实现和核实过的，虚线是目标设计。真实运行中 N4 的 ELSE 分支从未被触发，自然触发超预算和标签级禁忌也都没有出现；平台级 trace 不可用；草稿没有发布，也没有上云、没有推镜像仓库。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这一页只放已有真实证据，按 PM 的 A 组七条口径逐条列出并给出证据位置，全部可以在仓库里复核。另外两条是我自己另行核实、同样真实可复现的：阶段 C 独立套件 39 项通过，以及追求对象与恋人的文案差异。未完成的十七条我不在这一页展开，完整清单在第 8 页。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工程化三点。第一复现：没有第三方依赖，生成物带哈希，健康检查返回规则源码哈希，容器里的校验结果与本机逐字节一致，镜像里无密钥且以非 root 运行。第二异常处理：模型输出损坏 JSON 和持续失败都有真实运行证据，原则是失败就是失败；但提示词修复之后的修订路径还没有运行时证据。第三可观测性：token 从服务端 total_tokens 采集，接入层语义一致性与 HTTP 冒烟都通过了；但平台级 trace 不可用，阶段 14 采集仍是设计，前端没有性能数据也没有在真实浏览器验证，parity 只是样例级等价且没有安全专项测试，提交也还是临时提交。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成本这一页只用真实数字：真实模型调用 10 次、34,127 tokens，token 取服务端 total_tokens；N2 约 4.5 到 6 秒，N5 约 3 秒，端到端 5.2 到 8.9 秒；无模型的服务端 0.587 到 0.888 秒；代码节点 0.067 到 0.238 秒；本机容器镜像 178MB、冷构建 2.2 秒、热构建 0.6 秒、启动到健康 0.75 到 1.01 秒、内存 14.41 到 17.86 MiB、CPU 0.01%。请特别注意：本机容器数据是单机基线，不是生产容量结论。DeepSeek 的单位价格和单任务金额成本我写的是未核实，因为必须来自真实账单，我不会用估算值冒充。云端资源消耗和跨机延迟未测量。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最后一页两栏口径固定。左边是可作为已实测列出的七条，每条都有原始证据可复核。右边是必须写进明确未完成的十七条，我按云与编排、Dify 工作流、数据与成本、可观测性与工程四组逐条列出，一条都不省略：未上云未采购、上传脚本从未上传、未推镜像仓库、无 K8S 无多副本无弹性伸缩无资源调度无分布式状态；工作流未发布未创建版本、trace 不可用、N4 ELSE 未触发、无自然 OVER_BUDGET 与 FORBIDDEN_TAG 证据、提示词修复后的修订路径无运行时证据、Dify 侧呈现阶段未实现；价格库存未核实、单价未从真实账单核实、云端资源与跨机延迟未测量；阶段 14 仍是设计、前端无性能数据未在真实浏览器验证、parity 仅样例级且无安全专项测试、提交为临时提交未独立评审。如果被问到能不能上云，标准回答是：能部署、脚本与设计已写好，但按比赛边界未采购、未上传。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19456"/>
            <a:ext cx="11201400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1A202C"/>
                </a:solidFill>
              </a:rPr>
              <a:t>① 项目概述：解决什么问题，最终做出了什么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21207" y="822960"/>
            <a:ext cx="11201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>
                <a:solidFill>
                  <a:srgbClr val="606B7C"/>
                </a:solidFill>
              </a:rPr>
              <a:t>GiftWise AI · 青年送礼决策 Agent · 赛道 B（AI Application）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243584"/>
            <a:ext cx="1120140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350" b="1">
                <a:solidFill>
                  <a:srgbClr val="1A202C"/>
                </a:solidFill>
              </a:rPr>
              <a:t>• 一句话：把「不知道送什么」变成「知道为什么选、以及怎么送」。</a:t>
            </a:r>
          </a:p>
          <a:p>
            <a:pPr>
              <a:spcAft>
                <a:spcPts val="500"/>
              </a:spcAft>
            </a:pPr>
            <a:r>
              <a:rPr sz="1350" b="0">
                <a:solidFill>
                  <a:srgbClr val="1A202C"/>
                </a:solidFill>
              </a:rPr>
              <a:t>• 目标用户：初入社会的青年。关系优先级：恋人、追求对象（最高）→ 朋友 → 其他。</a:t>
            </a:r>
          </a:p>
          <a:p>
            <a:pPr>
              <a:spcAft>
                <a:spcPts val="500"/>
              </a:spcAft>
            </a:pPr>
            <a:r>
              <a:rPr sz="1350" b="0">
                <a:solidFill>
                  <a:srgbClr val="1A202C"/>
                </a:solidFill>
              </a:rPr>
              <a:t>• 产品主张：给出可核对的决定过程（三方向 → 独立校验 → 用户自己选 → 选完才生成怎么送），不是礼物点子清单。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2578608"/>
            <a:ext cx="5486400" cy="3401568"/>
          </a:xfrm>
          <a:prstGeom prst="rect">
            <a:avLst/>
          </a:prstGeom>
          <a:solidFill>
            <a:srgbClr val="F2F5FA"/>
          </a:solidFill>
          <a:ln w="15875">
            <a:solidFill>
              <a:srgbClr val="0E7C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0584" rIns="82296" tIns="54864"/>
          <a:lstStyle/>
          <a:p>
            <a:pPr algn="ctr"/>
            <a:r>
              <a:rPr sz="1400" b="1">
                <a:solidFill>
                  <a:srgbClr val="0E7C4F"/>
                </a:solidFill>
              </a:rPr>
              <a:t>A. 可写「已实测」（有原始证据，可复核）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202C"/>
                </a:solidFill>
              </a:rPr>
              <a:t>46 条本机探针 + 322 条单元测试通过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202C"/>
                </a:solidFill>
              </a:rPr>
              <a:t>Dify 工作流真实运行 10 次模型调用 / 34,127 tokens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202C"/>
                </a:solidFill>
              </a:rPr>
              <a:t>N2 约 6.0 s；服务端 0.587–0.888 s；代码节点 0.067–0.238 s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202C"/>
                </a:solidFill>
              </a:rPr>
              <a:t>本机 Docker 实测 9/9：镜像 178 MB、热构建 0.6 s、启动到健康 0.75–1.01 s、内存 14.41–17.86 MiB、CPU 0.01%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202C"/>
                </a:solidFill>
              </a:rPr>
              <a:t>容器 /validate 与本机 validator.rules.validate 逐字节一致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202C"/>
                </a:solidFill>
              </a:rPr>
              <a:t>镜像内无密钥、非 root（uid 10001）运行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202C"/>
                </a:solidFill>
              </a:rPr>
              <a:t>接入层 JS 与 Python 规则语义一致（55 组 / 0 差异）；HTTP 冒烟 59 项 / 0 失败</a:t>
            </a:r>
          </a:p>
        </p:txBody>
      </p:sp>
      <p:sp>
        <p:nvSpPr>
          <p:cNvPr id="7" name="Rectangle 6"/>
          <p:cNvSpPr/>
          <p:nvPr/>
        </p:nvSpPr>
        <p:spPr>
          <a:xfrm>
            <a:off x="6217920" y="2578608"/>
            <a:ext cx="5486400" cy="3401568"/>
          </a:xfrm>
          <a:prstGeom prst="rect">
            <a:avLst/>
          </a:prstGeom>
          <a:solidFill>
            <a:srgbClr val="F2F5FA"/>
          </a:solidFill>
          <a:ln w="15875">
            <a:solidFill>
              <a:srgbClr val="B428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0584" rIns="82296" tIns="54864"/>
          <a:lstStyle/>
          <a:p>
            <a:pPr algn="ctr"/>
            <a:r>
              <a:rPr sz="1400" b="1">
                <a:solidFill>
                  <a:srgbClr val="B42828"/>
                </a:solidFill>
              </a:rPr>
              <a:t>B. 必须写「未完成」（共 17 条，见第 8 页）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202C"/>
                </a:solidFill>
              </a:rPr>
              <a:t>B1 云与编排：未上云、未采购、未上传、未推镜像仓库、无 K8S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202C"/>
                </a:solidFill>
              </a:rPr>
              <a:t>B2 Dify：未发布未建版本；trace 不可用；N4 ELSE 未触发；无自然 OVER_BUDGET / FORBIDDEN_TAG 证据；Dify 侧呈现阶段未实现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202C"/>
                </a:solidFill>
              </a:rPr>
              <a:t>B3 数据与成本：价格库存未核实；DeepSeek 单价未从真实账单核实；云端资源与跨机延迟未测量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202C"/>
                </a:solidFill>
              </a:rPr>
              <a:t>B4 可观测性与工程：阶段 14 仍是设计；web 无性能数据、未在真实浏览器验证；parity 仅样例级、无安全专项；提交为临时提交未独立评审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364224"/>
            <a:ext cx="112014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>
                <a:solidFill>
                  <a:srgbClr val="606B7C"/>
                </a:solidFill>
              </a:rPr>
              <a:t>版本：本地 HEAD + 工作区未提交改动（现场若使用与提交版本不同的代码/模型/配置，将主动说明，评分规则 1.4）｜截止 2026-11-01 10:30｜汇报 5 分钟 / Demo 3 分钟 / 问答 7 分钟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19456"/>
            <a:ext cx="11201400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1A202C"/>
                </a:solidFill>
              </a:rPr>
              <a:t>② 问题与目标（含成功标准）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21207" y="822960"/>
            <a:ext cx="11201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>
                <a:solidFill>
                  <a:srgbClr val="606B7C"/>
                </a:solidFill>
              </a:rPr>
              <a:t>痛点 P-1…P-5 ｜ 硬性需求：追求对象 ≠ 恋人 ｜ 成功标准 SC-1…SC-9（已冻结、可验证）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243584"/>
            <a:ext cx="11201400" cy="11704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350" b="0">
                <a:solidFill>
                  <a:srgbClr val="1A202C"/>
                </a:solidFill>
              </a:rPr>
              <a:t>• P-1 不知道送什么；P-2 怕选错造成尴尬/误解；P-3 关系表达过强或过弱；P-4 预算、时间与明确禁忌冲突；P-5 包装等新增成本是否仍可控。</a:t>
            </a:r>
          </a:p>
          <a:p>
            <a:pPr>
              <a:spcAft>
                <a:spcPts val="500"/>
              </a:spcAft>
            </a:pPr>
            <a:r>
              <a:rPr sz="1350" b="1">
                <a:solidFill>
                  <a:srgbClr val="B42828"/>
                </a:solidFill>
              </a:rPr>
              <a:t>• 关键难点：模型说的话无法自证 —— 硬约束必须由独立代码判定。</a:t>
            </a:r>
          </a:p>
          <a:p>
            <a:pPr>
              <a:spcAft>
                <a:spcPts val="500"/>
              </a:spcAft>
            </a:pPr>
            <a:r>
              <a:rPr sz="1350" b="1">
                <a:solidFill>
                  <a:srgbClr val="B42828"/>
                </a:solidFill>
              </a:rPr>
              <a:t>• 硬性需求：追求关系不假定已接受、不假定双向好感；文案默认低压力，不制造回应压力。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2578608"/>
          <a:ext cx="11201399" cy="33101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4399"/>
                <a:gridCol w="5669280"/>
                <a:gridCol w="4617720"/>
              </a:tblGrid>
              <a:tr h="331012">
                <a:tc>
                  <a:txBody>
                    <a:bodyPr wrap="square"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</a:rPr>
                        <a:t>编号</a:t>
                      </a:r>
                    </a:p>
                  </a:txBody>
                  <a:tcPr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</a:rPr>
                        <a:t>成功标准（摘要）</a:t>
                      </a:r>
                    </a:p>
                  </a:txBody>
                  <a:tcPr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</a:rPr>
                        <a:t>当前状态</a:t>
                      </a:r>
                    </a:p>
                  </a:txBody>
                  <a:tcPr>
                    <a:solidFill>
                      <a:srgbClr val="2563EB"/>
                    </a:solidFill>
                  </a:tcPr>
                </a:tc>
              </a:tr>
              <a:tr h="331012">
                <a:tc>
                  <a:txBody>
                    <a:bodyPr wrap="square"/>
                    <a:lstStyle/>
                    <a:p>
                      <a:r>
                        <a:rPr sz="950">
                          <a:solidFill>
                            <a:srgbClr val="1A202C"/>
                          </a:solidFill>
                        </a:rPr>
                        <a:t>SC-1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>
                          <a:solidFill>
                            <a:srgbClr val="1A202C"/>
                          </a:solidFill>
                        </a:rPr>
                        <a:t>预算上限与最终可用天数被明确确认，无静默补值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>
                          <a:solidFill>
                            <a:srgbClr val="1A202C"/>
                          </a:solidFill>
                        </a:rPr>
                        <a:t>B 部分（规则层已实现，页面未验收）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31012">
                <a:tc>
                  <a:txBody>
                    <a:bodyPr wrap="square"/>
                    <a:lstStyle/>
                    <a:p>
                      <a:r>
                        <a:rPr sz="950">
                          <a:solidFill>
                            <a:srgbClr val="1A202C"/>
                          </a:solidFill>
                        </a:rPr>
                        <a:t>SC-2</a:t>
                      </a:r>
                    </a:p>
                  </a:txBody>
                  <a:tcPr>
                    <a:solidFill>
                      <a:srgbClr val="F4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>
                          <a:solidFill>
                            <a:srgbClr val="1A202C"/>
                          </a:solidFill>
                        </a:rPr>
                        <a:t>恰好三个不同候选，分离事实 / 推断 / 未知</a:t>
                      </a:r>
                    </a:p>
                  </a:txBody>
                  <a:tcPr>
                    <a:solidFill>
                      <a:srgbClr val="F4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>
                          <a:solidFill>
                            <a:srgbClr val="1A202C"/>
                          </a:solidFill>
                        </a:rPr>
                        <a:t>A 真实模型已产出三候选（R1 用例）</a:t>
                      </a:r>
                    </a:p>
                  </a:txBody>
                  <a:tcPr>
                    <a:solidFill>
                      <a:srgbClr val="F4F7FC"/>
                    </a:solidFill>
                  </a:tcPr>
                </a:tc>
              </a:tr>
              <a:tr h="331012">
                <a:tc>
                  <a:txBody>
                    <a:bodyPr wrap="square"/>
                    <a:lstStyle/>
                    <a:p>
                      <a:r>
                        <a:rPr sz="950">
                          <a:solidFill>
                            <a:srgbClr val="1A202C"/>
                          </a:solidFill>
                        </a:rPr>
                        <a:t>SC-3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>
                          <a:solidFill>
                            <a:srgbClr val="1A202C"/>
                          </a:solidFill>
                        </a:rPr>
                        <a:t>规则校验独立于模型，失败项不可选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>
                          <a:solidFill>
                            <a:srgbClr val="1A202C"/>
                          </a:solidFill>
                        </a:rPr>
                        <a:t>A 真实 Dify 链路已实测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31012">
                <a:tc>
                  <a:txBody>
                    <a:bodyPr wrap="square"/>
                    <a:lstStyle/>
                    <a:p>
                      <a:r>
                        <a:rPr sz="950">
                          <a:solidFill>
                            <a:srgbClr val="1A202C"/>
                          </a:solidFill>
                        </a:rPr>
                        <a:t>SC-4</a:t>
                      </a:r>
                    </a:p>
                  </a:txBody>
                  <a:tcPr>
                    <a:solidFill>
                      <a:srgbClr val="F4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>
                          <a:solidFill>
                            <a:srgbClr val="1A202C"/>
                          </a:solidFill>
                        </a:rPr>
                        <a:t>恋人与追求对象使用不同文案；不默认告白 / 承诺关系</a:t>
                      </a:r>
                    </a:p>
                  </a:txBody>
                  <a:tcPr>
                    <a:solidFill>
                      <a:srgbClr val="F4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>
                          <a:solidFill>
                            <a:srgbClr val="1A202C"/>
                          </a:solidFill>
                        </a:rPr>
                        <a:t>B 规则与文案层实测；模型侧部分</a:t>
                      </a:r>
                    </a:p>
                  </a:txBody>
                  <a:tcPr>
                    <a:solidFill>
                      <a:srgbClr val="F4F7FC"/>
                    </a:solidFill>
                  </a:tcPr>
                </a:tc>
              </a:tr>
              <a:tr h="331012">
                <a:tc>
                  <a:txBody>
                    <a:bodyPr wrap="square"/>
                    <a:lstStyle/>
                    <a:p>
                      <a:r>
                        <a:rPr sz="950">
                          <a:solidFill>
                            <a:srgbClr val="1A202C"/>
                          </a:solidFill>
                        </a:rPr>
                        <a:t>SC-5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>
                          <a:solidFill>
                            <a:srgbClr val="1A202C"/>
                          </a:solidFill>
                        </a:rPr>
                        <a:t>选择前不生成任何详细包装 / 贺卡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>
                          <a:solidFill>
                            <a:srgbClr val="1A202C"/>
                          </a:solidFill>
                        </a:rPr>
                        <a:t>B 呈现阶段未实现（规则层已约束）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31012">
                <a:tc>
                  <a:txBody>
                    <a:bodyPr wrap="square"/>
                    <a:lstStyle/>
                    <a:p>
                      <a:r>
                        <a:rPr sz="950">
                          <a:solidFill>
                            <a:srgbClr val="1A202C"/>
                          </a:solidFill>
                        </a:rPr>
                        <a:t>SC-6</a:t>
                      </a:r>
                    </a:p>
                  </a:txBody>
                  <a:tcPr>
                    <a:solidFill>
                      <a:srgbClr val="F4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>
                          <a:solidFill>
                            <a:srgbClr val="1A202C"/>
                          </a:solidFill>
                        </a:rPr>
                        <a:t>选择后按固定四段呈现，并复核费用 / 时间 / 禁忌</a:t>
                      </a:r>
                    </a:p>
                  </a:txBody>
                  <a:tcPr>
                    <a:solidFill>
                      <a:srgbClr val="F4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>
                          <a:solidFill>
                            <a:srgbClr val="1A202C"/>
                          </a:solidFill>
                        </a:rPr>
                        <a:t>B 阶段未实现（设计已冻结）</a:t>
                      </a:r>
                    </a:p>
                  </a:txBody>
                  <a:tcPr>
                    <a:solidFill>
                      <a:srgbClr val="F4F7FC"/>
                    </a:solidFill>
                  </a:tcPr>
                </a:tc>
              </a:tr>
              <a:tr h="331012">
                <a:tc>
                  <a:txBody>
                    <a:bodyPr wrap="square"/>
                    <a:lstStyle/>
                    <a:p>
                      <a:r>
                        <a:rPr sz="950">
                          <a:solidFill>
                            <a:srgbClr val="1A202C"/>
                          </a:solidFill>
                        </a:rPr>
                        <a:t>SC-7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>
                          <a:solidFill>
                            <a:srgbClr val="1A202C"/>
                          </a:solidFill>
                        </a:rPr>
                        <a:t>跨阶段自动修订合计 ≤ 1 次，且前端不可篡改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>
                          <a:solidFill>
                            <a:srgbClr val="1A202C"/>
                          </a:solidFill>
                        </a:rPr>
                        <a:t>A 真实修订链路 repair_count=1 已实测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31012">
                <a:tc>
                  <a:txBody>
                    <a:bodyPr wrap="square"/>
                    <a:lstStyle/>
                    <a:p>
                      <a:r>
                        <a:rPr sz="950">
                          <a:solidFill>
                            <a:srgbClr val="1A202C"/>
                          </a:solidFill>
                        </a:rPr>
                        <a:t>SC-8</a:t>
                      </a:r>
                    </a:p>
                  </a:txBody>
                  <a:tcPr>
                    <a:solidFill>
                      <a:srgbClr val="F4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>
                          <a:solidFill>
                            <a:srgbClr val="1A202C"/>
                          </a:solidFill>
                        </a:rPr>
                        <a:t>中文状态完备（加载 / 空 / 错误 / 超时 / 无可选 / 未选择）</a:t>
                      </a:r>
                    </a:p>
                  </a:txBody>
                  <a:tcPr>
                    <a:solidFill>
                      <a:srgbClr val="F4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>
                          <a:solidFill>
                            <a:srgbClr val="1A202C"/>
                          </a:solidFill>
                        </a:rPr>
                        <a:t>B 未逐项验收</a:t>
                      </a:r>
                    </a:p>
                  </a:txBody>
                  <a:tcPr>
                    <a:solidFill>
                      <a:srgbClr val="F4F7FC"/>
                    </a:solidFill>
                  </a:tcPr>
                </a:tc>
              </a:tr>
              <a:tr h="331020">
                <a:tc>
                  <a:txBody>
                    <a:bodyPr wrap="square"/>
                    <a:lstStyle/>
                    <a:p>
                      <a:r>
                        <a:rPr sz="950">
                          <a:solidFill>
                            <a:srgbClr val="1A202C"/>
                          </a:solidFill>
                        </a:rPr>
                        <a:t>SC-9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>
                          <a:solidFill>
                            <a:srgbClr val="1A202C"/>
                          </a:solidFill>
                        </a:rPr>
                        <a:t>所有失败路径不伪装为完成，保留可解释原因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>
                          <a:solidFill>
                            <a:srgbClr val="1A202C"/>
                          </a:solidFill>
                        </a:rPr>
                        <a:t>A 持续失败用例 all_passed=false 已实测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02920" y="6364224"/>
            <a:ext cx="112014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>
                <a:solidFill>
                  <a:srgbClr val="606B7C"/>
                </a:solidFill>
              </a:rPr>
              <a:t>目标而非已达成：约 60 秒完成初始输入 —— 无真实用户测量（B13 类）。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19456"/>
            <a:ext cx="11201400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1A202C"/>
                </a:solidFill>
              </a:rPr>
              <a:t>③ 整体方案与选型理由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21207" y="822960"/>
            <a:ext cx="11201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>
                <a:solidFill>
                  <a:srgbClr val="606B7C"/>
                </a:solidFill>
              </a:rPr>
              <a:t>三个关键设计决定 + 技术取舍（含替代方案与代价）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261872"/>
            <a:ext cx="3611880" cy="2084831"/>
          </a:xfrm>
          <a:prstGeom prst="rect">
            <a:avLst/>
          </a:prstGeom>
          <a:solidFill>
            <a:srgbClr val="F2F5FA"/>
          </a:solidFill>
          <a:ln w="15875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0584" rIns="82296" tIns="54864"/>
          <a:lstStyle/>
          <a:p>
            <a:pPr algn="ctr"/>
            <a:r>
              <a:rPr sz="1400" b="1">
                <a:solidFill>
                  <a:srgbClr val="2563EB"/>
                </a:solidFill>
              </a:rPr>
              <a:t>决定 1｜生成与判定分离</a:t>
            </a:r>
          </a:p>
          <a:p>
            <a:pPr>
              <a:spcAft>
                <a:spcPts val="100"/>
              </a:spcAft>
            </a:pPr>
            <a:r>
              <a:rPr sz="1100">
                <a:solidFill>
                  <a:srgbClr val="1A202C"/>
                </a:solidFill>
              </a:rPr>
              <a:t>模型只负责「有依据的方向」</a:t>
            </a:r>
          </a:p>
          <a:p>
            <a:pPr>
              <a:spcAft>
                <a:spcPts val="100"/>
              </a:spcAft>
            </a:pPr>
            <a:r>
              <a:rPr sz="1100">
                <a:solidFill>
                  <a:srgbClr val="1A202C"/>
                </a:solidFill>
              </a:rPr>
              <a:t>预算 / 币种 / 禁忌 / 必填 / 准备时间</a:t>
            </a:r>
          </a:p>
          <a:p>
            <a:pPr>
              <a:spcAft>
                <a:spcPts val="100"/>
              </a:spcAft>
            </a:pPr>
            <a:r>
              <a:rPr sz="1100">
                <a:solidFill>
                  <a:srgbClr val="1A202C"/>
                </a:solidFill>
              </a:rPr>
              <a:t>由独立 Python 代码判定</a:t>
            </a:r>
          </a:p>
        </p:txBody>
      </p:sp>
      <p:sp>
        <p:nvSpPr>
          <p:cNvPr id="6" name="Rectangle 5"/>
          <p:cNvSpPr/>
          <p:nvPr/>
        </p:nvSpPr>
        <p:spPr>
          <a:xfrm>
            <a:off x="4279392" y="1261872"/>
            <a:ext cx="3611880" cy="2084831"/>
          </a:xfrm>
          <a:prstGeom prst="rect">
            <a:avLst/>
          </a:prstGeom>
          <a:solidFill>
            <a:srgbClr val="F2F5FA"/>
          </a:solidFill>
          <a:ln w="15875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0584" rIns="82296" tIns="54864"/>
          <a:lstStyle/>
          <a:p>
            <a:pPr algn="ctr"/>
            <a:r>
              <a:rPr sz="1400" b="1">
                <a:solidFill>
                  <a:srgbClr val="2563EB"/>
                </a:solidFill>
              </a:rPr>
              <a:t>决定 2｜用户选择在中间</a:t>
            </a:r>
          </a:p>
          <a:p>
            <a:pPr>
              <a:spcAft>
                <a:spcPts val="100"/>
              </a:spcAft>
            </a:pPr>
            <a:r>
              <a:rPr sz="1100">
                <a:solidFill>
                  <a:srgbClr val="1A202C"/>
                </a:solidFill>
              </a:rPr>
              <a:t>未选择前不生成任何</a:t>
            </a:r>
          </a:p>
          <a:p>
            <a:pPr>
              <a:spcAft>
                <a:spcPts val="100"/>
              </a:spcAft>
            </a:pPr>
            <a:r>
              <a:rPr sz="1100">
                <a:solidFill>
                  <a:srgbClr val="1A202C"/>
                </a:solidFill>
              </a:rPr>
              <a:t>详细包装 / 贺卡 / 赠送设计</a:t>
            </a:r>
          </a:p>
          <a:p>
            <a:pPr>
              <a:spcAft>
                <a:spcPts val="100"/>
              </a:spcAft>
            </a:pPr>
            <a:r>
              <a:rPr sz="1100">
                <a:solidFill>
                  <a:srgbClr val="1A202C"/>
                </a:solidFill>
              </a:rPr>
              <a:t>避免浪费输出 token 与诱导</a:t>
            </a:r>
          </a:p>
        </p:txBody>
      </p:sp>
      <p:sp>
        <p:nvSpPr>
          <p:cNvPr id="7" name="Rectangle 6"/>
          <p:cNvSpPr/>
          <p:nvPr/>
        </p:nvSpPr>
        <p:spPr>
          <a:xfrm>
            <a:off x="8065008" y="1261872"/>
            <a:ext cx="3639312" cy="2084831"/>
          </a:xfrm>
          <a:prstGeom prst="rect">
            <a:avLst/>
          </a:prstGeom>
          <a:solidFill>
            <a:srgbClr val="F2F5FA"/>
          </a:solidFill>
          <a:ln w="15875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0584" rIns="82296" tIns="54864"/>
          <a:lstStyle/>
          <a:p>
            <a:pPr algn="ctr"/>
            <a:r>
              <a:rPr sz="1400" b="1">
                <a:solidFill>
                  <a:srgbClr val="2563EB"/>
                </a:solidFill>
              </a:rPr>
              <a:t>决定 3｜状态在服务端</a:t>
            </a:r>
          </a:p>
          <a:p>
            <a:pPr>
              <a:spcAft>
                <a:spcPts val="100"/>
              </a:spcAft>
            </a:pPr>
            <a:r>
              <a:rPr sz="1100">
                <a:solidFill>
                  <a:srgbClr val="1A202C"/>
                </a:solidFill>
              </a:rPr>
              <a:t>浏览器只提交输入与选择</a:t>
            </a:r>
          </a:p>
          <a:p>
            <a:pPr>
              <a:spcAft>
                <a:spcPts val="100"/>
              </a:spcAft>
            </a:pPr>
            <a:r>
              <a:rPr sz="1100">
                <a:solidFill>
                  <a:srgbClr val="1A202C"/>
                </a:solidFill>
              </a:rPr>
              <a:t>不信任前端 passed 标记</a:t>
            </a:r>
          </a:p>
          <a:p>
            <a:pPr>
              <a:spcAft>
                <a:spcPts val="100"/>
              </a:spcAft>
            </a:pPr>
            <a:r>
              <a:rPr sz="1100">
                <a:solidFill>
                  <a:srgbClr val="1A202C"/>
                </a:solidFill>
              </a:rPr>
              <a:t>修订计数由服务端持有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02920" y="3529584"/>
          <a:ext cx="11201397" cy="24505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84938"/>
                <a:gridCol w="2067950"/>
                <a:gridCol w="3618913"/>
                <a:gridCol w="2929596"/>
              </a:tblGrid>
              <a:tr h="408432">
                <a:tc>
                  <a:txBody>
                    <a:bodyPr wrap="square"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技术</a:t>
                      </a:r>
                    </a:p>
                  </a:txBody>
                  <a:tcPr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用途</a:t>
                      </a:r>
                    </a:p>
                  </a:txBody>
                  <a:tcPr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选它的理由</a:t>
                      </a:r>
                    </a:p>
                  </a:txBody>
                  <a:tcPr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代价 / 替代</a:t>
                      </a:r>
                    </a:p>
                  </a:txBody>
                  <a:tcPr>
                    <a:solidFill>
                      <a:srgbClr val="2563EB"/>
                    </a:solidFill>
                  </a:tcPr>
                </a:tc>
              </a:tr>
              <a:tr h="408432">
                <a:tc>
                  <a:txBody>
                    <a:bodyPr wrap="square"/>
                    <a:lstStyle/>
                    <a:p>
                      <a:r>
                        <a:rPr sz="900">
                          <a:solidFill>
                            <a:srgbClr val="1A202C"/>
                          </a:solidFill>
                        </a:rPr>
                        <a:t>Python 3.12（纯标准库）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>
                          <a:solidFill>
                            <a:srgbClr val="1A202C"/>
                          </a:solidFill>
                        </a:rPr>
                        <a:t>确定性规则校验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>
                          <a:solidFill>
                            <a:srgbClr val="1A202C"/>
                          </a:solidFill>
                        </a:rPr>
                        <a:t>零第三方依赖；容器内逐字节一致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>
                          <a:solidFill>
                            <a:srgbClr val="1A202C"/>
                          </a:solidFill>
                        </a:rPr>
                        <a:t>需自行实现规则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08432">
                <a:tc>
                  <a:txBody>
                    <a:bodyPr wrap="square"/>
                    <a:lstStyle/>
                    <a:p>
                      <a:r>
                        <a:rPr sz="900">
                          <a:solidFill>
                            <a:srgbClr val="1A202C"/>
                          </a:solidFill>
                        </a:rPr>
                        <a:t>Dify Cloud 1.18.0</a:t>
                      </a:r>
                    </a:p>
                  </a:txBody>
                  <a:tcPr>
                    <a:solidFill>
                      <a:srgbClr val="F4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>
                          <a:solidFill>
                            <a:srgbClr val="1A202C"/>
                          </a:solidFill>
                        </a:rPr>
                        <a:t>模型编排 + Code 节点</a:t>
                      </a:r>
                    </a:p>
                  </a:txBody>
                  <a:tcPr>
                    <a:solidFill>
                      <a:srgbClr val="F4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>
                          <a:solidFill>
                            <a:srgbClr val="1A202C"/>
                          </a:solidFill>
                        </a:rPr>
                        <a:t>平台承担编排、节点调度与沙箱</a:t>
                      </a:r>
                    </a:p>
                  </a:txBody>
                  <a:tcPr>
                    <a:solidFill>
                      <a:srgbClr val="F4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>
                          <a:solidFill>
                            <a:srgbClr val="1A202C"/>
                          </a:solidFill>
                        </a:rPr>
                        <a:t>平台耦合；ELSE 分支无运行证据</a:t>
                      </a:r>
                    </a:p>
                  </a:txBody>
                  <a:tcPr>
                    <a:solidFill>
                      <a:srgbClr val="F4F7FC"/>
                    </a:solidFill>
                  </a:tcPr>
                </a:tc>
              </a:tr>
              <a:tr h="408432">
                <a:tc>
                  <a:txBody>
                    <a:bodyPr wrap="square"/>
                    <a:lstStyle/>
                    <a:p>
                      <a:r>
                        <a:rPr sz="900">
                          <a:solidFill>
                            <a:srgbClr val="1A202C"/>
                          </a:solidFill>
                        </a:rPr>
                        <a:t>DeepSeek 模型节点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>
                          <a:solidFill>
                            <a:srgbClr val="1A202C"/>
                          </a:solidFill>
                        </a:rPr>
                        <a:t>N2 生成 / N5 修订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>
                          <a:solidFill>
                            <a:srgbClr val="1A202C"/>
                          </a:solidFill>
                        </a:rPr>
                        <a:t>真实调用已跑通，token 可服务端采集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>
                          <a:solidFill>
                            <a:srgbClr val="1A202C"/>
                          </a:solidFill>
                        </a:rPr>
                        <a:t>用户自备额度；单价未核实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08432">
                <a:tc>
                  <a:txBody>
                    <a:bodyPr wrap="square"/>
                    <a:lstStyle/>
                    <a:p>
                      <a:r>
                        <a:rPr sz="900">
                          <a:solidFill>
                            <a:srgbClr val="1A202C"/>
                          </a:solidFill>
                        </a:rPr>
                        <a:t>Node.js（零依赖）</a:t>
                      </a:r>
                    </a:p>
                  </a:txBody>
                  <a:tcPr>
                    <a:solidFill>
                      <a:srgbClr val="F4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>
                          <a:solidFill>
                            <a:srgbClr val="1A202C"/>
                          </a:solidFill>
                        </a:rPr>
                        <a:t>中文页面 + 薄接入层</a:t>
                      </a:r>
                    </a:p>
                  </a:txBody>
                  <a:tcPr>
                    <a:solidFill>
                      <a:srgbClr val="F4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>
                          <a:solidFill>
                            <a:srgbClr val="1A202C"/>
                          </a:solidFill>
                        </a:rPr>
                        <a:t>无需构建工具链，本地即可演示</a:t>
                      </a:r>
                    </a:p>
                  </a:txBody>
                  <a:tcPr>
                    <a:solidFill>
                      <a:srgbClr val="F4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>
                          <a:solidFill>
                            <a:srgbClr val="1A202C"/>
                          </a:solidFill>
                        </a:rPr>
                        <a:t>无框架；无性能数据、未在真实浏览器验证</a:t>
                      </a:r>
                    </a:p>
                  </a:txBody>
                  <a:tcPr>
                    <a:solidFill>
                      <a:srgbClr val="F4F7FC"/>
                    </a:solidFill>
                  </a:tcPr>
                </a:tc>
              </a:tr>
              <a:tr h="408432">
                <a:tc>
                  <a:txBody>
                    <a:bodyPr wrap="square"/>
                    <a:lstStyle/>
                    <a:p>
                      <a:r>
                        <a:rPr sz="900">
                          <a:solidFill>
                            <a:srgbClr val="1A202C"/>
                          </a:solidFill>
                        </a:rPr>
                        <a:t>Docker（本机实测）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>
                          <a:solidFill>
                            <a:srgbClr val="1A202C"/>
                          </a:solidFill>
                        </a:rPr>
                        <a:t>可复现打包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>
                          <a:solidFill>
                            <a:srgbClr val="1A202C"/>
                          </a:solidFill>
                        </a:rPr>
                        <a:t>178 MB；冷 2.2 s／热 0.6 s；9/9 项通过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>
                          <a:solidFill>
                            <a:srgbClr val="1A202C"/>
                          </a:solidFill>
                        </a:rPr>
                        <a:t>未推镜像仓库、未上云；单机基线≠生产容量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02920" y="6364224"/>
            <a:ext cx="112014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>
                <a:solidFill>
                  <a:srgbClr val="606B7C"/>
                </a:solidFill>
              </a:rPr>
              <a:t>明确不做：不上微服务、不上 K8s、不引数据库 —— 云部署从未发生，无任何容量证据支持这些复杂度。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19456"/>
            <a:ext cx="11201400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1A202C"/>
                </a:solidFill>
              </a:rPr>
              <a:t>④ 核心实现：Agent 链路 + 云原生架构（架构图）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21207" y="822960"/>
            <a:ext cx="11201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>
                <a:solidFill>
                  <a:srgbClr val="606B7C"/>
                </a:solidFill>
              </a:rPr>
              <a:t>架构图实线 = 已实现 / 已核实；虚线 = 目标设计 / 未完成</a:t>
            </a:r>
          </a:p>
        </p:txBody>
      </p:sp>
      <p:pic>
        <p:nvPicPr>
          <p:cNvPr id="5" name="Picture 4" descr="架构图-GiftWi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298448"/>
            <a:ext cx="6985078" cy="486460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9381744" y="1325880"/>
            <a:ext cx="2395728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950" b="1">
                <a:solidFill>
                  <a:srgbClr val="1A202C"/>
                </a:solidFill>
              </a:rPr>
              <a:t>• Agent 链路 N1–N7（已接线）</a:t>
            </a:r>
          </a:p>
          <a:p>
            <a:pPr lvl="1">
              <a:spcAft>
                <a:spcPts val="500"/>
              </a:spcAft>
            </a:pPr>
            <a:r>
              <a:rPr sz="800" b="0">
                <a:solidFill>
                  <a:srgbClr val="1A202C"/>
                </a:solidFill>
              </a:rPr>
              <a:t>– N1 输入 → N2 真实生成</a:t>
            </a:r>
          </a:p>
          <a:p>
            <a:pPr lvl="1">
              <a:spcAft>
                <a:spcPts val="500"/>
              </a:spcAft>
            </a:pPr>
            <a:r>
              <a:rPr sz="800" b="0">
                <a:solidFill>
                  <a:srgbClr val="1A202C"/>
                </a:solidFill>
              </a:rPr>
              <a:t>– N3 Code 独立校验</a:t>
            </a:r>
          </a:p>
          <a:p>
            <a:pPr lvl="1">
              <a:spcAft>
                <a:spcPts val="500"/>
              </a:spcAft>
            </a:pPr>
            <a:r>
              <a:rPr sz="800" b="0">
                <a:solidFill>
                  <a:srgbClr val="1A202C"/>
                </a:solidFill>
              </a:rPr>
              <a:t>– N4 分支 → N5 真实修订</a:t>
            </a:r>
          </a:p>
          <a:p>
            <a:pPr lvl="1">
              <a:spcAft>
                <a:spcPts val="500"/>
              </a:spcAft>
            </a:pPr>
            <a:r>
              <a:rPr sz="800" b="0">
                <a:solidFill>
                  <a:srgbClr val="1A202C"/>
                </a:solidFill>
              </a:rPr>
              <a:t>– N6 重检 → N7 → EndA/EndB</a:t>
            </a:r>
          </a:p>
          <a:p>
            <a:pPr lvl="1">
              <a:spcAft>
                <a:spcPts val="500"/>
              </a:spcAft>
            </a:pPr>
            <a:r>
              <a:rPr sz="800" b="0">
                <a:solidFill>
                  <a:srgbClr val="1A202C"/>
                </a:solidFill>
              </a:rPr>
              <a:t>– 11 节点 11 边</a:t>
            </a:r>
          </a:p>
          <a:p>
            <a:pPr>
              <a:spcAft>
                <a:spcPts val="500"/>
              </a:spcAft>
            </a:pPr>
            <a:r>
              <a:rPr sz="950" b="1">
                <a:solidFill>
                  <a:srgbClr val="0E7C4F"/>
                </a:solidFill>
              </a:rPr>
              <a:t>• A 已实测</a:t>
            </a:r>
          </a:p>
          <a:p>
            <a:pPr lvl="1">
              <a:spcAft>
                <a:spcPts val="500"/>
              </a:spcAft>
            </a:pPr>
            <a:r>
              <a:rPr sz="800" b="0">
                <a:solidFill>
                  <a:srgbClr val="1A202C"/>
                </a:solidFill>
              </a:rPr>
              <a:t>– 真实模型 10 次 / 34,127 tokens</a:t>
            </a:r>
          </a:p>
          <a:p>
            <a:pPr lvl="1">
              <a:spcAft>
                <a:spcPts val="500"/>
              </a:spcAft>
            </a:pPr>
            <a:r>
              <a:rPr sz="800" b="0">
                <a:solidFill>
                  <a:srgbClr val="1A202C"/>
                </a:solidFill>
              </a:rPr>
              <a:t>– N2 4.5–6.0 s；N5 3.0–3.1 s</a:t>
            </a:r>
          </a:p>
          <a:p>
            <a:pPr lvl="1">
              <a:spcAft>
                <a:spcPts val="500"/>
              </a:spcAft>
            </a:pPr>
            <a:r>
              <a:rPr sz="800" b="0">
                <a:solidFill>
                  <a:srgbClr val="1A202C"/>
                </a:solidFill>
              </a:rPr>
              <a:t>– Code 节点 0.067–0.238 s</a:t>
            </a:r>
          </a:p>
          <a:p>
            <a:pPr lvl="1">
              <a:spcAft>
                <a:spcPts val="500"/>
              </a:spcAft>
            </a:pPr>
            <a:r>
              <a:rPr sz="800" b="0">
                <a:solidFill>
                  <a:srgbClr val="1A202C"/>
                </a:solidFill>
              </a:rPr>
              <a:t>– 本机容器 9/9、178 MB</a:t>
            </a:r>
          </a:p>
          <a:p>
            <a:pPr>
              <a:spcAft>
                <a:spcPts val="500"/>
              </a:spcAft>
            </a:pPr>
            <a:r>
              <a:rPr sz="950" b="1">
                <a:solidFill>
                  <a:srgbClr val="B42828"/>
                </a:solidFill>
              </a:rPr>
              <a:t>• B 未完成</a:t>
            </a:r>
          </a:p>
          <a:p>
            <a:pPr lvl="1">
              <a:spcAft>
                <a:spcPts val="500"/>
              </a:spcAft>
            </a:pPr>
            <a:r>
              <a:rPr sz="800" b="0">
                <a:solidFill>
                  <a:srgbClr val="1A202C"/>
                </a:solidFill>
              </a:rPr>
              <a:t>– 未发布、未创建版本</a:t>
            </a:r>
          </a:p>
          <a:p>
            <a:pPr lvl="1">
              <a:spcAft>
                <a:spcPts val="500"/>
              </a:spcAft>
            </a:pPr>
            <a:r>
              <a:rPr sz="800" b="0">
                <a:solidFill>
                  <a:srgbClr val="1A202C"/>
                </a:solidFill>
              </a:rPr>
              <a:t>– trace 不可用（not_collected）</a:t>
            </a:r>
          </a:p>
          <a:p>
            <a:pPr lvl="1">
              <a:spcAft>
                <a:spcPts val="500"/>
              </a:spcAft>
            </a:pPr>
            <a:r>
              <a:rPr sz="800" b="0">
                <a:solidFill>
                  <a:srgbClr val="1A202C"/>
                </a:solidFill>
              </a:rPr>
              <a:t>– N4 ELSE 未触发</a:t>
            </a:r>
          </a:p>
          <a:p>
            <a:pPr lvl="1">
              <a:spcAft>
                <a:spcPts val="500"/>
              </a:spcAft>
            </a:pPr>
            <a:r>
              <a:rPr sz="800" b="0">
                <a:solidFill>
                  <a:srgbClr val="1A202C"/>
                </a:solidFill>
              </a:rPr>
              <a:t>– 无自然 OVER_BUDGET /</a:t>
            </a:r>
          </a:p>
          <a:p>
            <a:pPr lvl="1">
              <a:spcAft>
                <a:spcPts val="500"/>
              </a:spcAft>
            </a:pPr>
            <a:r>
              <a:rPr sz="800" b="0">
                <a:solidFill>
                  <a:srgbClr val="1A202C"/>
                </a:solidFill>
              </a:rPr>
              <a:t>– FORBIDDEN_TAG 证据</a:t>
            </a:r>
          </a:p>
          <a:p>
            <a:pPr lvl="1">
              <a:spcAft>
                <a:spcPts val="500"/>
              </a:spcAft>
            </a:pPr>
            <a:r>
              <a:rPr sz="800" b="0">
                <a:solidFill>
                  <a:srgbClr val="1A202C"/>
                </a:solidFill>
              </a:rPr>
              <a:t>– Dify 侧呈现阶段未实现</a:t>
            </a:r>
          </a:p>
          <a:p>
            <a:pPr lvl="1">
              <a:spcAft>
                <a:spcPts val="500"/>
              </a:spcAft>
            </a:pPr>
            <a:r>
              <a:rPr sz="800" b="0">
                <a:solidFill>
                  <a:srgbClr val="1A202C"/>
                </a:solidFill>
              </a:rPr>
              <a:t>– 未上云、未推镜像仓库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364224"/>
            <a:ext cx="112014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>
                <a:solidFill>
                  <a:srgbClr val="606B7C"/>
                </a:solidFill>
              </a:rPr>
              <a:t>架构图：docs/competition/架构图-GiftWise.png（赛道 B 必交项）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19456"/>
            <a:ext cx="11201400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1A202C"/>
                </a:solidFill>
              </a:rPr>
              <a:t>⑤ 结果与证据（只放已有真实证据）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21207" y="822960"/>
            <a:ext cx="11201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>
                <a:solidFill>
                  <a:srgbClr val="606B7C"/>
                </a:solidFill>
              </a:rPr>
              <a:t>A 组口径逐条可复核；B 组 17 条未完成见第 8 页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02920" y="1243584"/>
          <a:ext cx="11201398" cy="33101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07827"/>
                <a:gridCol w="6599274"/>
                <a:gridCol w="3994297"/>
              </a:tblGrid>
              <a:tr h="413766">
                <a:tc>
                  <a:txBody>
                    <a:bodyPr wrap="square"/>
                    <a:lstStyle/>
                    <a:p>
                      <a:r>
                        <a:rPr sz="850" b="1">
                          <a:solidFill>
                            <a:srgbClr val="FFFFFF"/>
                          </a:solidFill>
                        </a:rPr>
                        <a:t>#</a:t>
                      </a:r>
                    </a:p>
                  </a:txBody>
                  <a:tcPr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1">
                          <a:solidFill>
                            <a:srgbClr val="FFFFFF"/>
                          </a:solidFill>
                        </a:rPr>
                        <a:t>已实测（A 组口径）</a:t>
                      </a:r>
                    </a:p>
                  </a:txBody>
                  <a:tcPr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1">
                          <a:solidFill>
                            <a:srgbClr val="FFFFFF"/>
                          </a:solidFill>
                        </a:rPr>
                        <a:t>证据</a:t>
                      </a:r>
                    </a:p>
                  </a:txBody>
                  <a:tcPr>
                    <a:solidFill>
                      <a:srgbClr val="2563EB"/>
                    </a:solidFill>
                  </a:tcPr>
                </a:tc>
              </a:tr>
              <a:tr h="413766">
                <a:tc>
                  <a:txBody>
                    <a:bodyPr wrap="square"/>
                    <a:lstStyle/>
                    <a:p>
                      <a:r>
                        <a:rPr sz="850">
                          <a:solidFill>
                            <a:srgbClr val="1A202C"/>
                          </a:solidFill>
                        </a:rPr>
                        <a:t>A1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>
                          <a:solidFill>
                            <a:srgbClr val="1A202C"/>
                          </a:solidFill>
                        </a:rPr>
                        <a:t>本机探针 46 条通过；单元测试 322 条通过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>
                          <a:solidFill>
                            <a:srgbClr val="1A202C"/>
                          </a:solidFill>
                        </a:rPr>
                        <a:t>workflow/verify_local.py、run_verify_local_nopipe.py、unittest discover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3766">
                <a:tc>
                  <a:txBody>
                    <a:bodyPr wrap="square"/>
                    <a:lstStyle/>
                    <a:p>
                      <a:r>
                        <a:rPr sz="850">
                          <a:solidFill>
                            <a:srgbClr val="1A202C"/>
                          </a:solidFill>
                        </a:rPr>
                        <a:t>A2</a:t>
                      </a:r>
                    </a:p>
                  </a:txBody>
                  <a:tcPr>
                    <a:solidFill>
                      <a:srgbClr val="F4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>
                          <a:solidFill>
                            <a:srgbClr val="1A202C"/>
                          </a:solidFill>
                        </a:rPr>
                        <a:t>Dify 工作流真实运行 10 次模型调用 / 34,127 tokens；N2 约 6.0 s；服务端 0.587–0.888 s；代码节点 0.067–0.238 s</a:t>
                      </a:r>
                    </a:p>
                  </a:txBody>
                  <a:tcPr>
                    <a:solidFill>
                      <a:srgbClr val="F4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>
                          <a:solidFill>
                            <a:srgbClr val="1A202C"/>
                          </a:solidFill>
                        </a:rPr>
                        <a:t>workflow/evidence/WF-003-2026-10-30/</a:t>
                      </a:r>
                    </a:p>
                  </a:txBody>
                  <a:tcPr>
                    <a:solidFill>
                      <a:srgbClr val="F4F7FC"/>
                    </a:solidFill>
                  </a:tcPr>
                </a:tc>
              </a:tr>
              <a:tr h="413766">
                <a:tc>
                  <a:txBody>
                    <a:bodyPr wrap="square"/>
                    <a:lstStyle/>
                    <a:p>
                      <a:r>
                        <a:rPr sz="850">
                          <a:solidFill>
                            <a:srgbClr val="1A202C"/>
                          </a:solidFill>
                        </a:rPr>
                        <a:t>A3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>
                          <a:solidFill>
                            <a:srgbClr val="1A202C"/>
                          </a:solidFill>
                        </a:rPr>
                        <a:t>容器化：镜像 178 MB；冷构建 2.2 s、热构建 0.6 s；启动到 /healthz 200 用 0.75–1.01 s；内存 14.41–17.86 MiB、CPU 0.01%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>
                          <a:solidFill>
                            <a:srgbClr val="1A202C"/>
                          </a:solidFill>
                        </a:rPr>
                        <a:t>deploy/evidence/docker-2026-10-30.md（9/9 项）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3766">
                <a:tc>
                  <a:txBody>
                    <a:bodyPr wrap="square"/>
                    <a:lstStyle/>
                    <a:p>
                      <a:r>
                        <a:rPr sz="850">
                          <a:solidFill>
                            <a:srgbClr val="1A202C"/>
                          </a:solidFill>
                        </a:rPr>
                        <a:t>A4</a:t>
                      </a:r>
                    </a:p>
                  </a:txBody>
                  <a:tcPr>
                    <a:solidFill>
                      <a:srgbClr val="F4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>
                          <a:solidFill>
                            <a:srgbClr val="1A202C"/>
                          </a:solidFill>
                        </a:rPr>
                        <a:t>容器 POST /validate 与本机 validator.rules.validate 逐字节一致；/healthz 规则哈希与本机 rules.py 一致</a:t>
                      </a:r>
                    </a:p>
                  </a:txBody>
                  <a:tcPr>
                    <a:solidFill>
                      <a:srgbClr val="F4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>
                          <a:solidFill>
                            <a:srgbClr val="1A202C"/>
                          </a:solidFill>
                        </a:rPr>
                        <a:t>同上</a:t>
                      </a:r>
                    </a:p>
                  </a:txBody>
                  <a:tcPr>
                    <a:solidFill>
                      <a:srgbClr val="F4F7FC"/>
                    </a:solidFill>
                  </a:tcPr>
                </a:tc>
              </a:tr>
              <a:tr h="413766">
                <a:tc>
                  <a:txBody>
                    <a:bodyPr wrap="square"/>
                    <a:lstStyle/>
                    <a:p>
                      <a:r>
                        <a:rPr sz="850">
                          <a:solidFill>
                            <a:srgbClr val="1A202C"/>
                          </a:solidFill>
                        </a:rPr>
                        <a:t>A5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>
                          <a:solidFill>
                            <a:srgbClr val="1A202C"/>
                          </a:solidFill>
                        </a:rPr>
                        <a:t>镜像内无密钥、无 .git/tests/docs/workflow；以非 root（uid 10001）运行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>
                          <a:solidFill>
                            <a:srgbClr val="1A202C"/>
                          </a:solidFill>
                        </a:rPr>
                        <a:t>同上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3766">
                <a:tc>
                  <a:txBody>
                    <a:bodyPr wrap="square"/>
                    <a:lstStyle/>
                    <a:p>
                      <a:r>
                        <a:rPr sz="850">
                          <a:solidFill>
                            <a:srgbClr val="1A202C"/>
                          </a:solidFill>
                        </a:rPr>
                        <a:t>A6</a:t>
                      </a:r>
                    </a:p>
                  </a:txBody>
                  <a:tcPr>
                    <a:solidFill>
                      <a:srgbClr val="F4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>
                          <a:solidFill>
                            <a:srgbClr val="1A202C"/>
                          </a:solidFill>
                        </a:rPr>
                        <a:t>接入层 JS 与 Python 规则语义一致（55 组样例 / 0 差异）；HTTP 冒烟 59 项 / 0 失败</a:t>
                      </a:r>
                    </a:p>
                  </a:txBody>
                  <a:tcPr>
                    <a:solidFill>
                      <a:srgbClr val="F4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>
                          <a:solidFill>
                            <a:srgbClr val="1A202C"/>
                          </a:solidFill>
                        </a:rPr>
                        <a:t>docs/pm-reviews/web-parity-pm-verification-2026-10-30.md（PM 独立复核）</a:t>
                      </a:r>
                    </a:p>
                  </a:txBody>
                  <a:tcPr>
                    <a:solidFill>
                      <a:srgbClr val="F4F7FC"/>
                    </a:solidFill>
                  </a:tcPr>
                </a:tc>
              </a:tr>
              <a:tr h="413766">
                <a:tc>
                  <a:txBody>
                    <a:bodyPr wrap="square"/>
                    <a:lstStyle/>
                    <a:p>
                      <a:r>
                        <a:rPr sz="850">
                          <a:solidFill>
                            <a:srgbClr val="1A202C"/>
                          </a:solidFill>
                        </a:rPr>
                        <a:t>A7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>
                          <a:solidFill>
                            <a:srgbClr val="1A202C"/>
                          </a:solidFill>
                        </a:rPr>
                        <a:t>本机运行 deploy/server.py：状态码矩阵、/validate 与进程内调用逐字节一致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>
                          <a:solidFill>
                            <a:srgbClr val="1A202C"/>
                          </a:solidFill>
                        </a:rPr>
                        <a:t>deploy/evidence/20261030-local-run.md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502920" y="4663440"/>
            <a:ext cx="5486400" cy="1572768"/>
          </a:xfrm>
          <a:prstGeom prst="rect">
            <a:avLst/>
          </a:prstGeom>
          <a:solidFill>
            <a:srgbClr val="F2F5FA"/>
          </a:solidFill>
          <a:ln w="15875">
            <a:solidFill>
              <a:srgbClr val="0E7C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0584" rIns="82296" tIns="54864"/>
          <a:lstStyle/>
          <a:p>
            <a:pPr algn="ctr"/>
            <a:r>
              <a:rPr sz="1400" b="1">
                <a:solidFill>
                  <a:srgbClr val="0E7C4F"/>
                </a:solidFill>
              </a:rPr>
              <a:t>本 Agent 另行核实（真实、可复现，非 A 组口径）</a:t>
            </a:r>
          </a:p>
          <a:p>
            <a:pPr>
              <a:spcAft>
                <a:spcPts val="100"/>
              </a:spcAft>
            </a:pPr>
            <a:r>
              <a:rPr sz="900">
                <a:solidFill>
                  <a:srgbClr val="1A202C"/>
                </a:solidFill>
              </a:rPr>
              <a:t>39 项阶段 C 独立套件通过（Ran 39 tests / OK）：tests/acceptance/stage_c/</a:t>
            </a:r>
          </a:p>
          <a:p>
            <a:pPr>
              <a:spcAft>
                <a:spcPts val="100"/>
              </a:spcAft>
            </a:pPr>
            <a:r>
              <a:rPr sz="900">
                <a:solidFill>
                  <a:srgbClr val="1A202C"/>
                </a:solidFill>
              </a:rPr>
              <a:t>追求对象与恋人文案实测不同（规则与文案层）：不用玫瑰、「别有负担」、不暗示关系已确定</a:t>
            </a:r>
          </a:p>
        </p:txBody>
      </p:sp>
      <p:sp>
        <p:nvSpPr>
          <p:cNvPr id="7" name="Rectangle 6"/>
          <p:cNvSpPr/>
          <p:nvPr/>
        </p:nvSpPr>
        <p:spPr>
          <a:xfrm>
            <a:off x="6217920" y="4663440"/>
            <a:ext cx="5486400" cy="1572768"/>
          </a:xfrm>
          <a:prstGeom prst="rect">
            <a:avLst/>
          </a:prstGeom>
          <a:solidFill>
            <a:srgbClr val="F2F5FA"/>
          </a:solidFill>
          <a:ln w="15875">
            <a:solidFill>
              <a:srgbClr val="B428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0584" rIns="82296" tIns="54864"/>
          <a:lstStyle/>
          <a:p>
            <a:pPr algn="ctr"/>
            <a:r>
              <a:rPr sz="1400" b="1">
                <a:solidFill>
                  <a:srgbClr val="B42828"/>
                </a:solidFill>
              </a:rPr>
              <a:t>未完成：共 17 条（B1–B4）</a:t>
            </a:r>
          </a:p>
          <a:p>
            <a:pPr>
              <a:spcAft>
                <a:spcPts val="100"/>
              </a:spcAft>
            </a:pPr>
            <a:r>
              <a:rPr sz="900">
                <a:solidFill>
                  <a:srgbClr val="1A202C"/>
                </a:solidFill>
              </a:rPr>
              <a:t>B1 云与编排 4 条 ｜ B2 Dify 工作流 6 条</a:t>
            </a:r>
          </a:p>
          <a:p>
            <a:pPr>
              <a:spcAft>
                <a:spcPts val="100"/>
              </a:spcAft>
            </a:pPr>
            <a:r>
              <a:rPr sz="900">
                <a:solidFill>
                  <a:srgbClr val="1A202C"/>
                </a:solidFill>
              </a:rPr>
              <a:t>B3 数据与成本 3 条 ｜ B4 可观测性与工程 4 条</a:t>
            </a:r>
          </a:p>
          <a:p>
            <a:pPr>
              <a:spcAft>
                <a:spcPts val="100"/>
              </a:spcAft>
            </a:pPr>
            <a:r>
              <a:rPr sz="900">
                <a:solidFill>
                  <a:srgbClr val="1A202C"/>
                </a:solidFill>
              </a:rPr>
              <a:t>完整逐条口径见第 8 页；现场不合并、不概括、不美化。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364224"/>
            <a:ext cx="112014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>
                <a:solidFill>
                  <a:srgbClr val="606B7C"/>
                </a:solidFill>
              </a:rPr>
              <a:t>所有 A 组数字均可在仓库内复现；凡未取得证据的一律记「未核实 / 未发生」，不使用估算值。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19456"/>
            <a:ext cx="11201400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1A202C"/>
                </a:solidFill>
              </a:rPr>
              <a:t>⑥ 工程化设计（复现、异常处理、可靠性、可观测性）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21207" y="822960"/>
            <a:ext cx="11201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>
                <a:solidFill>
                  <a:srgbClr val="606B7C"/>
                </a:solidFill>
              </a:rPr>
              <a:t>零第三方依赖 + 哈希可追溯 + 失败不伪装 + 容器逐字节一致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243584"/>
            <a:ext cx="3611880" cy="4983480"/>
          </a:xfrm>
          <a:prstGeom prst="rect">
            <a:avLst/>
          </a:prstGeom>
          <a:solidFill>
            <a:srgbClr val="F2F5FA"/>
          </a:solidFill>
          <a:ln w="15875">
            <a:solidFill>
              <a:srgbClr val="0E7C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0584" rIns="82296" tIns="54864"/>
          <a:lstStyle/>
          <a:p>
            <a:pPr algn="ctr"/>
            <a:r>
              <a:rPr sz="1400" b="1">
                <a:solidFill>
                  <a:srgbClr val="0E7C4F"/>
                </a:solidFill>
              </a:rPr>
              <a:t>复现</a:t>
            </a:r>
          </a:p>
          <a:p>
            <a:pPr>
              <a:spcAft>
                <a:spcPts val="100"/>
              </a:spcAft>
            </a:pPr>
            <a:r>
              <a:rPr sz="900">
                <a:solidFill>
                  <a:srgbClr val="1A202C"/>
                </a:solidFill>
              </a:rPr>
              <a:t>零第三方依赖：validator/ workflow/ deploy/ 仅 Python 标准库</a:t>
            </a:r>
          </a:p>
          <a:p>
            <a:pPr>
              <a:spcAft>
                <a:spcPts val="100"/>
              </a:spcAft>
            </a:pPr>
            <a:r>
              <a:rPr sz="900">
                <a:solidFill>
                  <a:srgbClr val="1A202C"/>
                </a:solidFill>
              </a:rPr>
              <a:t>web/ 仅 Node 内置模块（dependencies 为空）</a:t>
            </a:r>
          </a:p>
          <a:p>
            <a:pPr>
              <a:spcAft>
                <a:spcPts val="100"/>
              </a:spcAft>
            </a:pPr>
            <a:r>
              <a:rPr sz="900">
                <a:solidFill>
                  <a:srgbClr val="1A202C"/>
                </a:solidFill>
              </a:rPr>
              <a:t>无需 pip install / npm install</a:t>
            </a:r>
          </a:p>
          <a:p>
            <a:pPr>
              <a:spcAft>
                <a:spcPts val="100"/>
              </a:spcAft>
            </a:pPr>
            <a:r>
              <a:rPr sz="900">
                <a:solidFill>
                  <a:srgbClr val="1A202C"/>
                </a:solidFill>
              </a:rPr>
              <a:t>生成物带 sources_sha256 / artifacts_sha256，逐一匹配</a:t>
            </a:r>
          </a:p>
          <a:p>
            <a:pPr>
              <a:spcAft>
                <a:spcPts val="100"/>
              </a:spcAft>
            </a:pPr>
            <a:r>
              <a:rPr sz="900">
                <a:solidFill>
                  <a:srgbClr val="1A202C"/>
                </a:solidFill>
              </a:rPr>
              <a:t>/healthz 返回规则源码哈希，可确认现场版本</a:t>
            </a:r>
          </a:p>
          <a:p>
            <a:pPr>
              <a:spcAft>
                <a:spcPts val="100"/>
              </a:spcAft>
            </a:pPr>
            <a:r>
              <a:rPr sz="900">
                <a:solidFill>
                  <a:srgbClr val="1A202C"/>
                </a:solidFill>
              </a:rPr>
              <a:t>容器 /validate 与本机逐字节一致（A4）</a:t>
            </a:r>
          </a:p>
          <a:p>
            <a:pPr>
              <a:spcAft>
                <a:spcPts val="100"/>
              </a:spcAft>
            </a:pPr>
            <a:r>
              <a:rPr sz="900">
                <a:solidFill>
                  <a:srgbClr val="1A202C"/>
                </a:solidFill>
              </a:rPr>
              <a:t>容器 /healthz 规则哈希与本机 rules.py 一致（A4）</a:t>
            </a:r>
          </a:p>
          <a:p>
            <a:pPr>
              <a:spcAft>
                <a:spcPts val="100"/>
              </a:spcAft>
            </a:pPr>
            <a:r>
              <a:rPr sz="900">
                <a:solidFill>
                  <a:srgbClr val="1A202C"/>
                </a:solidFill>
              </a:rPr>
              <a:t>镜像内无密钥、无 .git/tests/docs/workflow；非 root uid 10001（A5）</a:t>
            </a:r>
          </a:p>
          <a:p>
            <a:pPr>
              <a:spcAft>
                <a:spcPts val="100"/>
              </a:spcAft>
            </a:pPr>
            <a:r>
              <a:rPr sz="900">
                <a:solidFill>
                  <a:srgbClr val="1A202C"/>
                </a:solidFill>
              </a:rPr>
              <a:t>deploy/server.py 状态码矩阵与进程内调用一致（A7）</a:t>
            </a:r>
          </a:p>
          <a:p>
            <a:pPr>
              <a:spcAft>
                <a:spcPts val="100"/>
              </a:spcAft>
            </a:pPr>
            <a:r>
              <a:rPr sz="900">
                <a:solidFill>
                  <a:srgbClr val="1A202C"/>
                </a:solidFill>
              </a:rPr>
              <a:t/>
            </a:r>
          </a:p>
          <a:p>
            <a:pPr>
              <a:spcAft>
                <a:spcPts val="100"/>
              </a:spcAft>
            </a:pPr>
            <a:r>
              <a:rPr sz="900">
                <a:solidFill>
                  <a:srgbClr val="1A202C"/>
                </a:solidFill>
              </a:rPr>
              <a:t>B 未完成：镜像未推仓库、未上云</a:t>
            </a:r>
          </a:p>
        </p:txBody>
      </p:sp>
      <p:sp>
        <p:nvSpPr>
          <p:cNvPr id="6" name="Rectangle 5"/>
          <p:cNvSpPr/>
          <p:nvPr/>
        </p:nvSpPr>
        <p:spPr>
          <a:xfrm>
            <a:off x="4279392" y="1243584"/>
            <a:ext cx="3611880" cy="4983480"/>
          </a:xfrm>
          <a:prstGeom prst="rect">
            <a:avLst/>
          </a:prstGeom>
          <a:solidFill>
            <a:srgbClr val="F2F5FA"/>
          </a:solidFill>
          <a:ln w="15875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0584" rIns="82296" tIns="54864"/>
          <a:lstStyle/>
          <a:p>
            <a:pPr algn="ctr"/>
            <a:r>
              <a:rPr sz="1400" b="1">
                <a:solidFill>
                  <a:srgbClr val="2563EB"/>
                </a:solidFill>
              </a:rPr>
              <a:t>异常处理</a:t>
            </a:r>
          </a:p>
          <a:p>
            <a:pPr>
              <a:spcAft>
                <a:spcPts val="100"/>
              </a:spcAft>
            </a:pPr>
            <a:r>
              <a:rPr sz="900">
                <a:solidFill>
                  <a:srgbClr val="1A202C"/>
                </a:solidFill>
              </a:rPr>
              <a:t>模型输出损坏 JSON：真实被判可修订 → 一次修订 → 重检通过（case4）</a:t>
            </a:r>
          </a:p>
          <a:p>
            <a:pPr>
              <a:spcAft>
                <a:spcPts val="100"/>
              </a:spcAft>
            </a:pPr>
            <a:r>
              <a:rPr sz="900">
                <a:solidFill>
                  <a:srgbClr val="1A202C"/>
                </a:solidFill>
              </a:rPr>
              <a:t>持续失败：真实复现 all_passed=false、repairable=false，如实失败（case5）</a:t>
            </a:r>
          </a:p>
          <a:p>
            <a:pPr>
              <a:spcAft>
                <a:spcPts val="100"/>
              </a:spcAft>
            </a:pPr>
            <a:r>
              <a:rPr sz="900">
                <a:solidFill>
                  <a:srgbClr val="1A202C"/>
                </a:solidFill>
              </a:rPr>
              <a:t>硬约束不满足：失败项不可选（首次错误码均为 FORBIDDEN_TERM）</a:t>
            </a:r>
          </a:p>
          <a:p>
            <a:pPr>
              <a:spcAft>
                <a:spcPts val="100"/>
              </a:spcAft>
            </a:pPr>
            <a:r>
              <a:rPr sz="900">
                <a:solidFill>
                  <a:srgbClr val="1A202C"/>
                </a:solidFill>
              </a:rPr>
              <a:t>未选择就请求呈现：INVALID_SELECTION，不替用户选择</a:t>
            </a:r>
          </a:p>
          <a:p>
            <a:pPr>
              <a:spcAft>
                <a:spcPts val="100"/>
              </a:spcAft>
            </a:pPr>
            <a:r>
              <a:rPr sz="900">
                <a:solidFill>
                  <a:srgbClr val="1A202C"/>
                </a:solidFill>
              </a:rPr>
              <a:t>伪造/越界候选：服务端按运行 ID + 候选版本校验</a:t>
            </a:r>
          </a:p>
          <a:p>
            <a:pPr>
              <a:spcAft>
                <a:spcPts val="100"/>
              </a:spcAft>
            </a:pPr>
            <a:r>
              <a:rPr sz="900">
                <a:solidFill>
                  <a:srgbClr val="1A202C"/>
                </a:solidFill>
              </a:rPr>
              <a:t>容器错误路径：非法 JSON / 类型错误 / 未知路径 / 无 Content-Length / 超长体 全部符合契约</a:t>
            </a:r>
          </a:p>
          <a:p>
            <a:pPr>
              <a:spcAft>
                <a:spcPts val="100"/>
              </a:spcAft>
            </a:pPr>
            <a:r>
              <a:rPr sz="900">
                <a:solidFill>
                  <a:srgbClr val="1A202C"/>
                </a:solidFill>
              </a:rPr>
              <a:t/>
            </a:r>
          </a:p>
          <a:p>
            <a:pPr>
              <a:spcAft>
                <a:spcPts val="100"/>
              </a:spcAft>
            </a:pPr>
            <a:r>
              <a:rPr sz="900">
                <a:solidFill>
                  <a:srgbClr val="1A202C"/>
                </a:solidFill>
              </a:rPr>
              <a:t>B 未完成：</a:t>
            </a:r>
          </a:p>
          <a:p>
            <a:pPr>
              <a:spcAft>
                <a:spcPts val="100"/>
              </a:spcAft>
            </a:pPr>
            <a:r>
              <a:rPr sz="900">
                <a:solidFill>
                  <a:srgbClr val="1A202C"/>
                </a:solidFill>
              </a:rPr>
              <a:t>B9 提示词修复之后的修订→再校验路径无运行时证据</a:t>
            </a:r>
          </a:p>
          <a:p>
            <a:pPr>
              <a:spcAft>
                <a:spcPts val="100"/>
              </a:spcAft>
            </a:pPr>
            <a:r>
              <a:rPr sz="900">
                <a:solidFill>
                  <a:srgbClr val="1A202C"/>
                </a:solidFill>
              </a:rPr>
              <a:t>异常处理独立成文（G-3）仍缺</a:t>
            </a:r>
          </a:p>
        </p:txBody>
      </p:sp>
      <p:sp>
        <p:nvSpPr>
          <p:cNvPr id="7" name="Rectangle 6"/>
          <p:cNvSpPr/>
          <p:nvPr/>
        </p:nvSpPr>
        <p:spPr>
          <a:xfrm>
            <a:off x="8065008" y="1243584"/>
            <a:ext cx="3639312" cy="4983480"/>
          </a:xfrm>
          <a:prstGeom prst="rect">
            <a:avLst/>
          </a:prstGeom>
          <a:solidFill>
            <a:srgbClr val="F2F5FA"/>
          </a:solidFill>
          <a:ln w="15875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0584" rIns="82296" tIns="54864"/>
          <a:lstStyle/>
          <a:p>
            <a:pPr algn="ctr"/>
            <a:r>
              <a:rPr sz="1400" b="1">
                <a:solidFill>
                  <a:srgbClr val="D97706"/>
                </a:solidFill>
              </a:rPr>
              <a:t>可靠性与可观测性</a:t>
            </a:r>
          </a:p>
          <a:p>
            <a:pPr>
              <a:spcAft>
                <a:spcPts val="100"/>
              </a:spcAft>
            </a:pPr>
            <a:r>
              <a:rPr sz="900">
                <a:solidFill>
                  <a:srgbClr val="1A202C"/>
                </a:solidFill>
              </a:rPr>
              <a:t>服务端持有：运行 ID、候选版本、两次校验输出、修订计数、错误码、调用计数</a:t>
            </a:r>
          </a:p>
          <a:p>
            <a:pPr>
              <a:spcAft>
                <a:spcPts val="100"/>
              </a:spcAft>
            </a:pPr>
            <a:r>
              <a:rPr sz="900">
                <a:solidFill>
                  <a:srgbClr val="1A202C"/>
                </a:solidFill>
              </a:rPr>
              <a:t>token 取服务端 workflow_finished.total_tokens（34,127）</a:t>
            </a:r>
          </a:p>
          <a:p>
            <a:pPr>
              <a:spcAft>
                <a:spcPts val="100"/>
              </a:spcAft>
            </a:pPr>
            <a:r>
              <a:rPr sz="900">
                <a:solidFill>
                  <a:srgbClr val="1A202C"/>
                </a:solidFill>
              </a:rPr>
              <a:t>接入层语义一致 55 组 / 0 差异；HTTP 冒烟 59 项 / 0 失败（A6）</a:t>
            </a:r>
          </a:p>
          <a:p>
            <a:pPr>
              <a:spcAft>
                <a:spcPts val="100"/>
              </a:spcAft>
            </a:pPr>
            <a:r>
              <a:rPr sz="900">
                <a:solidFill>
                  <a:srgbClr val="1A202C"/>
                </a:solidFill>
              </a:rPr>
              <a:t/>
            </a:r>
          </a:p>
          <a:p>
            <a:pPr>
              <a:spcAft>
                <a:spcPts val="100"/>
              </a:spcAft>
            </a:pPr>
            <a:r>
              <a:rPr sz="900">
                <a:solidFill>
                  <a:srgbClr val="1A202C"/>
                </a:solidFill>
              </a:rPr>
              <a:t>B 未完成：</a:t>
            </a:r>
          </a:p>
          <a:p>
            <a:pPr>
              <a:spcAft>
                <a:spcPts val="100"/>
              </a:spcAft>
            </a:pPr>
            <a:r>
              <a:rPr sz="900">
                <a:solidFill>
                  <a:srgbClr val="1A202C"/>
                </a:solidFill>
              </a:rPr>
              <a:t>B6 平台级 trace 不可用（not_collected），无平台侧调用链</a:t>
            </a:r>
          </a:p>
          <a:p>
            <a:pPr>
              <a:spcAft>
                <a:spcPts val="100"/>
              </a:spcAft>
            </a:pPr>
            <a:r>
              <a:rPr sz="900">
                <a:solidFill>
                  <a:srgbClr val="1A202C"/>
                </a:solidFill>
              </a:rPr>
              <a:t>B14 阶段 14 采集方案仍是设计</a:t>
            </a:r>
          </a:p>
          <a:p>
            <a:pPr>
              <a:spcAft>
                <a:spcPts val="100"/>
              </a:spcAft>
            </a:pPr>
            <a:r>
              <a:rPr sz="900">
                <a:solidFill>
                  <a:srgbClr val="1A202C"/>
                </a:solidFill>
              </a:rPr>
              <a:t>B15 web/ 无性能数据；未在真实浏览器验证渲染与交互</a:t>
            </a:r>
          </a:p>
          <a:p>
            <a:pPr>
              <a:spcAft>
                <a:spcPts val="100"/>
              </a:spcAft>
            </a:pPr>
            <a:r>
              <a:rPr sz="900">
                <a:solidFill>
                  <a:srgbClr val="1A202C"/>
                </a:solidFill>
              </a:rPr>
              <a:t>B16 parity 仅样例级等价，无安全专项测试（注入/越权/限流）</a:t>
            </a:r>
          </a:p>
          <a:p>
            <a:pPr>
              <a:spcAft>
                <a:spcPts val="100"/>
              </a:spcAft>
            </a:pPr>
            <a:r>
              <a:rPr sz="900">
                <a:solidFill>
                  <a:srgbClr val="1A202C"/>
                </a:solidFill>
              </a:rPr>
              <a:t>B17 提交为临时提交，尚未经过独立评审（PM 工具不入库）</a:t>
            </a:r>
          </a:p>
          <a:p>
            <a:pPr>
              <a:spcAft>
                <a:spcPts val="100"/>
              </a:spcAft>
            </a:pPr>
            <a:r>
              <a:rPr sz="900">
                <a:solidFill>
                  <a:srgbClr val="1A202C"/>
                </a:solidFill>
              </a:rPr>
              <a:t>B12 DeepSeek 单价未从真实账单核实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364224"/>
            <a:ext cx="112014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>
                <a:solidFill>
                  <a:srgbClr val="606B7C"/>
                </a:solidFill>
              </a:rPr>
              <a:t>异常处理与可观测性是赛道 B 独立材料要求（评分规则 1.2）；本页同时列出已实测项与未完成项。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19456"/>
            <a:ext cx="11201400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1A202C"/>
                </a:solidFill>
              </a:rPr>
              <a:t>⑦ 成本、性能与取舍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21207" y="822960"/>
            <a:ext cx="11201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>
                <a:solidFill>
                  <a:srgbClr val="606B7C"/>
                </a:solidFill>
              </a:rPr>
              <a:t>只用真实实测数字；单位价格未取得真实账单前一律写「未核实」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02920" y="1225296"/>
          <a:ext cx="7040878" cy="3931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37288"/>
                <a:gridCol w="1908275"/>
                <a:gridCol w="2895315"/>
              </a:tblGrid>
              <a:tr h="280851">
                <a:tc>
                  <a:txBody>
                    <a:bodyPr wrap="square"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</a:rPr>
                        <a:t>项</a:t>
                      </a:r>
                    </a:p>
                  </a:txBody>
                  <a:tcPr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</a:rPr>
                        <a:t>实测值</a:t>
                      </a:r>
                    </a:p>
                  </a:txBody>
                  <a:tcPr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</a:rPr>
                        <a:t>条件 / 说明</a:t>
                      </a:r>
                    </a:p>
                  </a:txBody>
                  <a:tcPr>
                    <a:solidFill>
                      <a:srgbClr val="2563EB"/>
                    </a:solidFill>
                  </a:tcPr>
                </a:tc>
              </a:tr>
              <a:tr h="280851"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202C"/>
                          </a:solidFill>
                        </a:rPr>
                        <a:t>模型调用次数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202C"/>
                          </a:solidFill>
                        </a:rPr>
                        <a:t>10 次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202C"/>
                          </a:solidFill>
                        </a:rPr>
                        <a:t>真实 DeepSeek（N2 生成 + N5 修订）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202C"/>
                          </a:solidFill>
                        </a:rPr>
                        <a:t>Token 用量</a:t>
                      </a:r>
                    </a:p>
                  </a:txBody>
                  <a:tcPr>
                    <a:solidFill>
                      <a:srgbClr val="F4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202C"/>
                          </a:solidFill>
                        </a:rPr>
                        <a:t>34,127 tokens</a:t>
                      </a:r>
                    </a:p>
                  </a:txBody>
                  <a:tcPr>
                    <a:solidFill>
                      <a:srgbClr val="F4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202C"/>
                          </a:solidFill>
                        </a:rPr>
                        <a:t>服务端 workflow_finished.total_tokens 累加</a:t>
                      </a:r>
                    </a:p>
                  </a:txBody>
                  <a:tcPr>
                    <a:solidFill>
                      <a:srgbClr val="F4F7FC"/>
                    </a:solidFill>
                  </a:tcPr>
                </a:tc>
              </a:tr>
              <a:tr h="280851"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202C"/>
                          </a:solidFill>
                        </a:rPr>
                        <a:t>N2 真实生成耗时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202C"/>
                          </a:solidFill>
                        </a:rPr>
                        <a:t>约 4.5–6.0 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202C"/>
                          </a:solidFill>
                        </a:rPr>
                        <a:t>含模型；R1 实测 6.01 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202C"/>
                          </a:solidFill>
                        </a:rPr>
                        <a:t>N5 真实修订耗时</a:t>
                      </a:r>
                    </a:p>
                  </a:txBody>
                  <a:tcPr>
                    <a:solidFill>
                      <a:srgbClr val="F4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202C"/>
                          </a:solidFill>
                        </a:rPr>
                        <a:t>约 3.0–3.1 s</a:t>
                      </a:r>
                    </a:p>
                  </a:txBody>
                  <a:tcPr>
                    <a:solidFill>
                      <a:srgbClr val="F4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202C"/>
                          </a:solidFill>
                        </a:rPr>
                        <a:t>含模型</a:t>
                      </a:r>
                    </a:p>
                  </a:txBody>
                  <a:tcPr>
                    <a:solidFill>
                      <a:srgbClr val="F4F7FC"/>
                    </a:solidFill>
                  </a:tcPr>
                </a:tc>
              </a:tr>
              <a:tr h="280851"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202C"/>
                          </a:solidFill>
                        </a:rPr>
                        <a:t>端到端（含 7 个 Code 节点）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202C"/>
                          </a:solidFill>
                        </a:rPr>
                        <a:t>5.2–8.9 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202C"/>
                          </a:solidFill>
                        </a:rPr>
                        <a:t>含模型；单样本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202C"/>
                          </a:solidFill>
                        </a:rPr>
                        <a:t>工作流服务端耗时</a:t>
                      </a:r>
                    </a:p>
                  </a:txBody>
                  <a:tcPr>
                    <a:solidFill>
                      <a:srgbClr val="F4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202C"/>
                          </a:solidFill>
                        </a:rPr>
                        <a:t>0.587–0.888 s</a:t>
                      </a:r>
                    </a:p>
                  </a:txBody>
                  <a:tcPr>
                    <a:solidFill>
                      <a:srgbClr val="F4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202C"/>
                          </a:solidFill>
                        </a:rPr>
                        <a:t>占位期、无模型，5 用例</a:t>
                      </a:r>
                    </a:p>
                  </a:txBody>
                  <a:tcPr>
                    <a:solidFill>
                      <a:srgbClr val="F4F7FC"/>
                    </a:solidFill>
                  </a:tcPr>
                </a:tc>
              </a:tr>
              <a:tr h="280851"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202C"/>
                          </a:solidFill>
                        </a:rPr>
                        <a:t>代码节点耗时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202C"/>
                          </a:solidFill>
                        </a:rPr>
                        <a:t>0.067–0.238 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202C"/>
                          </a:solidFill>
                        </a:rPr>
                        <a:t>N1，5 次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202C"/>
                          </a:solidFill>
                        </a:rPr>
                        <a:t>容器：镜像 / 构建</a:t>
                      </a:r>
                    </a:p>
                  </a:txBody>
                  <a:tcPr>
                    <a:solidFill>
                      <a:srgbClr val="F4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202C"/>
                          </a:solidFill>
                        </a:rPr>
                        <a:t>178 MB；冷 2.2 s、热 0.6 s</a:t>
                      </a:r>
                    </a:p>
                  </a:txBody>
                  <a:tcPr>
                    <a:solidFill>
                      <a:srgbClr val="F4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202C"/>
                          </a:solidFill>
                        </a:rPr>
                        <a:t>本机 Docker 29.9.2（9/9 项）</a:t>
                      </a:r>
                    </a:p>
                  </a:txBody>
                  <a:tcPr>
                    <a:solidFill>
                      <a:srgbClr val="F4F7FC"/>
                    </a:solidFill>
                  </a:tcPr>
                </a:tc>
              </a:tr>
              <a:tr h="280851"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202C"/>
                          </a:solidFill>
                        </a:rPr>
                        <a:t>容器启动到 /healthz 200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202C"/>
                          </a:solidFill>
                        </a:rPr>
                        <a:t>0.75–1.01 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202C"/>
                          </a:solidFill>
                        </a:rPr>
                        <a:t>同上；单机基线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202C"/>
                          </a:solidFill>
                        </a:rPr>
                        <a:t>容器内存 / CPU</a:t>
                      </a:r>
                    </a:p>
                  </a:txBody>
                  <a:tcPr>
                    <a:solidFill>
                      <a:srgbClr val="F4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202C"/>
                          </a:solidFill>
                        </a:rPr>
                        <a:t>14.41–17.86 MiB / 0.01%</a:t>
                      </a:r>
                    </a:p>
                  </a:txBody>
                  <a:tcPr>
                    <a:solidFill>
                      <a:srgbClr val="F4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202C"/>
                          </a:solidFill>
                        </a:rPr>
                        <a:t>同上；单机基线 ≠ 生产容量结论</a:t>
                      </a:r>
                    </a:p>
                  </a:txBody>
                  <a:tcPr>
                    <a:solidFill>
                      <a:srgbClr val="F4F7FC"/>
                    </a:solidFill>
                  </a:tcPr>
                </a:tc>
              </a:tr>
              <a:tr h="280851"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202C"/>
                          </a:solidFill>
                        </a:rPr>
                        <a:t>DeepSeek 单位价格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202C"/>
                          </a:solidFill>
                        </a:rPr>
                        <a:t>未核实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202C"/>
                          </a:solidFill>
                        </a:rPr>
                        <a:t>必须来自真实账单；禁止用估算值冒充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202C"/>
                          </a:solidFill>
                        </a:rPr>
                        <a:t>单任务金额成本</a:t>
                      </a:r>
                    </a:p>
                  </a:txBody>
                  <a:tcPr>
                    <a:solidFill>
                      <a:srgbClr val="F4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202C"/>
                          </a:solidFill>
                        </a:rPr>
                        <a:t>未核实</a:t>
                      </a:r>
                    </a:p>
                  </a:txBody>
                  <a:tcPr>
                    <a:solidFill>
                      <a:srgbClr val="F4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202C"/>
                          </a:solidFill>
                        </a:rPr>
                        <a:t>同上</a:t>
                      </a:r>
                    </a:p>
                  </a:txBody>
                  <a:tcPr>
                    <a:solidFill>
                      <a:srgbClr val="F4F7FC"/>
                    </a:solidFill>
                  </a:tcPr>
                </a:tc>
              </a:tr>
              <a:tr h="280857"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202C"/>
                          </a:solidFill>
                        </a:rPr>
                        <a:t>云端资源消耗 / 跨机延迟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202C"/>
                          </a:solidFill>
                        </a:rPr>
                        <a:t>未测量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>
                          <a:solidFill>
                            <a:srgbClr val="1A202C"/>
                          </a:solidFill>
                        </a:rPr>
                        <a:t>未上云，无跨机样本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7955279" y="1225296"/>
            <a:ext cx="3749039" cy="3931920"/>
          </a:xfrm>
          <a:prstGeom prst="rect">
            <a:avLst/>
          </a:prstGeom>
          <a:solidFill>
            <a:srgbClr val="F2F5FA"/>
          </a:solidFill>
          <a:ln w="15875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0584" rIns="82296" tIns="54864"/>
          <a:lstStyle/>
          <a:p>
            <a:pPr algn="ctr"/>
            <a:r>
              <a:rPr sz="1400" b="1">
                <a:solidFill>
                  <a:srgbClr val="2563EB"/>
                </a:solidFill>
              </a:rPr>
              <a:t>成本口径与瓶颈</a:t>
            </a:r>
          </a:p>
          <a:p>
            <a:pPr>
              <a:spcAft>
                <a:spcPts val="100"/>
              </a:spcAft>
            </a:pPr>
            <a:r>
              <a:rPr sz="900">
                <a:solidFill>
                  <a:srgbClr val="1A202C"/>
                </a:solidFill>
              </a:rPr>
              <a:t>token 只认服务端 total_tokens，不手算、不估</a:t>
            </a:r>
          </a:p>
          <a:p>
            <a:pPr>
              <a:spcAft>
                <a:spcPts val="100"/>
              </a:spcAft>
            </a:pPr>
            <a:r>
              <a:rPr sz="900">
                <a:solidFill>
                  <a:srgbClr val="1A202C"/>
                </a:solidFill>
              </a:rPr>
              <a:t>单价缺失 → 记「未核实」，不填 0、不用牌价</a:t>
            </a:r>
          </a:p>
          <a:p>
            <a:pPr>
              <a:spcAft>
                <a:spcPts val="100"/>
              </a:spcAft>
            </a:pPr>
            <a:r>
              <a:rPr sz="900">
                <a:solidFill>
                  <a:srgbClr val="1A202C"/>
                </a:solidFill>
              </a:rPr>
              <a:t>本机容器数据是单机基线，**不是**生产容量结论</a:t>
            </a:r>
          </a:p>
          <a:p>
            <a:pPr>
              <a:spcAft>
                <a:spcPts val="100"/>
              </a:spcAft>
            </a:pPr>
            <a:r>
              <a:rPr sz="900">
                <a:solidFill>
                  <a:srgbClr val="1A202C"/>
                </a:solidFill>
              </a:rPr>
              <a:t>省钱设计：确定性规则不消耗 token</a:t>
            </a:r>
          </a:p>
          <a:p>
            <a:pPr>
              <a:spcAft>
                <a:spcPts val="100"/>
              </a:spcAft>
            </a:pPr>
            <a:r>
              <a:rPr sz="900">
                <a:solidFill>
                  <a:srgbClr val="1A202C"/>
                </a:solidFill>
              </a:rPr>
              <a:t>省钱设计：未选择前不生成三份详细包装</a:t>
            </a:r>
          </a:p>
          <a:p>
            <a:pPr>
              <a:spcAft>
                <a:spcPts val="100"/>
              </a:spcAft>
            </a:pPr>
            <a:r>
              <a:rPr sz="900">
                <a:solidFill>
                  <a:srgbClr val="1A202C"/>
                </a:solidFill>
              </a:rPr>
              <a:t>省钱设计：全局最多一次修订</a:t>
            </a:r>
          </a:p>
          <a:p>
            <a:pPr>
              <a:spcAft>
                <a:spcPts val="100"/>
              </a:spcAft>
            </a:pPr>
            <a:r>
              <a:rPr sz="900">
                <a:solidFill>
                  <a:srgbClr val="1A202C"/>
                </a:solidFill>
              </a:rPr>
              <a:t>瓶颈：模型生成 4.5–6.0 s 远大于规则层（毫秒级）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5303520"/>
            <a:ext cx="11201400" cy="969264"/>
          </a:xfrm>
          <a:prstGeom prst="rect">
            <a:avLst/>
          </a:prstGeom>
          <a:solidFill>
            <a:srgbClr val="F2F5FA"/>
          </a:solidFill>
          <a:ln w="15875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0584" rIns="82296" tIns="54864"/>
          <a:lstStyle/>
          <a:p>
            <a:pPr algn="ctr"/>
            <a:r>
              <a:rPr sz="1400" b="1">
                <a:solidFill>
                  <a:srgbClr val="D97706"/>
                </a:solidFill>
              </a:rPr>
              <a:t>取舍</a:t>
            </a:r>
          </a:p>
          <a:p>
            <a:pPr>
              <a:spcAft>
                <a:spcPts val="100"/>
              </a:spcAft>
            </a:pPr>
            <a:r>
              <a:rPr sz="900">
                <a:solidFill>
                  <a:srgbClr val="1A202C"/>
                </a:solidFill>
              </a:rPr>
              <a:t>自建编排 vs Dify → 用 Dify：省工程量；代价是平台耦合、ELSE 分支无运行证据、trace 不可用</a:t>
            </a:r>
          </a:p>
          <a:p>
            <a:pPr>
              <a:spcAft>
                <a:spcPts val="100"/>
              </a:spcAft>
            </a:pPr>
            <a:r>
              <a:rPr sz="900">
                <a:solidFill>
                  <a:srgbClr val="1A202C"/>
                </a:solidFill>
              </a:rPr>
              <a:t>K8s / 微服务 vs 单机容器 → 暂不引入：云部署从未发生，无编排、无多副本、无弹性伸缩、无资源调度、无分布式状态</a:t>
            </a:r>
          </a:p>
          <a:p>
            <a:pPr>
              <a:spcAft>
                <a:spcPts val="100"/>
              </a:spcAft>
            </a:pPr>
            <a:r>
              <a:rPr sz="900">
                <a:solidFill>
                  <a:srgbClr val="1A202C"/>
                </a:solidFill>
              </a:rPr>
              <a:t>实时商品数据 vs 估算 → 明确标注未核实：价格与库存未核实，business_data_verification = not_verified（OPEN-6 仍开放）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364224"/>
            <a:ext cx="112014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>
                <a:solidFill>
                  <a:srgbClr val="B42828"/>
                </a:solidFill>
              </a:rPr>
              <a:t>单位价格必须由用户从真实账单提供；未提供前，本页所有金额类结论一律写「未核实」。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19456"/>
            <a:ext cx="11201400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1A202C"/>
                </a:solidFill>
              </a:rPr>
              <a:t>⑧ 总结与不足：已实测（A 组 7 条） / 明确未完成（B 组 17 条，不得美化）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21207" y="822960"/>
            <a:ext cx="11201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>
                <a:solidFill>
                  <a:srgbClr val="606B7C"/>
                </a:solidFill>
              </a:rPr>
              <a:t>口径纪律：可写「在本机真实构建并验证」；不得写成「已上云 / 已用 K8S / 已弹性伸缩 / 已推镜像仓库」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243584"/>
            <a:ext cx="4754880" cy="4992624"/>
          </a:xfrm>
          <a:prstGeom prst="rect">
            <a:avLst/>
          </a:prstGeom>
          <a:solidFill>
            <a:srgbClr val="F2F5FA"/>
          </a:solidFill>
          <a:ln w="15875">
            <a:solidFill>
              <a:srgbClr val="0E7C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bIns="27432"/>
          <a:lstStyle/>
          <a:p>
            <a:pPr algn="ctr"/>
            <a:r>
              <a:rPr sz="1250" b="1">
                <a:solidFill>
                  <a:srgbClr val="0E7C4F"/>
                </a:solidFill>
              </a:rPr>
              <a:t>A. 可以作为「已实测」列出的（有原始证据，可复核）· 7 条</a:t>
            </a:r>
          </a:p>
          <a:p>
            <a:pPr>
              <a:spcAft>
                <a:spcPts val="100"/>
              </a:spcAft>
            </a:pPr>
            <a:r>
              <a:rPr sz="950">
                <a:solidFill>
                  <a:srgbClr val="1A202C"/>
                </a:solidFill>
              </a:rPr>
              <a:t>A1 本机探针 46 条通过；单元测试 322 条通过。</a:t>
            </a:r>
          </a:p>
          <a:p>
            <a:pPr>
              <a:spcAft>
                <a:spcPts val="100"/>
              </a:spcAft>
            </a:pPr>
            <a:r>
              <a:rPr sz="950">
                <a:solidFill>
                  <a:srgbClr val="1A202C"/>
                </a:solidFill>
              </a:rPr>
              <a:t>A2 Dify 工作流真实运行 10 次模型调用 / 34,127 tokens；N2 节点约 6.0 s；工作流服务端 0.587–0.888 s；代码节点 0.067–0.238 s。</a:t>
            </a:r>
          </a:p>
          <a:p>
            <a:pPr>
              <a:spcAft>
                <a:spcPts val="100"/>
              </a:spcAft>
            </a:pPr>
            <a:r>
              <a:rPr sz="950">
                <a:solidFill>
                  <a:srgbClr val="1A202C"/>
                </a:solidFill>
              </a:rPr>
              <a:t>A3 容器化：镜像 giftwise-validator 178 MB；冷构建 2.2 s、热构建 0.6 s；启动到 /healthz 200 用 0.75–1.01 s；容器内存 14.41–17.86 MiB、CPU 0.01%。</a:t>
            </a:r>
          </a:p>
          <a:p>
            <a:pPr>
              <a:spcAft>
                <a:spcPts val="100"/>
              </a:spcAft>
            </a:pPr>
            <a:r>
              <a:rPr sz="950">
                <a:solidFill>
                  <a:srgbClr val="1A202C"/>
                </a:solidFill>
              </a:rPr>
              <a:t>A4 容器 POST /validate 与本机 validator.rules.validate 逐字节一致；/healthz 的规则哈希与本机 rules.py 一致。</a:t>
            </a:r>
          </a:p>
          <a:p>
            <a:pPr>
              <a:spcAft>
                <a:spcPts val="100"/>
              </a:spcAft>
            </a:pPr>
            <a:r>
              <a:rPr sz="950">
                <a:solidFill>
                  <a:srgbClr val="1A202C"/>
                </a:solidFill>
              </a:rPr>
              <a:t>A5 镜像内无密钥、无 .git/tests/docs/workflow；以非 root（uid 10001）运行。</a:t>
            </a:r>
          </a:p>
          <a:p>
            <a:pPr>
              <a:spcAft>
                <a:spcPts val="100"/>
              </a:spcAft>
            </a:pPr>
            <a:r>
              <a:rPr sz="950">
                <a:solidFill>
                  <a:srgbClr val="1A202C"/>
                </a:solidFill>
              </a:rPr>
              <a:t>A6 接入层 JS 与 Python 规则语义一致（55 组样例 / 0 差异）；HTTP 冒烟 59 项 / 0 失败。</a:t>
            </a:r>
          </a:p>
          <a:p>
            <a:pPr>
              <a:spcAft>
                <a:spcPts val="100"/>
              </a:spcAft>
            </a:pPr>
            <a:r>
              <a:rPr sz="950">
                <a:solidFill>
                  <a:srgbClr val="1A202C"/>
                </a:solidFill>
              </a:rPr>
              <a:t>A7 本机运行 deploy/server.py：状态码矩阵、/validate 与进程内调用逐字节一致。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5440680" y="1243584"/>
            <a:ext cx="6263640" cy="4992624"/>
          </a:xfrm>
          <a:prstGeom prst="rect">
            <a:avLst/>
          </a:prstGeom>
          <a:solidFill>
            <a:srgbClr val="F2F5FA"/>
          </a:solidFill>
          <a:ln w="15875">
            <a:solidFill>
              <a:srgbClr val="B428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bIns="27432"/>
          <a:lstStyle/>
          <a:p>
            <a:pPr algn="ctr"/>
            <a:r>
              <a:rPr sz="1150" b="1">
                <a:solidFill>
                  <a:srgbClr val="B42828"/>
                </a:solidFill>
              </a:rPr>
              <a:t>B. 必须写进「明确未完成」的（不得美化、不得省略）· 17 条</a:t>
            </a:r>
          </a:p>
          <a:p>
            <a:pPr>
              <a:spcBef>
                <a:spcPts val="300"/>
              </a:spcBef>
              <a:spcAft>
                <a:spcPts val="100"/>
              </a:spcAft>
            </a:pPr>
            <a:r>
              <a:rPr sz="900" b="1">
                <a:solidFill>
                  <a:srgbClr val="B42828"/>
                </a:solidFill>
              </a:rPr>
              <a:t>B1 云与编排（对应「云原生 15 分」）</a:t>
            </a:r>
          </a:p>
          <a:p>
            <a:pPr>
              <a:spcAft>
                <a:spcPts val="100"/>
              </a:spcAft>
            </a:pPr>
            <a:r>
              <a:rPr sz="800">
                <a:solidFill>
                  <a:srgbClr val="1A202C"/>
                </a:solidFill>
              </a:rPr>
              <a:t>1. 云部署从未发生：没有云主机、没有 EIP、UCloud 未采购（按边界不得自行开支）。</a:t>
            </a:r>
          </a:p>
          <a:p>
            <a:pPr>
              <a:spcAft>
                <a:spcPts val="100"/>
              </a:spcAft>
            </a:pPr>
            <a:r>
              <a:rPr sz="800">
                <a:solidFill>
                  <a:srgbClr val="1A202C"/>
                </a:solidFill>
              </a:rPr>
              <a:t>2. publish-to-uhost.ps1 从未上传过任何主机（仅做过参数拼装与 -DryRun 静态校验）。</a:t>
            </a:r>
          </a:p>
          <a:p>
            <a:pPr>
              <a:spcAft>
                <a:spcPts val="100"/>
              </a:spcAft>
            </a:pPr>
            <a:r>
              <a:rPr sz="800">
                <a:solidFill>
                  <a:srgbClr val="1A202C"/>
                </a:solidFill>
              </a:rPr>
              <a:t>3. 未推送任何镜像仓库（镜像只存在于本机 Docker）。</a:t>
            </a:r>
          </a:p>
          <a:p>
            <a:pPr>
              <a:spcAft>
                <a:spcPts val="100"/>
              </a:spcAft>
            </a:pPr>
            <a:r>
              <a:rPr sz="800">
                <a:solidFill>
                  <a:srgbClr val="1A202C"/>
                </a:solidFill>
              </a:rPr>
              <a:t>4. 无编排平台（无 K8S/k3s）、无多副本、无弹性伸缩、无资源调度、无分布式状态。</a:t>
            </a:r>
          </a:p>
          <a:p>
            <a:pPr>
              <a:spcBef>
                <a:spcPts val="300"/>
              </a:spcBef>
              <a:spcAft>
                <a:spcPts val="100"/>
              </a:spcAft>
            </a:pPr>
            <a:r>
              <a:rPr sz="900" b="1">
                <a:solidFill>
                  <a:srgbClr val="B42828"/>
                </a:solidFill>
              </a:rPr>
              <a:t>B2 Dify 工作流</a:t>
            </a:r>
          </a:p>
          <a:p>
            <a:pPr>
              <a:spcAft>
                <a:spcPts val="100"/>
              </a:spcAft>
            </a:pPr>
            <a:r>
              <a:rPr sz="800">
                <a:solidFill>
                  <a:srgbClr val="1A202C"/>
                </a:solidFill>
              </a:rPr>
              <a:t>5. 工作流未发布、未创建版本（当前是草稿状态）。</a:t>
            </a:r>
          </a:p>
          <a:p>
            <a:pPr>
              <a:spcAft>
                <a:spcPts val="100"/>
              </a:spcAft>
            </a:pPr>
            <a:r>
              <a:rPr sz="800">
                <a:solidFill>
                  <a:srgbClr val="1A202C"/>
                </a:solidFill>
              </a:rPr>
              <a:t>6. 平台级 trace 不可用：trace-runs 返回 not_collected（该租户未开启 tracing），节点级输出只能从界面「上次运行」获取，没有平台侧调用链。</a:t>
            </a:r>
          </a:p>
          <a:p>
            <a:pPr>
              <a:spcAft>
                <a:spcPts val="100"/>
              </a:spcAft>
            </a:pPr>
            <a:r>
              <a:rPr sz="800">
                <a:solidFill>
                  <a:srgbClr val="1A202C"/>
                </a:solidFill>
              </a:rPr>
              <a:t>7. N4 的 ELSE 分支从未被触发过。</a:t>
            </a:r>
          </a:p>
          <a:p>
            <a:pPr>
              <a:spcAft>
                <a:spcPts val="100"/>
              </a:spcAft>
            </a:pPr>
            <a:r>
              <a:rPr sz="800">
                <a:solidFill>
                  <a:srgbClr val="1A202C"/>
                </a:solidFill>
              </a:rPr>
              <a:t>8. 没有自然触发的 OVER_BUDGET 证据（首次校验错误均为 FORBIDDEN_TERM）；没有 FORBIDDEN_TAG 触发证据。</a:t>
            </a:r>
          </a:p>
          <a:p>
            <a:pPr>
              <a:spcAft>
                <a:spcPts val="100"/>
              </a:spcAft>
            </a:pPr>
            <a:r>
              <a:rPr sz="800">
                <a:solidFill>
                  <a:srgbClr val="1A202C"/>
                </a:solidFill>
              </a:rPr>
              <a:t>9. 提示词修复之后的修复路径（真实修订→再校验）没有运行时证据。</a:t>
            </a:r>
          </a:p>
          <a:p>
            <a:pPr>
              <a:spcAft>
                <a:spcPts val="100"/>
              </a:spcAft>
            </a:pPr>
            <a:r>
              <a:rPr sz="800">
                <a:solidFill>
                  <a:srgbClr val="1A202C"/>
                </a:solidFill>
              </a:rPr>
              <a:t>10. Dify 侧未实现包装/配色/贺卡/赠送阶段（该部分目前只在 web/ 的 mock 中呈现）。</a:t>
            </a:r>
          </a:p>
          <a:p>
            <a:pPr>
              <a:spcBef>
                <a:spcPts val="300"/>
              </a:spcBef>
              <a:spcAft>
                <a:spcPts val="100"/>
              </a:spcAft>
            </a:pPr>
            <a:r>
              <a:rPr sz="900" b="1">
                <a:solidFill>
                  <a:srgbClr val="B42828"/>
                </a:solidFill>
              </a:rPr>
              <a:t>B3 数据与成本</a:t>
            </a:r>
          </a:p>
          <a:p>
            <a:pPr>
              <a:spcAft>
                <a:spcPts val="100"/>
              </a:spcAft>
            </a:pPr>
            <a:r>
              <a:rPr sz="800">
                <a:solidFill>
                  <a:srgbClr val="1A202C"/>
                </a:solidFill>
              </a:rPr>
              <a:t>11. 价格、库存未核实：校验结果固定携带 business_data_verification: not_verified；没有真实商品数据源（OPEN-6 仍开放）。</a:t>
            </a:r>
          </a:p>
          <a:p>
            <a:pPr>
              <a:spcAft>
                <a:spcPts val="100"/>
              </a:spcAft>
            </a:pPr>
            <a:r>
              <a:rPr sz="800">
                <a:solidFill>
                  <a:srgbClr val="1A202C"/>
                </a:solidFill>
              </a:rPr>
              <a:t>12. DeepSeek 单位价格未从真实账单核实 —— 需用户从账单提供；未提供前一律写「未核实」，不得用估算值冒充。</a:t>
            </a:r>
          </a:p>
          <a:p>
            <a:pPr>
              <a:spcAft>
                <a:spcPts val="100"/>
              </a:spcAft>
            </a:pPr>
            <a:r>
              <a:rPr sz="800">
                <a:solidFill>
                  <a:srgbClr val="1A202C"/>
                </a:solidFill>
              </a:rPr>
              <a:t>13. 云端资源消耗、真实跨机延迟均未测量。</a:t>
            </a:r>
          </a:p>
          <a:p>
            <a:pPr>
              <a:spcBef>
                <a:spcPts val="300"/>
              </a:spcBef>
              <a:spcAft>
                <a:spcPts val="100"/>
              </a:spcAft>
            </a:pPr>
            <a:r>
              <a:rPr sz="900" b="1">
                <a:solidFill>
                  <a:srgbClr val="B42828"/>
                </a:solidFill>
              </a:rPr>
              <a:t>B4 可观测性与工程</a:t>
            </a:r>
          </a:p>
          <a:p>
            <a:pPr>
              <a:spcAft>
                <a:spcPts val="100"/>
              </a:spcAft>
            </a:pPr>
            <a:r>
              <a:rPr sz="800">
                <a:solidFill>
                  <a:srgbClr val="1A202C"/>
                </a:solidFill>
              </a:rPr>
              <a:t>14. 阶段 14 采集方案仍是设计（部署线正在实现代码，尚未完成）→ 完成前不得写成「已实现」。</a:t>
            </a:r>
          </a:p>
          <a:p>
            <a:pPr>
              <a:spcAft>
                <a:spcPts val="100"/>
              </a:spcAft>
            </a:pPr>
            <a:r>
              <a:rPr sz="800">
                <a:solidFill>
                  <a:srgbClr val="1A202C"/>
                </a:solidFill>
              </a:rPr>
              <a:t>15. 前端 web/ 无性能数据；未在真实浏览器中验证界面渲染与交互。</a:t>
            </a:r>
          </a:p>
          <a:p>
            <a:pPr>
              <a:spcAft>
                <a:spcPts val="100"/>
              </a:spcAft>
            </a:pPr>
            <a:r>
              <a:rPr sz="800">
                <a:solidFill>
                  <a:srgbClr val="1A202C"/>
                </a:solidFill>
              </a:rPr>
              <a:t>16. parity 是样例级等价，不等于两者在所有输入上等价；无安全专项测试（注入/越权/限流）。</a:t>
            </a:r>
          </a:p>
          <a:p>
            <a:pPr>
              <a:spcAft>
                <a:spcPts val="100"/>
              </a:spcAft>
            </a:pPr>
            <a:r>
              <a:rPr sz="800">
                <a:solidFill>
                  <a:srgbClr val="1A202C"/>
                </a:solidFill>
              </a:rPr>
              <a:t>17. 提交为临时提交，尚未经过独立评审（workflow/tools/ 等 PM 工具不入库）。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364224"/>
            <a:ext cx="112014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>
                <a:solidFill>
                  <a:srgbClr val="B42828"/>
                </a:solidFill>
              </a:rPr>
              <a:t>被问「能不能上云」标准回答：能部署、已写好部署脚本与设计，但按比赛边界未采购、未上传（指向 deploy/preprod-plan.md 路线 C 与本页 B1）。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