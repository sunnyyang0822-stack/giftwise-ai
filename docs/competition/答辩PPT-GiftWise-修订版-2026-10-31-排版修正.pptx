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35 秒）</a:t>
            </a:r>
          </a:p>
          <a:p>
            <a:pPr/>
            <a:endParaRPr lang="zh-CN" dirty="0"/>
          </a:p>
          <a:p>
            <a:pPr/>
            <a:r>
              <a:rPr lang="zh-CN" dirty="0"/>
              <a:t>各位评委好，我们的项目是 GiftWise，一个帮青年解决「送礼送不对」的决策 Agent。</a:t>
            </a:r>
          </a:p>
          <a:p>
            <a:pPr/>
            <a:endParaRPr lang="zh-CN" dirty="0"/>
          </a:p>
          <a:p>
            <a:pPr/>
            <a:r>
              <a:rPr lang="zh-CN" dirty="0"/>
              <a:t>一句话讲清楚它做什么：把「不知道送什么」，变成「知道为什么选、以及怎么送」。</a:t>
            </a:r>
          </a:p>
          <a:p>
            <a:pPr/>
            <a:endParaRPr lang="zh-CN" dirty="0"/>
          </a:p>
          <a:p>
            <a:pPr/>
            <a:r>
              <a:rPr lang="zh-CN" dirty="0"/>
              <a:t>右边这一栏我先主动交代：这些是我们没有做到的部分，一共 15 条，第 8 页会把 15 条一条不落地列出来。</a:t>
            </a:r>
          </a:p>
          <a:p>
            <a:pPr/>
            <a:endParaRPr lang="zh-CN" dirty="0"/>
          </a:p>
          <a:p>
            <a:pPr/>
            <a:r>
              <a:rPr lang="zh-CN" dirty="0"/>
              <a:t>左边是已经有真实证据的 7 条，每一条都可以当场复核。</a:t>
            </a:r>
          </a:p>
          <a:p>
            <a:pPr/>
            <a:endParaRPr lang="zh-CN" dirty="0"/>
          </a:p>
          <a:p>
            <a:pPr/>
            <a:r>
              <a:rPr lang="zh-CN" dirty="0"/>
              <a:t>产品上有一条硬性需求：恋人跟追求对象是两个不同的东西，追求关系不能假定双方已经有恋爱关系。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40 秒）</a:t>
            </a:r>
          </a:p>
          <a:p>
            <a:pPr/>
            <a:endParaRPr lang="zh-CN" dirty="0"/>
          </a:p>
          <a:p>
            <a:pPr/>
            <a:r>
              <a:rPr lang="zh-CN" dirty="0"/>
              <a:t>痛点在左边五条，我重点讲第三条：硬约束极容易被违反。</a:t>
            </a:r>
          </a:p>
          <a:p>
            <a:pPr/>
            <a:endParaRPr lang="zh-CN" dirty="0"/>
          </a:p>
          <a:p>
            <a:pPr/>
            <a:r>
              <a:rPr lang="zh-CN" dirty="0"/>
              <a:t>所以我们定了一条规矩：模型说的话不能自证。预算、禁忌、时间、必填项这些硬约束，必须由独立于模型的代码来判定。</a:t>
            </a:r>
          </a:p>
          <a:p>
            <a:pPr/>
            <a:endParaRPr lang="zh-CN" dirty="0"/>
          </a:p>
          <a:p>
            <a:pPr/>
            <a:r>
              <a:rPr lang="zh-CN" dirty="0"/>
              <a:t>右边是九条成功标准。我如实标了状态：A 五条 = SC-2/3/7/8/9，B 四条 = SC-1/4/5/6。</a:t>
            </a:r>
          </a:p>
          <a:p>
            <a:pPr/>
            <a:endParaRPr lang="zh-CN" dirty="0"/>
          </a:p>
          <a:p>
            <a:pPr/>
            <a:r>
              <a:rPr lang="zh-CN" dirty="0"/>
              <a:t>SC-8 是中文状态完备，今天已经由 100 项浏览器验收升为 A。SC-1 因为还没有真实用户可用性验证，仍是 B；SC-4 到 SC-6 这三条也还没有达成。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45 秒）</a:t>
            </a:r>
          </a:p>
          <a:p>
            <a:pPr/>
            <a:endParaRPr lang="zh-CN" dirty="0"/>
          </a:p>
          <a:p>
            <a:pPr/>
            <a:r>
              <a:rPr lang="zh-CN" dirty="0"/>
              <a:t>整个方案围绕三个决定：</a:t>
            </a:r>
          </a:p>
          <a:p>
            <a:pPr/>
            <a:endParaRPr lang="zh-CN" dirty="0"/>
          </a:p>
          <a:p>
            <a:pPr/>
            <a:r>
              <a:rPr lang="zh-CN" dirty="0"/>
              <a:t>第一，生成与判定分离。模型只负责生成，硬约束由独立代码判定，模型无权放行。</a:t>
            </a:r>
          </a:p>
          <a:p>
            <a:pPr/>
            <a:endParaRPr lang="zh-CN" dirty="0"/>
          </a:p>
          <a:p>
            <a:pPr/>
            <a:r>
              <a:rPr lang="zh-CN" dirty="0"/>
              <a:t>第二，用户选择放在中间。先出恰好 3 个候选，用户选定之后，才生成包装、配色、贺卡和赠送方式。</a:t>
            </a:r>
          </a:p>
          <a:p>
            <a:pPr/>
            <a:endParaRPr lang="zh-CN" dirty="0"/>
          </a:p>
          <a:p>
            <a:pPr/>
            <a:r>
              <a:rPr lang="zh-CN" dirty="0"/>
              <a:t>第三，可信状态放服务端。API Key 不进前端。</a:t>
            </a:r>
          </a:p>
          <a:p>
            <a:pPr/>
            <a:endParaRPr lang="zh-CN" dirty="0"/>
          </a:p>
          <a:p>
            <a:pPr/>
            <a:r>
              <a:rPr lang="zh-CN" dirty="0"/>
              <a:t>选型表里我特别说明一下最后一行：Docker 只在本机跑过，没有上云、没有推镜像仓库、没有编排平台。这不是我们做不到，是按比赛边界没有采购、没有上传；部署脚本和方案我们已经写好了。</a:t>
            </a:r>
          </a:p>
          <a:p>
            <a:pPr/>
            <a:endParaRPr lang="zh-CN" dirty="0"/>
          </a:p>
          <a:p>
            <a:pPr/>
            <a:r>
              <a:rPr lang="zh-CN" dirty="0"/>
              <a:t>另外 Dify 的版本号是 1.18.0，我们用 GET /console/api/version 实读，stage C 独立复跑过两次；PPT 上标「未核实」是我漏了，以 1.18.0 为准。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50 秒）</a:t>
            </a:r>
          </a:p>
          <a:p>
            <a:pPr/>
            <a:endParaRPr lang="zh-CN" dirty="0"/>
          </a:p>
          <a:p>
            <a:pPr/>
            <a:r>
              <a:rPr lang="zh-CN" dirty="0"/>
              <a:t>这是 Agent 链路和系统架构。</a:t>
            </a:r>
          </a:p>
          <a:p>
            <a:pPr/>
            <a:endParaRPr lang="zh-CN" dirty="0"/>
          </a:p>
          <a:p>
            <a:pPr/>
            <a:r>
              <a:rPr lang="zh-CN" dirty="0"/>
              <a:t>左边是架构图。中间这条链路是实线：11 个节点、11 条边，N2 是真实的模型节点。</a:t>
            </a:r>
          </a:p>
          <a:p>
            <a:pPr/>
            <a:endParaRPr lang="zh-CN" dirty="0"/>
          </a:p>
          <a:p>
            <a:pPr/>
            <a:r>
              <a:rPr lang="zh-CN" dirty="0"/>
              <a:t>右边我分成两块。上面是已经实测的：工作流已发布并创建了版本，真实模型调用主批次 10 次、34,127 tokens，累计 13 次、38,326 tokens。本机容器 14 项通过，而且容器里的校验结果跟本机逐字节一致。</a:t>
            </a:r>
          </a:p>
          <a:p>
            <a:pPr/>
            <a:endParaRPr lang="zh-CN" dirty="0"/>
          </a:p>
          <a:p>
            <a:pPr/>
            <a:r>
              <a:rPr lang="zh-CN" dirty="0"/>
              <a:t>下面是明确的缺口，我先主动说：trace 不可用，N4 的 ELSE 分支从来没有被触发过，我们也没有拿到自然发生的超预算和禁忌命中的证据，修复之后的那条修订路径没有运行时证据，Dify 侧的包装、配色、贺卡、赠送四个阶段还没有实现。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45 秒）</a:t>
            </a:r>
          </a:p>
          <a:p>
            <a:pPr/>
            <a:endParaRPr lang="zh-CN" dirty="0"/>
          </a:p>
          <a:p>
            <a:pPr/>
            <a:r>
              <a:rPr lang="zh-CN" dirty="0"/>
              <a:t>这一页只放已经有真实证据的东西，7 条。</a:t>
            </a:r>
          </a:p>
          <a:p>
            <a:pPr/>
            <a:endParaRPr lang="zh-CN" dirty="0"/>
          </a:p>
          <a:p>
            <a:pPr/>
            <a:r>
              <a:rPr lang="zh-CN" dirty="0"/>
              <a:t>A1，本机探针 46 条、单元测试 329 条通过。</a:t>
            </a:r>
          </a:p>
          <a:p>
            <a:pPr/>
            <a:endParaRPr lang="zh-CN" dirty="0"/>
          </a:p>
          <a:p>
            <a:pPr/>
            <a:r>
              <a:rPr lang="zh-CN" dirty="0"/>
              <a:t>A2，Dify 真实运行：主批次 10 次模型调用、34,127 tokens；累计 13 次、38,326 tokens。这是两个口径，我分开写。</a:t>
            </a:r>
          </a:p>
          <a:p>
            <a:pPr/>
            <a:endParaRPr lang="zh-CN" dirty="0"/>
          </a:p>
          <a:p>
            <a:pPr/>
            <a:r>
              <a:rPr lang="zh-CN" dirty="0"/>
              <a:t>A3，本机 Docker 实测 14 项通过，镜像 178 MB，也就是 169.676 MiB，冷构建 1.720 秒。</a:t>
            </a:r>
          </a:p>
          <a:p>
            <a:pPr/>
            <a:endParaRPr lang="zh-CN" dirty="0"/>
          </a:p>
          <a:p>
            <a:pPr/>
            <a:r>
              <a:rPr lang="zh-CN" dirty="0"/>
              <a:t>A4 比较关键：容器里的校验结果跟我们本机逐字节一致，规则哈希也一致。</a:t>
            </a:r>
          </a:p>
          <a:p>
            <a:pPr/>
            <a:endParaRPr lang="zh-CN" dirty="0"/>
          </a:p>
          <a:p>
            <a:pPr/>
            <a:r>
              <a:rPr lang="zh-CN" dirty="0"/>
              <a:t>底下两行是另行核实和时点说明：322 条是 10 月 30 日那天的真值，329 是 10 月 31 日复跑的值，两个都对，只是时点不同。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45 秒）</a:t>
            </a:r>
          </a:p>
          <a:p>
            <a:pPr/>
            <a:endParaRPr lang="zh-CN" dirty="0"/>
          </a:p>
          <a:p>
            <a:pPr/>
            <a:r>
              <a:rPr lang="zh-CN" dirty="0"/>
              <a:t>工程化上我只讲三件事。</a:t>
            </a:r>
          </a:p>
          <a:p>
            <a:pPr/>
            <a:endParaRPr lang="zh-CN" dirty="0"/>
          </a:p>
          <a:p>
            <a:pPr/>
            <a:r>
              <a:rPr lang="zh-CN" dirty="0"/>
              <a:t>第一，可复现。Python 纯标准库，Node 零依赖，没有构建步骤，任何人 clone 下来就能跑。镜像标识我们用 tag + 日期 + 规则源码哈希；注意我们不写 manifest digest，因为镜像从来没有推送到任何仓库。</a:t>
            </a:r>
          </a:p>
          <a:p>
            <a:pPr/>
            <a:endParaRPr lang="zh-CN" dirty="0"/>
          </a:p>
          <a:p>
            <a:pPr/>
            <a:r>
              <a:rPr lang="zh-CN" dirty="0"/>
              <a:t>第二，异常处理。规则码 19 个，关系类型 8 个，亲密度 5 档。失败项不可选，全局最多一次自动修订。</a:t>
            </a:r>
          </a:p>
          <a:p>
            <a:pPr/>
            <a:endParaRPr lang="zh-CN" dirty="0"/>
          </a:p>
          <a:p>
            <a:pPr/>
            <a:r>
              <a:rPr lang="zh-CN" dirty="0"/>
              <a:t>第三，可靠性与可观测性。阶段 C 独立套件 39 项通过，接入层样例级一致 74 组、零差异。</a:t>
            </a:r>
          </a:p>
          <a:p>
            <a:pPr/>
            <a:endParaRPr lang="zh-CN" dirty="0"/>
          </a:p>
          <a:p>
            <a:pPr/>
            <a:r>
              <a:rPr lang="zh-CN" dirty="0"/>
              <a:t>每张卡下面我都留了红色的未完成项，比如 trace 不可用、N4 的 ELSE 分支从未触发、阶段 14 的可观测性代码写了但没进默认镜像、也没实测。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45 秒）</a:t>
            </a:r>
          </a:p>
          <a:p>
            <a:pPr/>
            <a:endParaRPr lang="zh-CN" dirty="0"/>
          </a:p>
          <a:p>
            <a:pPr/>
            <a:r>
              <a:rPr lang="zh-CN" dirty="0"/>
              <a:t>成本这里我强调一个原则：拿不到真实账单的，一律写「未核实」，绝不用估算值充数。</a:t>
            </a:r>
          </a:p>
          <a:p>
            <a:pPr/>
            <a:endParaRPr lang="zh-CN" dirty="0"/>
          </a:p>
          <a:p>
            <a:pPr/>
            <a:r>
              <a:rPr lang="zh-CN" dirty="0"/>
              <a:t>左边是真实运行的数据：主批次 10 次模型调用、34,127 tokens；累计 13 次、38,326 tokens。N2 生成 4.5 到 6 秒，N5 修订 3 到 3.1 秒。</a:t>
            </a:r>
          </a:p>
          <a:p>
            <a:pPr/>
            <a:endParaRPr lang="zh-CN" dirty="0"/>
          </a:p>
          <a:p>
            <a:pPr/>
            <a:r>
              <a:rPr lang="zh-CN" dirty="0"/>
              <a:t>右边是本机容器的数据：镜像 178 MB，也就是 169.676 MiB；冷构建 1.720 秒；启动到健康检查返回 200 是 0.668 秒（均值）；容器内存 14.45 到 17.08 MiB，这是构建时的基线，交付的 latest 镜像重建后还需要复核。</a:t>
            </a:r>
          </a:p>
          <a:p>
            <a:pPr/>
            <a:endParaRPr lang="zh-CN" dirty="0"/>
          </a:p>
          <a:p>
            <a:pPr/>
            <a:r>
              <a:rPr lang="zh-CN" dirty="0"/>
              <a:t>下面琥珀色这条是最重要的：DeepSeek 的单价和单任务成本，我们没有从真实账单核实；云端的资源消耗和跨机延迟，没有测量。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50 秒）</a:t>
            </a:r>
          </a:p>
          <a:p>
            <a:pPr/>
            <a:endParaRPr lang="zh-CN" dirty="0"/>
          </a:p>
          <a:p>
            <a:pPr/>
            <a:r>
              <a:rPr lang="zh-CN" dirty="0"/>
              <a:t>这一页是整份报告最重要的部分。</a:t>
            </a:r>
          </a:p>
          <a:p>
            <a:pPr/>
            <a:endParaRPr lang="zh-CN" dirty="0"/>
          </a:p>
          <a:p>
            <a:pPr/>
            <a:r>
              <a:rPr lang="zh-CN" dirty="0"/>
              <a:t>左边 7 条是已经实测的，是我们真做出来的。</a:t>
            </a:r>
          </a:p>
          <a:p>
            <a:pPr/>
            <a:endParaRPr lang="zh-CN" dirty="0"/>
          </a:p>
          <a:p>
            <a:pPr/>
            <a:r>
              <a:rPr lang="zh-CN" dirty="0"/>
              <a:t>右边 15 条是我们没有做到的，一条不省、也一条不美化。</a:t>
            </a:r>
          </a:p>
          <a:p>
            <a:pPr/>
            <a:endParaRPr lang="zh-CN" dirty="0"/>
          </a:p>
          <a:p>
            <a:pPr/>
            <a:r>
              <a:rPr lang="zh-CN" dirty="0"/>
              <a:t>云和编排 4 条：云部署从未发生，没有云主机、没有 EIP，UCloud 没有采购；上传脚本从来没有上传过任何文件；没有推送过任何镜像仓库；没有编排平台、没有多副本、没有弹性伸缩。</a:t>
            </a:r>
          </a:p>
          <a:p>
            <a:pPr/>
            <a:endParaRPr lang="zh-CN" dirty="0"/>
          </a:p>
          <a:p>
            <a:pPr/>
            <a:r>
              <a:rPr lang="zh-CN" dirty="0"/>
              <a:t>Dify 5 条：trace 不可用；N4 的 ELSE 分支从未触发；没有自然发生的超预算和禁忌命中证据；修复后的修订路径没有运行时证据；Dify 侧的四个呈现阶段还没有实现。</a:t>
            </a:r>
          </a:p>
          <a:p>
            <a:pPr/>
            <a:endParaRPr lang="zh-CN" dirty="0"/>
          </a:p>
          <a:p>
            <a:pPr/>
            <a:r>
              <a:rPr lang="zh-CN" dirty="0"/>
              <a:t>数据和成本 3 条：价格与库存未核实；单价未从真实账单核实；云端消耗未测量。</a:t>
            </a:r>
          </a:p>
          <a:p>
            <a:pPr/>
            <a:endParaRPr lang="zh-CN" dirty="0"/>
          </a:p>
          <a:p>
            <a:pPr/>
            <a:r>
              <a:rPr lang="zh-CN" dirty="0"/>
              <a:t>可观测性与工程 3 条：阶段 14 的代码写了但没进镜像、没实测；web 没有性能数据；parity 只有样例级。</a:t>
            </a:r>
          </a:p>
          <a:p>
            <a:pPr/>
            <a:endParaRPr lang="zh-CN" dirty="0"/>
          </a:p>
          <a:p>
            <a:pPr/>
            <a:r>
              <a:rPr lang="zh-CN" dirty="0"/>
              <a:t>底下一行说明：原来的 17 条里有 2 条已经解除了，所以现存 15 条。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30 秒）</a:t>
            </a:r>
          </a:p>
          <a:p>
            <a:pPr/>
            <a:endParaRPr lang="zh-CN" dirty="0"/>
          </a:p>
          <a:p>
            <a:pPr/>
            <a:r>
              <a:rPr lang="zh-CN" dirty="0"/>
              <a:t>这一页把我们的交付物跟评分表逐项对上。</a:t>
            </a:r>
          </a:p>
          <a:p>
            <a:pPr/>
            <a:endParaRPr lang="zh-CN" dirty="0"/>
          </a:p>
          <a:p>
            <a:pPr/>
            <a:r>
              <a:rPr lang="zh-CN" dirty="0"/>
              <a:t>场景价值 20 分、云原生架构 15 分、Agent 链路 20 分、工程完成度与 Demo 20 分、成本性能 10 分、现场表现 15 分。</a:t>
            </a:r>
          </a:p>
          <a:p>
            <a:pPr/>
            <a:endParaRPr lang="zh-CN" dirty="0"/>
          </a:p>
          <a:p>
            <a:pPr/>
            <a:r>
              <a:rPr lang="zh-CN" dirty="0"/>
              <a:t>我特别说明第三列和第四列的关系：每一分我们都能对上一条证据，同时也能对上一条未完成项。</a:t>
            </a:r>
          </a:p>
          <a:p>
            <a:pPr/>
            <a:endParaRPr lang="zh-CN" dirty="0"/>
          </a:p>
          <a:p>
            <a:pPr/>
            <a:r>
              <a:rPr lang="zh-CN" dirty="0"/>
              <a:t>云原生这个维度只有 15 分，而我们在这个维度上确实有明确没做到的事——我们不会拿「设计了」冒充「部署了」。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55 秒）</a:t>
            </a:r>
          </a:p>
          <a:p>
            <a:pPr/>
            <a:endParaRPr lang="zh-CN" dirty="0"/>
          </a:p>
          <a:p>
            <a:pPr/>
            <a:r>
              <a:rPr lang="zh-CN" dirty="0"/>
              <a:t>这一页我想讲一个真实的缺陷，以及它的完整闭环。</a:t>
            </a:r>
          </a:p>
          <a:p>
            <a:pPr/>
            <a:endParaRPr lang="zh-CN" dirty="0"/>
          </a:p>
          <a:p>
            <a:pPr/>
            <a:r>
              <a:rPr lang="zh-CN" dirty="0"/>
              <a:t>我们用半开的方式，只发一半的请求正文。旧镜像 25 秒没有任何响应，而且不关闭连接。</a:t>
            </a:r>
          </a:p>
          <a:p>
            <a:pPr/>
            <a:endParaRPr lang="zh-CN" dirty="0"/>
          </a:p>
          <a:p>
            <a:pPr/>
            <a:r>
              <a:rPr lang="zh-CN" dirty="0"/>
              <a:t>最小脚本能稳定复现。定位下来：读请求体的循环没有总时长预算，慢客户端可以把连接一直占住。</a:t>
            </a:r>
          </a:p>
          <a:p>
            <a:pPr/>
            <a:endParaRPr lang="zh-CN" dirty="0"/>
          </a:p>
          <a:p>
            <a:pPr/>
            <a:r>
              <a:rPr lang="zh-CN" dirty="0"/>
              <a:t>修复是加一个读体总时长预算，默认 10 秒，可以用环境变量覆盖，同时改用 read1。</a:t>
            </a:r>
          </a:p>
          <a:p>
            <a:pPr/>
            <a:endParaRPr lang="zh-CN" dirty="0"/>
          </a:p>
          <a:p>
            <a:pPr/>
            <a:r>
              <a:rPr lang="zh-CN" dirty="0"/>
              <a:t>实测结果：修复版 10.02 秒返回 408 Request Timeout，并且正确关闭连接。并发 9 条线程，连接数从 1 升到 10，客户端关闭之后 2.5 秒回落到 1。</a:t>
            </a:r>
          </a:p>
          <a:p>
            <a:pPr/>
            <a:endParaRPr lang="zh-CN" dirty="0"/>
          </a:p>
          <a:p>
            <a:pPr/>
            <a:r>
              <a:rPr lang="zh-CN" dirty="0"/>
              <a:t>最值得说的是第 7 步：健康检查全程返回 200，而且耗时小于 0.02 秒——它会掩盖这个缺陷。</a:t>
            </a:r>
          </a:p>
          <a:p>
            <a:pPr/>
            <a:endParaRPr lang="zh-CN" dirty="0"/>
          </a:p>
          <a:p>
            <a:pPr/>
            <a:r>
              <a:rPr lang="zh-CN" dirty="0"/>
              <a:t>最后一步我要说清楚：上面这些都是主机侧实测；交付的 latest 镜像已经在今天 01:13:59 重建完成，这个修复已经在镜像里生效——容器内同样是约十秒返回 408 并关闭连接。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35 秒）</a:t>
            </a:r>
          </a:p>
          <a:p>
            <a:pPr/>
            <a:endParaRPr lang="zh-CN" dirty="0"/>
          </a:p>
          <a:p>
            <a:pPr/>
            <a:r>
              <a:rPr lang="zh-CN" dirty="0"/>
              <a:t>最后一页，是给评委的一个承诺：我们说的每一句话，都有一条命令可以在现场跑出来。</a:t>
            </a:r>
          </a:p>
          <a:p>
            <a:pPr/>
            <a:endParaRPr lang="zh-CN" dirty="0"/>
          </a:p>
          <a:p>
            <a:pPr/>
            <a:r>
              <a:rPr lang="zh-CN" dirty="0"/>
              <a:t>第一条，算一下规则源码的 sha256，跟容器健康检查返回的指纹比对——一致，说明三处用的是同一份规则真源。</a:t>
            </a:r>
          </a:p>
          <a:p>
            <a:pPr/>
            <a:endParaRPr lang="zh-CN" dirty="0"/>
          </a:p>
          <a:p>
            <a:pPr/>
            <a:r>
              <a:rPr lang="zh-CN" dirty="0"/>
              <a:t>第二条，跑推荐阶段的单元测试，期望看到 Ran 329 tests / OK。</a:t>
            </a:r>
          </a:p>
          <a:p>
            <a:pPr/>
            <a:endParaRPr lang="zh-CN" dirty="0"/>
          </a:p>
          <a:p>
            <a:pPr/>
            <a:r>
              <a:rPr lang="zh-CN" dirty="0"/>
              <a:t>第三条，跑阶段 C 的独立验收套件，期望看到 Ran 39 tests / OK。</a:t>
            </a:r>
          </a:p>
          <a:p>
            <a:pPr/>
            <a:endParaRPr lang="zh-CN" dirty="0"/>
          </a:p>
          <a:p>
            <a:pPr/>
            <a:r>
              <a:rPr lang="zh-CN" dirty="0"/>
              <a:t>底部两行也是如实说明：`docs/verification/` 已经建好了，复核指南和聚合脚本 `tools/verify_all.py` 都在；`/metrics` 目前没有鉴权，不能直接暴露到公网。</a:t>
            </a:r>
          </a:p>
          <a:p>
            <a:pPr/>
            <a:endParaRPr lang="zh-CN" dirty="0"/>
          </a:p>
          <a:p>
            <a:pPr/>
            <a:r>
              <a:rPr lang="zh-CN" dirty="0"/>
              <a:t>跑不出来的，我们没写。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giftwise-defens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giftwise-defens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d64a64712060db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560844" y="209550"/>
            <a:ext cx="1021556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3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660856" y="259969"/>
            <a:ext cx="8064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赛道 B · 交付物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84231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2"/>
                </a:solidFill>
                <a:latin typeface="Arial"/>
                <a:ea typeface="Microsoft YaHei"/>
                <a:cs typeface="Arial"/>
              </a:rPr>
              <a:t>01 / 项目概述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905271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把「不知道送什么」变成「知道为什么选、怎么送」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4062106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青年送礼决策 Agent · 赛道 B · 5 分钟报告 + 3 分钟 Demo + 7 分钟问答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2209800"/>
            <a:ext cx="5334000" cy="177165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09600" y="2295525"/>
            <a:ext cx="28575" cy="16002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7238" y="2343150"/>
            <a:ext cx="2624362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 组 · 可以写「已实测」（7 条，逐条可复核）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63366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71538" y="2565400"/>
            <a:ext cx="1989247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本机探针 46 条 + 单元测试 329 条通过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283368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71538" y="2765425"/>
            <a:ext cx="3717954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Dify 工作流已发布并创建版本；主批次 10 次模型调用 / 34,127 tokens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03371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71538" y="2965450"/>
            <a:ext cx="254495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累计 13 次 / 38,326 tokens（双口径，第 5 页）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323373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71538" y="3165475"/>
            <a:ext cx="2751493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 Docker 14 项通过（178 MB，冷构建 1.720 s）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2000" y="343376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71538" y="3365500"/>
            <a:ext cx="1630350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容器校验结果与本机逐字节一致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48400" y="2209800"/>
            <a:ext cx="5334000" cy="177165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6248400" y="2295525"/>
            <a:ext cx="28575" cy="1600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396038" y="2343150"/>
            <a:ext cx="2857786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 组 · 必须写「未完成」（现存 15 条，不得美化）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400800" y="263366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510338" y="2565400"/>
            <a:ext cx="3671344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B1 云与编排 4 条：云部署从未发生、未推镜像仓库、无编排与弹性伸缩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400800" y="283368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510338" y="2765425"/>
            <a:ext cx="3340626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B2 Dify 5 条：trace 不可用、N4 ELSE 未触发、呈现阶段未实现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00800" y="303371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510338" y="2965450"/>
            <a:ext cx="3208251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B3 数据与成本 3 条：价格库存未核实、单价未从真实账单核实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400800" y="323373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510338" y="3165475"/>
            <a:ext cx="4157591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B4 可观测性与工程 3 条：入口非默认、前端已过 100 项浏览器验收、parity 仅样例级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396038" y="3365500"/>
            <a:ext cx="1422826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全文见第 8 页；一句不省。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09600" y="4133850"/>
            <a:ext cx="109728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757238" y="4267200"/>
            <a:ext cx="1630350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关系优先级（产品硬性需求）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7238" y="4508500"/>
            <a:ext cx="4345231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恋人 / 追求对象（最高） → 朋友 → 其他。追求关系不假定已有恋爱关系或双向好感；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7238" y="4699000"/>
            <a:ext cx="4254360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恋人（partner）与追求对象（pursuit）是两个冻结 ID，提示词与文案各自独立。</a:t>
            </a:r>
          </a:p>
        </p:txBody>
      </p:sp>
      <p:sp>
        <p:nvSpPr>
          <p:cNvPr id="39" name="Freeform 39"/>
          <p:cNvSpPr/>
          <p:nvPr/>
        </p:nvSpPr>
        <p:spPr>
          <a:xfrm>
            <a:off x="762000" y="4953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757238" y="5060950"/>
            <a:ext cx="5120912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产品闭环：录入 → 恰好 3 个候选（含理由）→ 独立代码校验（失败项不可选）→ 用户选择 → 四段呈现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7238" y="5251450"/>
            <a:ext cx="2473392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（Dify 侧尚未实现）。全局最多一次自动修订。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7238" y="5492750"/>
            <a:ext cx="460333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快照 HEAD ae0ea58 · origin/main == main == 37493f9（领先 0）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757238" y="6203950"/>
            <a:ext cx="5791959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本页结论：A 组 7 条可当场复核；B 组 15 条不美化、不省略。成本与性能口径见第 7 页，未完成全文见第 8 页。</a:t>
            </a:r>
          </a:p>
        </p:txBody>
      </p:sp>
      <p:sp>
        <p:nvSpPr>
          <p:cNvPr id="46" name="Freeform 46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604838" y="6578600"/>
            <a:ext cx="4343456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docs/competition/答辩PPT骨架.md · docs/demo-script.md · docs/acceptance-criteria.md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733722" y="209550"/>
            <a:ext cx="848678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chemeClr val="accent5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833735" y="259969"/>
            <a:ext cx="6599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6 个评分维度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9749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5"/>
                </a:solidFill>
                <a:latin typeface="Arial"/>
                <a:ea typeface="Microsoft YaHei"/>
                <a:cs typeface="Arial"/>
              </a:rPr>
              <a:t>02 / 问题与目标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474352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问题与目标（含成功标准）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3192076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痛点真实，标准可验证；未达成的部分在第 8 页逐条列出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2209800"/>
            <a:ext cx="3619500" cy="35433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09600" y="2295525"/>
            <a:ext cx="28575" cy="33718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7238" y="2343150"/>
            <a:ext cx="758685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五个真实痛点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7238" y="2552700"/>
            <a:ext cx="7562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P-1 分寸难拿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7238" y="2713038"/>
            <a:ext cx="203017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既不想冷淡，也不能假定对方已经接受你。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7238" y="2847975"/>
            <a:ext cx="9985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P-2 关系语境不同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7238" y="3008312"/>
            <a:ext cx="277462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同一件礼物，给恋人、给朋友、给长辈，说法完全不一样。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7238" y="3143250"/>
            <a:ext cx="111974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P-3 硬约束极易违反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7238" y="3303588"/>
            <a:ext cx="224287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预算、禁忌、时间、必填项，模型很容易说漏。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7238" y="3438525"/>
            <a:ext cx="9985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P-4 建议不可解释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7238" y="3598862"/>
            <a:ext cx="235985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「送香水吧」——为什么是香水、为什么不是别的。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7238" y="3733800"/>
            <a:ext cx="9985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P-5 送完没有下文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7238" y="3894138"/>
            <a:ext cx="234922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包装、贺卡、什么时候给、怎么开口，全都没有。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533900" y="2209800"/>
            <a:ext cx="7048500" cy="247650"/>
          </a:xfrm>
          <a:prstGeom prst="roundRect">
            <a:avLst>
              <a:gd name="adj" fmla="val 30769"/>
            </a:avLst>
          </a:prstGeom>
          <a:solidFill>
            <a:srgbClr val="F0ECE7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643438" y="2282825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编号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367338" y="2282825"/>
            <a:ext cx="4376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成功标准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24988" y="2282825"/>
            <a:ext cx="4376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当前状态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43438" y="257492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367528" y="2547493"/>
            <a:ext cx="38862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预算上限与最终可用天数被明确展示与确认，无静默补值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27464" y="2547493"/>
            <a:ext cx="210312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B 规则层已实现；缺真实用户可用性验证</a:t>
            </a:r>
          </a:p>
        </p:txBody>
      </p:sp>
      <p:sp>
        <p:nvSpPr>
          <p:cNvPr id="30" name="Freeform 30"/>
          <p:cNvSpPr/>
          <p:nvPr/>
        </p:nvSpPr>
        <p:spPr>
          <a:xfrm>
            <a:off x="4533900" y="281940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643438" y="293687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367528" y="2909443"/>
            <a:ext cx="38862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恰好三个不同候选，并分离事实／推断／未知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27464" y="2909443"/>
            <a:ext cx="210312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A 真实模型已产出三候选</a:t>
            </a:r>
          </a:p>
        </p:txBody>
      </p:sp>
      <p:sp>
        <p:nvSpPr>
          <p:cNvPr id="34" name="Freeform 34"/>
          <p:cNvSpPr/>
          <p:nvPr/>
        </p:nvSpPr>
        <p:spPr>
          <a:xfrm>
            <a:off x="4533900" y="318135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4643438" y="329882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367528" y="3271393"/>
            <a:ext cx="38862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规则校验独立于模型，失败项不可选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27464" y="3271393"/>
            <a:ext cx="210312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A 真实 Dify 链路已实测</a:t>
            </a:r>
          </a:p>
        </p:txBody>
      </p:sp>
      <p:sp>
        <p:nvSpPr>
          <p:cNvPr id="38" name="Freeform 38"/>
          <p:cNvSpPr/>
          <p:nvPr/>
        </p:nvSpPr>
        <p:spPr>
          <a:xfrm>
            <a:off x="4533900" y="354330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4643438" y="366077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367528" y="3633343"/>
            <a:ext cx="38862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恋人与追求对象使用不同提示/文案/话术；追求对象不默认告白、承诺或关系确认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27464" y="3633343"/>
            <a:ext cx="210312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B 规则与文案层实测；模型侧部分</a:t>
            </a:r>
          </a:p>
        </p:txBody>
      </p:sp>
      <p:sp>
        <p:nvSpPr>
          <p:cNvPr id="42" name="Freeform 42"/>
          <p:cNvSpPr/>
          <p:nvPr/>
        </p:nvSpPr>
        <p:spPr>
          <a:xfrm>
            <a:off x="4533900" y="390525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4643438" y="402272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SC-5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367528" y="3995292"/>
            <a:ext cx="38862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选择前不生成任何详细包装／贺卡／赠送设计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427464" y="3995292"/>
            <a:ext cx="210312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B 呈现阶段未实现（规则层已约束）</a:t>
            </a:r>
          </a:p>
        </p:txBody>
      </p:sp>
      <p:sp>
        <p:nvSpPr>
          <p:cNvPr id="46" name="Freeform 46"/>
          <p:cNvSpPr/>
          <p:nvPr/>
        </p:nvSpPr>
        <p:spPr>
          <a:xfrm>
            <a:off x="4533900" y="426720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4643438" y="438467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SC-6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367528" y="4357243"/>
            <a:ext cx="38862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选择后按「风格配色→包装→贺卡及装饰→赠送时机与话术」呈现，并复核费用/时间/禁忌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427464" y="4357243"/>
            <a:ext cx="210312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 阶段未实现（设计已冻结）</a:t>
            </a:r>
          </a:p>
        </p:txBody>
      </p:sp>
      <p:sp>
        <p:nvSpPr>
          <p:cNvPr id="50" name="Freeform 50"/>
          <p:cNvSpPr/>
          <p:nvPr/>
        </p:nvSpPr>
        <p:spPr>
          <a:xfrm>
            <a:off x="4533900" y="462915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643438" y="474662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SC-7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367528" y="4719193"/>
            <a:ext cx="38862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跨阶段自动业务修订合计 ≤1 次，且次数不可由前端篡改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427464" y="4719193"/>
            <a:ext cx="210312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A 真实修订链路 repair_count=1 已实测</a:t>
            </a:r>
          </a:p>
        </p:txBody>
      </p:sp>
      <p:sp>
        <p:nvSpPr>
          <p:cNvPr id="54" name="Freeform 54"/>
          <p:cNvSpPr/>
          <p:nvPr/>
        </p:nvSpPr>
        <p:spPr>
          <a:xfrm>
            <a:off x="4533900" y="499110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4643438" y="510857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SC-8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367528" y="5081143"/>
            <a:ext cx="38862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中文状态完备（加载/空/错误/超时/无可选方案/未选择）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427464" y="5081143"/>
            <a:ext cx="210312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A browser-check 100 项 / 0 失败（真实 Chromium）</a:t>
            </a:r>
          </a:p>
        </p:txBody>
      </p:sp>
      <p:sp>
        <p:nvSpPr>
          <p:cNvPr id="58" name="Freeform 58"/>
          <p:cNvSpPr/>
          <p:nvPr/>
        </p:nvSpPr>
        <p:spPr>
          <a:xfrm>
            <a:off x="4533900" y="535305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4643438" y="547052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SC-9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367528" y="5443093"/>
            <a:ext cx="38862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所有失败路径不伪装为完成，且保留可解释的失败原因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427464" y="5443093"/>
            <a:ext cx="210312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A 持续失败用例 all_passed=false 已实测</a:t>
            </a:r>
          </a:p>
        </p:txBody>
      </p:sp>
      <p:sp>
        <p:nvSpPr>
          <p:cNvPr id="62" name="Freeform 62"/>
          <p:cNvSpPr/>
          <p:nvPr/>
        </p:nvSpPr>
        <p:spPr>
          <a:xfrm>
            <a:off x="4533900" y="571500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604838" y="5861050"/>
            <a:ext cx="409889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达成 5 条 / 未达成 4 条。未达成项对应的 B 组条目见第 8 页：B1-1、B1-3、B2-7、B3-11。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65" name="Rectangle 65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757238" y="6203950"/>
            <a:ext cx="4084742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本页结论：SC-8（中文状态完备）已于 2026-10-31 通过 100 项浏览器验收升为 A；SC-1 因缺真实用户可用性验证仍为 B。A 5 条 = SC-2/3/7/8/9；B 4 条 = SC-1/4/5/6；未达成项见第 8 页。</a:t>
            </a:r>
          </a:p>
        </p:txBody>
      </p:sp>
      <p:sp>
        <p:nvSpPr>
          <p:cNvPr id="67" name="Freeform 67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604838" y="6578600"/>
            <a:ext cx="3705083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1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docs/acceptance-criteria.md · docs/product-requirements.md · SC-1…SC-9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733722" y="209550"/>
            <a:ext cx="848678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3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833735" y="259969"/>
            <a:ext cx="6599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3 个关键决定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124011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2"/>
                </a:solidFill>
                <a:latin typeface="Arial"/>
                <a:ea typeface="Microsoft YaHei"/>
                <a:cs typeface="Arial"/>
              </a:rPr>
              <a:t>03 / 整体方案与选型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356829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整体方案与选型理由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2413838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技术选择是为诚实性服务的，不是堆栈炫技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2209800"/>
            <a:ext cx="3505200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09600" y="2295525"/>
            <a:ext cx="28575" cy="1276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7238" y="2343150"/>
            <a:ext cx="12393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决定一 生成与判定分离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7238" y="2565400"/>
            <a:ext cx="436986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模型只负责生成；预算、币种、禁忌、必填、准备时间由独立规则代码判定。模型无权放行。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267200" y="2209800"/>
            <a:ext cx="3505200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267200" y="2295525"/>
            <a:ext cx="28575" cy="12763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414838" y="2343150"/>
            <a:ext cx="12393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决定二 用户选择在中间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14838" y="2565400"/>
            <a:ext cx="409867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恰好 3 个候选 → 用户选定 → 才生成包装、配色、贺卡、赠送。全局最多一次自动修订。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924800" y="2209800"/>
            <a:ext cx="3505200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924800" y="2295525"/>
            <a:ext cx="28575" cy="1276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072438" y="2343150"/>
            <a:ext cx="135844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决定三 可信状态在服务端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72438" y="2565400"/>
            <a:ext cx="349649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API Key 不进前端；规则源码指纹由服务端下发，校验结果与镜像内一致。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09600" y="3829050"/>
            <a:ext cx="10972800" cy="266700"/>
          </a:xfrm>
          <a:prstGeom prst="roundRect">
            <a:avLst>
              <a:gd name="adj" fmla="val 28571"/>
            </a:avLst>
          </a:prstGeom>
          <a:solidFill>
            <a:srgbClr val="F0ECE7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19138" y="3911600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选型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471738" y="3911600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用途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86338" y="3911600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理由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91588" y="3911600"/>
            <a:ext cx="58284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代价 / 边界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9138" y="4213225"/>
            <a:ext cx="66330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Python 3.12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471738" y="4213225"/>
            <a:ext cx="8603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规则校验与工作流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986338" y="4213225"/>
            <a:ext cx="182810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纯标准库零依赖，任何人 clone 就能跑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891588" y="4213225"/>
            <a:ext cx="8603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无第三方生态可用</a:t>
            </a:r>
          </a:p>
        </p:txBody>
      </p:sp>
      <p:sp>
        <p:nvSpPr>
          <p:cNvPr id="31" name="Freeform 31"/>
          <p:cNvSpPr/>
          <p:nvPr/>
        </p:nvSpPr>
        <p:spPr>
          <a:xfrm>
            <a:off x="609600" y="44577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19138" y="4575175"/>
            <a:ext cx="139741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Dify Cloud 1.18.0（仓库已核实）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471738" y="4575175"/>
            <a:ext cx="55026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Agent 编排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986338" y="4575175"/>
            <a:ext cx="210461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可视化 11 节点链路，现场可打开已发布版本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891588" y="4575175"/>
            <a:ext cx="150374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呈现阶段未实现；trace 不可用</a:t>
            </a:r>
          </a:p>
        </p:txBody>
      </p:sp>
      <p:sp>
        <p:nvSpPr>
          <p:cNvPr id="36" name="Freeform 36"/>
          <p:cNvSpPr/>
          <p:nvPr/>
        </p:nvSpPr>
        <p:spPr>
          <a:xfrm>
            <a:off x="609600" y="4819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719138" y="4937125"/>
            <a:ext cx="754488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DeepSeek 模型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471738" y="4937125"/>
            <a:ext cx="7539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候选生成与修订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986338" y="4937125"/>
            <a:ext cx="200358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真实调用，主批次 10 次 / 34,127 tokens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891588" y="4937125"/>
            <a:ext cx="10730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单价未从真实账单核实</a:t>
            </a:r>
          </a:p>
        </p:txBody>
      </p:sp>
      <p:sp>
        <p:nvSpPr>
          <p:cNvPr id="41" name="Freeform 41"/>
          <p:cNvSpPr/>
          <p:nvPr/>
        </p:nvSpPr>
        <p:spPr>
          <a:xfrm>
            <a:off x="609600" y="5181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719138" y="5299075"/>
            <a:ext cx="73578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Node ≥18 ESM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471738" y="5299075"/>
            <a:ext cx="3285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接入层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986338" y="5299075"/>
            <a:ext cx="175897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零依赖，无构建步骤，无 npm 供应链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891588" y="5299075"/>
            <a:ext cx="160477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已过 100 项浏览器验收 / 0 失败；缺并发容量数据</a:t>
            </a:r>
          </a:p>
        </p:txBody>
      </p:sp>
      <p:sp>
        <p:nvSpPr>
          <p:cNvPr id="46" name="Freeform 46"/>
          <p:cNvSpPr/>
          <p:nvPr/>
        </p:nvSpPr>
        <p:spPr>
          <a:xfrm>
            <a:off x="609600" y="55435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19138" y="5661025"/>
            <a:ext cx="62801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Docker 本机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471738" y="5661025"/>
            <a:ext cx="5412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打包与运行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986338" y="5661025"/>
            <a:ext cx="156223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本机实测 14 项，冷构建 1.720 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891588" y="5661025"/>
            <a:ext cx="149842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未上云、未推镜像仓库、无编排</a:t>
            </a:r>
          </a:p>
        </p:txBody>
      </p:sp>
      <p:sp>
        <p:nvSpPr>
          <p:cNvPr id="51" name="Freeform 51"/>
          <p:cNvSpPr/>
          <p:nvPr/>
        </p:nvSpPr>
        <p:spPr>
          <a:xfrm>
            <a:off x="609600" y="5905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6E6E73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57238" y="6203950"/>
            <a:ext cx="5487181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本页结论：明确不做 K8s 与微服务：不是能力问题，是按比赛边界未采购未上传。部署脚本与设计已写好。</a:t>
            </a:r>
          </a:p>
        </p:txBody>
      </p:sp>
      <p:sp>
        <p:nvSpPr>
          <p:cNvPr id="55" name="Freeform 55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604838" y="6578600"/>
            <a:ext cx="3778902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deploy/preprod-plan.md（路线 C）· validator/rules.py · web/（零依赖 ESM）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351294" y="209550"/>
            <a:ext cx="1231106" cy="228600"/>
          </a:xfrm>
          <a:prstGeom prst="roundRect">
            <a:avLst>
              <a:gd name="adj" fmla="val 50000"/>
            </a:avLst>
          </a:prstGeom>
          <a:solidFill>
            <a:srgbClr val="EDF5EF"/>
          </a:solidFill>
          <a:ln w="9525">
            <a:solidFill>
              <a:srgbClr val="245D3C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451306" y="259969"/>
            <a:ext cx="101405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已实测 + 6 条未完成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84231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04 / 核心实现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8046720" cy="586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Agent 链路 + 云原生架构（架构图）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3438835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11 节点 11 边已接线并真实跑通；同一份规则真源供三处使用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2209800"/>
            <a:ext cx="6400800" cy="369570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pic>
        <p:nvPicPr>
          <p:cNvPr id="11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" y="2209800"/>
            <a:ext cx="5306663" cy="3695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738188" y="5702300"/>
            <a:ext cx="1553145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架构图 1680×1170 · 74 组版（2026-10-31）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315200" y="2209800"/>
            <a:ext cx="4267200" cy="369570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62838" y="2343150"/>
            <a:ext cx="634162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链路与边界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62838" y="2552700"/>
            <a:ext cx="60150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A · 已实测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467600" y="2781300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577138" y="2725738"/>
            <a:ext cx="263124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N1 → N2 → N3 → N4 → N7a → EndA 已接线（11 节点 11 边）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467600" y="292893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77138" y="2873375"/>
            <a:ext cx="249326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工作流已发布并创建版本（v1 10-30 23:04；当前 v2）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467600" y="3076575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577138" y="3021012"/>
            <a:ext cx="210454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真实模型调用：主批次 10 次 / 34,127 tokens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467600" y="322421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577138" y="3168650"/>
            <a:ext cx="180165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累计 13 次 / 38,326 tokens（双口径）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467600" y="3371850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577138" y="3316288"/>
            <a:ext cx="220046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本机容器 14 项通过，校验结果与本机逐字节一致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62838" y="3519726"/>
            <a:ext cx="60150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 · 未完成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467600" y="3748326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577138" y="3692763"/>
            <a:ext cx="16393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B2-5 trace 不可用（not_collected）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467600" y="3895963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577138" y="3840401"/>
            <a:ext cx="118071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B2-6 N4 ELSE 分支从未触发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467600" y="4043601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577138" y="3988038"/>
            <a:ext cx="2274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B2-7 无自然 OVER_BUDGET / FORBIDDEN_TAG 证据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467600" y="419123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577138" y="4135676"/>
            <a:ext cx="157238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B2-8 修复后的修订路径无运行时证据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467600" y="4338876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577138" y="4283313"/>
            <a:ext cx="19463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B2-9 Dify 侧包装 / 配色 / 贺卡 / 赠送未实现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467600" y="4486513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7577138" y="4430951"/>
            <a:ext cx="197624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B1-1 云部署从未发生；未推镜像仓库；无编排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57238" y="6203950"/>
            <a:ext cx="4663389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本页结论：实线是已实现并跑通的；B 组 6 条是这段链路上明确的缺口，第 8 页全文列出。</a:t>
            </a:r>
          </a:p>
        </p:txBody>
      </p:sp>
      <p:sp>
        <p:nvSpPr>
          <p:cNvPr id="42" name="Freeform 42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04838" y="6578600"/>
            <a:ext cx="5432209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1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docs/architecture/rendered/system-architecture-competition.png · workflow/evidence/WF-003-2026-10-30.md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178415" y="209550"/>
            <a:ext cx="1403985" cy="228600"/>
          </a:xfrm>
          <a:prstGeom prst="roundRect">
            <a:avLst>
              <a:gd name="adj" fmla="val 50000"/>
            </a:avLst>
          </a:prstGeom>
          <a:solidFill>
            <a:srgbClr val="EDF5EF"/>
          </a:solidFill>
          <a:ln w="9525">
            <a:solidFill>
              <a:srgbClr val="245D3C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278428" y="259969"/>
            <a:ext cx="115293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A 组 7 条 · 全部可复核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9749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05 / 结果与证据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591875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结果与证据（只放已有真实证据）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2546469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A 组 7 条逐条可复核；数字在仓库内都能复现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2209800"/>
            <a:ext cx="10972800" cy="247650"/>
          </a:xfrm>
          <a:prstGeom prst="roundRect">
            <a:avLst>
              <a:gd name="adj" fmla="val 30769"/>
            </a:avLst>
          </a:prstGeom>
          <a:solidFill>
            <a:srgbClr val="F0ECE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42988" y="2282825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条目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76638" y="2282825"/>
            <a:ext cx="54665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内容与数字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05838" y="2282825"/>
            <a:ext cx="4376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证据位置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138" y="2603500"/>
            <a:ext cx="13931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2988" y="2603500"/>
            <a:ext cx="4349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本机自测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76638" y="2603500"/>
            <a:ext cx="300907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探针 46 条通过；单元测试 329 条通过（Ran 329 tests / OK）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05838" y="2603500"/>
            <a:ext cx="147715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tests/ · python -m unittest</a:t>
            </a:r>
          </a:p>
        </p:txBody>
      </p:sp>
      <p:sp>
        <p:nvSpPr>
          <p:cNvPr id="18" name="Freeform 18"/>
          <p:cNvSpPr/>
          <p:nvPr/>
        </p:nvSpPr>
        <p:spPr>
          <a:xfrm>
            <a:off x="609600" y="28765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19138" y="3022600"/>
            <a:ext cx="13931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2988" y="3022600"/>
            <a:ext cx="67759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Dify 真实运行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76638" y="3022600"/>
            <a:ext cx="350843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已发布并创建版本；主批次 10 次 / 34,127 tokens；累计 13 次 / 38,326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05838" y="3022600"/>
            <a:ext cx="14328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workflow/evidence/WF-003</a:t>
            </a:r>
          </a:p>
        </p:txBody>
      </p:sp>
      <p:sp>
        <p:nvSpPr>
          <p:cNvPr id="23" name="Freeform 23"/>
          <p:cNvSpPr/>
          <p:nvPr/>
        </p:nvSpPr>
        <p:spPr>
          <a:xfrm>
            <a:off x="609600" y="3295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719138" y="3441700"/>
            <a:ext cx="13931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2988" y="3441700"/>
            <a:ext cx="6476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本机容器实测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576638" y="3441700"/>
            <a:ext cx="366053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14 项通过；178 MB（169.676 MiB）；冷构建 1.720 s；启动 0.668 s（均值）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05838" y="3441700"/>
            <a:ext cx="208334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deploy/evidence/docker-2026-10-30.md</a:t>
            </a:r>
          </a:p>
        </p:txBody>
      </p:sp>
      <p:sp>
        <p:nvSpPr>
          <p:cNvPr id="28" name="Freeform 28"/>
          <p:cNvSpPr/>
          <p:nvPr/>
        </p:nvSpPr>
        <p:spPr>
          <a:xfrm>
            <a:off x="609600" y="3714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19138" y="3860800"/>
            <a:ext cx="13931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2988" y="3860800"/>
            <a:ext cx="5412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校验一致性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576638" y="3860800"/>
            <a:ext cx="3135808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容器 POST /validate 与本机 validate 逐字节一致；规则哈希一致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05838" y="3860800"/>
            <a:ext cx="145588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deploy/evidence/ · /healthz</a:t>
            </a:r>
          </a:p>
        </p:txBody>
      </p:sp>
      <p:sp>
        <p:nvSpPr>
          <p:cNvPr id="33" name="Freeform 33"/>
          <p:cNvSpPr/>
          <p:nvPr/>
        </p:nvSpPr>
        <p:spPr>
          <a:xfrm>
            <a:off x="609600" y="4133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719138" y="4279900"/>
            <a:ext cx="13931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42988" y="4279900"/>
            <a:ext cx="4349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镜像卫生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576638" y="4279900"/>
            <a:ext cx="344994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镜像内无密钥、无 .git/tests/docs/workflow；非 root（uid 10001）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05838" y="4279900"/>
            <a:ext cx="143278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Dockerfile · docker inspect</a:t>
            </a:r>
          </a:p>
        </p:txBody>
      </p:sp>
      <p:sp>
        <p:nvSpPr>
          <p:cNvPr id="38" name="Freeform 38"/>
          <p:cNvSpPr/>
          <p:nvPr/>
        </p:nvSpPr>
        <p:spPr>
          <a:xfrm>
            <a:off x="609600" y="45529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19138" y="4699000"/>
            <a:ext cx="13931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42988" y="4699000"/>
            <a:ext cx="3285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接入层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576638" y="4699000"/>
            <a:ext cx="256633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样例级一致 74 组 / 0 差异；HTTP 冒烟 59 项 / 0 失败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605838" y="4699000"/>
            <a:ext cx="91881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web/ · 接入层测试</a:t>
            </a:r>
          </a:p>
        </p:txBody>
      </p:sp>
      <p:sp>
        <p:nvSpPr>
          <p:cNvPr id="43" name="Freeform 43"/>
          <p:cNvSpPr/>
          <p:nvPr/>
        </p:nvSpPr>
        <p:spPr>
          <a:xfrm>
            <a:off x="609600" y="49720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719138" y="5118100"/>
            <a:ext cx="13931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A7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42988" y="5118100"/>
            <a:ext cx="5412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状态码矩阵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576638" y="5118100"/>
            <a:ext cx="23651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 deploy/server.py 与进程内调用逐字节一致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605838" y="5118100"/>
            <a:ext cx="146651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deploy/server.py · 实测记录</a:t>
            </a:r>
          </a:p>
        </p:txBody>
      </p:sp>
      <p:sp>
        <p:nvSpPr>
          <p:cNvPr id="48" name="Freeform 48"/>
          <p:cNvSpPr/>
          <p:nvPr/>
        </p:nvSpPr>
        <p:spPr>
          <a:xfrm>
            <a:off x="609600" y="539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609600" y="5505450"/>
            <a:ext cx="5334000" cy="41910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757238" y="5651500"/>
            <a:ext cx="391948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另行核实：39 项阶段 C 独立套件通过；关系文案差异（恋人 / 追求对象）已实测。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096000" y="5505450"/>
            <a:ext cx="5486400" cy="41910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6243638" y="5651500"/>
            <a:ext cx="3987008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时点说明：322 条是 2026-10-30 的时点真值，本页 329 条为 2026-10-31 复跑值。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757238" y="6203950"/>
            <a:ext cx="4298704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本页结论：A 组 7 条均在仓库内有原始证据；追问任意一条，我们都能翻到源文件。</a:t>
            </a:r>
          </a:p>
        </p:txBody>
      </p:sp>
      <p:sp>
        <p:nvSpPr>
          <p:cNvPr id="56" name="Freeform 56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604838" y="6578600"/>
            <a:ext cx="3606857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A1–A7 原始证据：tests/ · workflow/evidence/ · deploy/evidence/ · web/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838498" y="209550"/>
            <a:ext cx="743902" cy="228600"/>
          </a:xfrm>
          <a:prstGeom prst="roundRect">
            <a:avLst>
              <a:gd name="adj" fmla="val 50000"/>
            </a:avLst>
          </a:prstGeom>
          <a:solidFill>
            <a:srgbClr val="FCEEEE"/>
          </a:solidFill>
          <a:ln w="9525">
            <a:solidFill>
              <a:schemeClr val="accent2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938510" y="259969"/>
            <a:ext cx="5496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6 条未完成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9749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06 / 工程化设计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905271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工程化设计（复现、异常处理、可靠性、可观测性）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3356582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零第三方依赖 + 哈希可追溯 + 失败不伪装 + 容器逐字节一致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2209800"/>
            <a:ext cx="3505200" cy="369570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09600" y="2295525"/>
            <a:ext cx="28575" cy="35242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7238" y="2343150"/>
            <a:ext cx="509638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可复现性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63366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71538" y="2565400"/>
            <a:ext cx="21826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Python 纯标准库，无第三方依赖，clone 即跑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2781300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71538" y="2713038"/>
            <a:ext cx="168822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Node ≥18 零依赖 ESM，无构建步骤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292893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71538" y="2860675"/>
            <a:ext cx="24715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镜像标识口径：tag + 日期 + rules_source_sha256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7238" y="3021012"/>
            <a:ext cx="244278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（不写 manifest digest——镜像从未推送到任何仓库）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22421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71538" y="3155950"/>
            <a:ext cx="1661358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镜像 ID 仅作辅助，且会随重建漂移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7238" y="3316288"/>
            <a:ext cx="27303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B4-13 入口已随镜像交付但非默认（/metrics 默认 404、未鉴权）；未实测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343400" y="2209800"/>
            <a:ext cx="3505200" cy="369570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4343400" y="2295525"/>
            <a:ext cx="28575" cy="3524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491038" y="2343150"/>
            <a:ext cx="509638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异常处理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495800" y="263366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605338" y="2565400"/>
            <a:ext cx="263636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规则码 19 个，覆盖预算、币种、禁忌、必填、准备时间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495800" y="2781300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605338" y="2713038"/>
            <a:ext cx="272144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关系类型 8 个；亲密度 5 档（very_familiar…unknown）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495800" y="292893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605338" y="2860675"/>
            <a:ext cx="181747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失败项不可选；全局最多一次自动修订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495800" y="3076575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605338" y="3008312"/>
            <a:ext cx="203017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校验失败返回稳定错误码，不返回猜测结果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491038" y="3168650"/>
            <a:ext cx="236258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B2-7 无自然 OVER_BUDGET / FORBIDDEN_TAG 证据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491038" y="3316288"/>
            <a:ext cx="120898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B2-6 N4 ELSE 分支从未触发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077200" y="2209800"/>
            <a:ext cx="3505200" cy="369570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8077200" y="2295525"/>
            <a:ext cx="28575" cy="352425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224838" y="2343150"/>
            <a:ext cx="1007732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可靠性与可观测性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229600" y="263366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339138" y="2565400"/>
            <a:ext cx="24141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阶段 C 独立套件 39 项通过（Ran 39 tests / OK）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229600" y="2781300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339138" y="2713038"/>
            <a:ext cx="288538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接入层样例级一致 74 组 / 0 差异；HTTP 冒烟 59 项 / 0 失败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229600" y="292893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339138" y="2860675"/>
            <a:ext cx="202485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容器非 root（uid 10001）；镜像内无密钥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229600" y="3076575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339138" y="3008312"/>
            <a:ext cx="249279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/healthz 返回规则源码指纹，可与本机 sha256 对照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224838" y="3168650"/>
            <a:ext cx="169554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B2-5 trace 不可用（not_collected）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224838" y="3316288"/>
            <a:ext cx="202393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B4-14 前端已过 100 项浏览器验收 / 0 失败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224838" y="3463925"/>
            <a:ext cx="241425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B4-15 parity 仅样例级；越界网格已覆盖，唯一残差 1 例（两侧都拒绝）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6E6E73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757238" y="6203950"/>
            <a:ext cx="5120912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本页结论：工程纪律的核心是「失败不伪装」：校验独立于模型，边界写进文档，缺口写进第 8 页。</a:t>
            </a:r>
          </a:p>
        </p:txBody>
      </p:sp>
      <p:sp>
        <p:nvSpPr>
          <p:cNvPr id="53" name="Freeform 53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604838" y="6578600"/>
            <a:ext cx="4162485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1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validator/rules.py · deploy/observability.py · tests/acceptance/stage_c/ · web/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676096" y="209550"/>
            <a:ext cx="906304" cy="228600"/>
          </a:xfrm>
          <a:prstGeom prst="roundRect">
            <a:avLst>
              <a:gd name="adj" fmla="val 50000"/>
            </a:avLst>
          </a:prstGeom>
          <a:solidFill>
            <a:srgbClr val="FCEEEE"/>
          </a:solidFill>
          <a:ln w="9525">
            <a:solidFill>
              <a:schemeClr val="accent2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776109" y="259969"/>
            <a:ext cx="69476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含 2 项未核实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137271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07 / 成本、性能与取舍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317654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成本、性能与取舍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2793467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单位价格未取得真实账单之前，一律写「未核实」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2171700"/>
            <a:ext cx="5334000" cy="228600"/>
          </a:xfrm>
          <a:prstGeom prst="roundRect">
            <a:avLst>
              <a:gd name="adj" fmla="val 33333"/>
            </a:avLst>
          </a:prstGeom>
          <a:solidFill>
            <a:srgbClr val="F0ECE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38188" y="2235200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指标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05088" y="2235200"/>
            <a:ext cx="32857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实测值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8188" y="2489200"/>
            <a:ext cx="11793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真实模型调用（主批次）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05088" y="2489200"/>
            <a:ext cx="26476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10 次</a:t>
            </a:r>
          </a:p>
        </p:txBody>
      </p:sp>
      <p:sp>
        <p:nvSpPr>
          <p:cNvPr id="15" name="Freeform 15"/>
          <p:cNvSpPr/>
          <p:nvPr/>
        </p:nvSpPr>
        <p:spPr>
          <a:xfrm>
            <a:off x="609600" y="27051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38188" y="2794000"/>
            <a:ext cx="90977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tokens（主批次）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05088" y="2794000"/>
            <a:ext cx="36047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34,127</a:t>
            </a:r>
          </a:p>
        </p:txBody>
      </p:sp>
      <p:sp>
        <p:nvSpPr>
          <p:cNvPr id="18" name="Freeform 18"/>
          <p:cNvSpPr/>
          <p:nvPr/>
        </p:nvSpPr>
        <p:spPr>
          <a:xfrm>
            <a:off x="609600" y="30099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38188" y="3098800"/>
            <a:ext cx="10730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真实模型调用（累计）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05088" y="3098800"/>
            <a:ext cx="26476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13 次</a:t>
            </a:r>
          </a:p>
        </p:txBody>
      </p:sp>
      <p:sp>
        <p:nvSpPr>
          <p:cNvPr id="21" name="Freeform 21"/>
          <p:cNvSpPr/>
          <p:nvPr/>
        </p:nvSpPr>
        <p:spPr>
          <a:xfrm>
            <a:off x="609600" y="33147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38188" y="3403600"/>
            <a:ext cx="80342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tokens（累计）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05088" y="3403600"/>
            <a:ext cx="36047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38,326</a:t>
            </a:r>
          </a:p>
        </p:txBody>
      </p:sp>
      <p:sp>
        <p:nvSpPr>
          <p:cNvPr id="24" name="Freeform 24"/>
          <p:cNvSpPr/>
          <p:nvPr/>
        </p:nvSpPr>
        <p:spPr>
          <a:xfrm>
            <a:off x="609600" y="36195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38188" y="3708400"/>
            <a:ext cx="600108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N2 候选生成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05088" y="3708400"/>
            <a:ext cx="50936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4.5–6.0 s</a:t>
            </a:r>
          </a:p>
        </p:txBody>
      </p:sp>
      <p:sp>
        <p:nvSpPr>
          <p:cNvPr id="27" name="Freeform 27"/>
          <p:cNvSpPr/>
          <p:nvPr/>
        </p:nvSpPr>
        <p:spPr>
          <a:xfrm>
            <a:off x="609600" y="39243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38188" y="4013200"/>
            <a:ext cx="600108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N5 自动修订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605088" y="4013200"/>
            <a:ext cx="50936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3.0–3.1 s</a:t>
            </a:r>
          </a:p>
        </p:txBody>
      </p:sp>
      <p:sp>
        <p:nvSpPr>
          <p:cNvPr id="30" name="Freeform 30"/>
          <p:cNvSpPr/>
          <p:nvPr/>
        </p:nvSpPr>
        <p:spPr>
          <a:xfrm>
            <a:off x="609600" y="42291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38188" y="4318000"/>
            <a:ext cx="3285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端到端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605088" y="4318000"/>
            <a:ext cx="50936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5.2–8.9 s</a:t>
            </a:r>
          </a:p>
        </p:txBody>
      </p:sp>
      <p:sp>
        <p:nvSpPr>
          <p:cNvPr id="33" name="Freeform 33"/>
          <p:cNvSpPr/>
          <p:nvPr/>
        </p:nvSpPr>
        <p:spPr>
          <a:xfrm>
            <a:off x="609600" y="45339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738188" y="4622800"/>
            <a:ext cx="5412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服务端处理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605088" y="4622800"/>
            <a:ext cx="74333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0.587–0.888 s</a:t>
            </a:r>
          </a:p>
        </p:txBody>
      </p:sp>
      <p:sp>
        <p:nvSpPr>
          <p:cNvPr id="36" name="Freeform 36"/>
          <p:cNvSpPr/>
          <p:nvPr/>
        </p:nvSpPr>
        <p:spPr>
          <a:xfrm>
            <a:off x="609600" y="48387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6248400" y="2171700"/>
            <a:ext cx="5334000" cy="228600"/>
          </a:xfrm>
          <a:prstGeom prst="roundRect">
            <a:avLst>
              <a:gd name="adj" fmla="val 33333"/>
            </a:avLst>
          </a:prstGeom>
          <a:solidFill>
            <a:srgbClr val="F0ECE7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376988" y="2235200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指标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43888" y="2235200"/>
            <a:ext cx="32857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实测值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376988" y="2489200"/>
            <a:ext cx="6476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代码节点执行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243888" y="2489200"/>
            <a:ext cx="74333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0.067–0.238 s</a:t>
            </a:r>
          </a:p>
        </p:txBody>
      </p:sp>
      <p:sp>
        <p:nvSpPr>
          <p:cNvPr id="42" name="Freeform 42"/>
          <p:cNvSpPr/>
          <p:nvPr/>
        </p:nvSpPr>
        <p:spPr>
          <a:xfrm>
            <a:off x="6248400" y="27051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376988" y="2794000"/>
            <a:ext cx="4349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镜像体积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243888" y="2794000"/>
            <a:ext cx="116131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178 MB（169.676 MiB）</a:t>
            </a:r>
          </a:p>
        </p:txBody>
      </p:sp>
      <p:sp>
        <p:nvSpPr>
          <p:cNvPr id="45" name="Freeform 45"/>
          <p:cNvSpPr/>
          <p:nvPr/>
        </p:nvSpPr>
        <p:spPr>
          <a:xfrm>
            <a:off x="6248400" y="30099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376988" y="3098800"/>
            <a:ext cx="3285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冷构建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243888" y="3098800"/>
            <a:ext cx="39238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1.720 s</a:t>
            </a:r>
          </a:p>
        </p:txBody>
      </p:sp>
      <p:sp>
        <p:nvSpPr>
          <p:cNvPr id="48" name="Freeform 48"/>
          <p:cNvSpPr/>
          <p:nvPr/>
        </p:nvSpPr>
        <p:spPr>
          <a:xfrm>
            <a:off x="6248400" y="33147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376988" y="3403600"/>
            <a:ext cx="104324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启动到 /healthz 200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243888" y="3403600"/>
            <a:ext cx="74333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0.668 s（均值）</a:t>
            </a:r>
          </a:p>
        </p:txBody>
      </p:sp>
      <p:sp>
        <p:nvSpPr>
          <p:cNvPr id="51" name="Freeform 51"/>
          <p:cNvSpPr/>
          <p:nvPr/>
        </p:nvSpPr>
        <p:spPr>
          <a:xfrm>
            <a:off x="6248400" y="36195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6376988" y="3708400"/>
            <a:ext cx="6476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容器内存占用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243888" y="3708400"/>
            <a:ext cx="88691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14.45–17.08 MiB</a:t>
            </a:r>
          </a:p>
        </p:txBody>
      </p:sp>
      <p:sp>
        <p:nvSpPr>
          <p:cNvPr id="54" name="Freeform 54"/>
          <p:cNvSpPr/>
          <p:nvPr/>
        </p:nvSpPr>
        <p:spPr>
          <a:xfrm>
            <a:off x="6248400" y="39243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6376988" y="4013200"/>
            <a:ext cx="5412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容器实测项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243888" y="4013200"/>
            <a:ext cx="47746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14 项通过</a:t>
            </a:r>
          </a:p>
        </p:txBody>
      </p:sp>
      <p:sp>
        <p:nvSpPr>
          <p:cNvPr id="57" name="Freeform 57"/>
          <p:cNvSpPr/>
          <p:nvPr/>
        </p:nvSpPr>
        <p:spPr>
          <a:xfrm>
            <a:off x="6248400" y="42291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6376988" y="4318000"/>
            <a:ext cx="73595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CPU（构建时）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243888" y="4318000"/>
            <a:ext cx="32325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0.01%</a:t>
            </a:r>
          </a:p>
        </p:txBody>
      </p:sp>
      <p:sp>
        <p:nvSpPr>
          <p:cNvPr id="60" name="Freeform 60"/>
          <p:cNvSpPr/>
          <p:nvPr/>
        </p:nvSpPr>
        <p:spPr>
          <a:xfrm>
            <a:off x="6248400" y="45339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6376988" y="4622800"/>
            <a:ext cx="5412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单任务成本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243888" y="4622800"/>
            <a:ext cx="10730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未核实（无真实账单）</a:t>
            </a:r>
          </a:p>
        </p:txBody>
      </p:sp>
      <p:sp>
        <p:nvSpPr>
          <p:cNvPr id="63" name="Freeform 63"/>
          <p:cNvSpPr/>
          <p:nvPr/>
        </p:nvSpPr>
        <p:spPr>
          <a:xfrm>
            <a:off x="6248400" y="48387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64" name="Rectangle 64"/>
          <p:cNvSpPr/>
          <p:nvPr/>
        </p:nvSpPr>
        <p:spPr>
          <a:xfrm>
            <a:off x="609600" y="4876800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FF4DF"/>
          </a:solidFill>
          <a:ln w="9525">
            <a:solidFill>
              <a:srgbClr val="DBC7A5"/>
            </a:solidFill>
          </a:ln>
        </p:spPr>
      </p:sp>
      <p:sp>
        <p:nvSpPr>
          <p:cNvPr id="65" name="Rectangle 65"/>
          <p:cNvSpPr/>
          <p:nvPr/>
        </p:nvSpPr>
        <p:spPr>
          <a:xfrm>
            <a:off x="609600" y="4943475"/>
            <a:ext cx="28575" cy="68580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757238" y="4991100"/>
            <a:ext cx="1754873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rgbClr val="784B14"/>
                </a:solidFill>
                <a:latin typeface="+mn-lt"/>
                <a:ea typeface="+mn-ea"/>
                <a:cs typeface="+mn-cs"/>
              </a:rPr>
              <a:t>成本口径与瓶颈（我如实说明）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57238" y="5194300"/>
            <a:ext cx="477460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A4C00"/>
                </a:solidFill>
                <a:latin typeface="+mn-lt"/>
                <a:ea typeface="+mn-ea"/>
                <a:cs typeface="+mn-cs"/>
              </a:rPr>
              <a:t>DeepSeek 单位价格与单任务成本**未从真实账单核实**；云端资源消耗与跨机延迟**未测量**；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57238" y="5365750"/>
            <a:ext cx="532087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A4C00"/>
                </a:solidFill>
                <a:latin typeface="+mn-lt"/>
                <a:ea typeface="+mn-ea"/>
                <a:cs typeface="+mn-cs"/>
              </a:rPr>
              <a:t>内存 14.45–17.08 MiB 是构建时基线，交付的 latest 镜像重建后需复核。主要瓶颈是 N2 生成与 N5 修订。</a:t>
            </a:r>
          </a:p>
        </p:txBody>
      </p:sp>
      <p:sp>
        <p:nvSpPr>
          <p:cNvPr id="69" name="Rectangle 69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70" name="Rectangle 70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757238" y="6203950"/>
            <a:ext cx="4987773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本页结论：成本与性能都给了双口径；凡是拿不到真实账单的，一律写未核实，不用估算值充数。</a:t>
            </a:r>
          </a:p>
        </p:txBody>
      </p:sp>
      <p:sp>
        <p:nvSpPr>
          <p:cNvPr id="72" name="Freeform 72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604838" y="6578600"/>
            <a:ext cx="4068257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1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workflow/evidence/WF-003-2026-10-30.md · deploy/evidence/docker-2026-10-30.md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330339" y="209550"/>
            <a:ext cx="1252061" cy="228600"/>
          </a:xfrm>
          <a:prstGeom prst="roundRect">
            <a:avLst>
              <a:gd name="adj" fmla="val 50000"/>
            </a:avLst>
          </a:prstGeom>
          <a:solidFill>
            <a:srgbClr val="FCEEEE"/>
          </a:solidFill>
          <a:ln w="9525">
            <a:solidFill>
              <a:schemeClr val="accent2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430351" y="259969"/>
            <a:ext cx="9959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 组 15 条 · 不美化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9749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08 / 总结与不足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865980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已实测（A 组 7 条）／ 明确未完成（B 组 15 条）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2926337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一条不许省、不许美化；原 17 条中 #5、#17 已解除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2209800"/>
            <a:ext cx="400050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09600" y="2295525"/>
            <a:ext cx="28575" cy="22098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7238" y="2343150"/>
            <a:ext cx="1254603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 组 · 已实测（7 条）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7238" y="2565400"/>
            <a:ext cx="17727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A1 探针 46 条 + 单元测试 329 条通过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7238" y="2774950"/>
            <a:ext cx="436766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A2 工作流已发布并创建版本；主批次 10 次 / 34,127 tokens；累计 13 次 / 38,326 tokens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7238" y="2984500"/>
            <a:ext cx="427515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A3 本机容器 14 项通过；178 MB（169.676 MiB）；冷构建 1.720 s；启动 0.668 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7238" y="3194050"/>
            <a:ext cx="176740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A4 容器 /validate 与本机逐字节一致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7238" y="3403600"/>
            <a:ext cx="196947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A5 镜像内无密钥；非 root（uid 10001）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7238" y="3613150"/>
            <a:ext cx="304270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A6 接入层样例级一致 74 组 / 0 差异；HTTP 冒烟 59 项 / 0 失败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7238" y="3822700"/>
            <a:ext cx="241614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A7 本机 deploy/server.py 状态码矩阵逐字节一致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800600" y="2209800"/>
            <a:ext cx="6781800" cy="369570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800600" y="2295525"/>
            <a:ext cx="28575" cy="3524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948238" y="2343150"/>
            <a:ext cx="1948280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 组 · 必须写「未完成」（15 条）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948238" y="2565400"/>
            <a:ext cx="105222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B1 云与编排（4 条）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953000" y="278796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062538" y="2732405"/>
            <a:ext cx="235286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云部署从未发生；无云主机、无 EIP，UCloud 未采购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953000" y="294227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062538" y="2886710"/>
            <a:ext cx="20086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publish-to-uhost.ps1 从未上传过任何文件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953000" y="309657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062538" y="3041015"/>
            <a:ext cx="9182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未推送任何镜像仓库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953000" y="325088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062538" y="3195320"/>
            <a:ext cx="29375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无编排平台、无多副本、无弹性伸缩、无资源调度、无分布式状态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948238" y="3336925"/>
            <a:ext cx="83629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B2 Dify（5 条）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953000" y="355949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062538" y="3503930"/>
            <a:ext cx="149371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trace 不可用（not_collected）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953000" y="371379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062538" y="3658235"/>
            <a:ext cx="103136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N4 ELSE 分支从未触发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953000" y="386810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062538" y="3812540"/>
            <a:ext cx="212521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无自然 OVER_BUDGET / FORBIDDEN_TAG 证据</a:t>
            </a:r>
          </a:p>
        </p:txBody>
      </p:sp>
      <p:sp>
        <p:nvSpPr>
          <p:cNvPr id="39" name="Rectangle 39"/>
          <p:cNvSpPr/>
          <p:nvPr/>
        </p:nvSpPr>
        <p:spPr>
          <a:xfrm>
            <a:off x="4953000" y="402240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062538" y="3966845"/>
            <a:ext cx="142303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修复后的修订路径无运行时证据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953000" y="417671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062538" y="4121150"/>
            <a:ext cx="20017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Dify 侧包装 / 配色 / 贺卡 / 赠送阶段未实现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948238" y="4262755"/>
            <a:ext cx="116261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B3 数据与成本（3 条）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953000" y="448532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062538" y="4429760"/>
            <a:ext cx="244430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价格与库存未核实（not_verified），OPEN-6 仍开放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953000" y="463962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062538" y="4584065"/>
            <a:ext cx="230814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DeepSeek 单位价格与单任务成本未从真实账单核实</a:t>
            </a:r>
          </a:p>
        </p:txBody>
      </p:sp>
      <p:sp>
        <p:nvSpPr>
          <p:cNvPr id="48" name="Rectangle 48"/>
          <p:cNvSpPr/>
          <p:nvPr/>
        </p:nvSpPr>
        <p:spPr>
          <a:xfrm>
            <a:off x="4953000" y="479393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062538" y="4738370"/>
            <a:ext cx="142303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云端资源消耗与跨机延迟未测量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948238" y="4879975"/>
            <a:ext cx="138338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B4 可观测性与工程（3 条）</a:t>
            </a:r>
          </a:p>
        </p:txBody>
      </p:sp>
      <p:sp>
        <p:nvSpPr>
          <p:cNvPr id="51" name="Rectangle 51"/>
          <p:cNvSpPr/>
          <p:nvPr/>
        </p:nvSpPr>
        <p:spPr>
          <a:xfrm>
            <a:off x="4953000" y="510254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062538" y="5046980"/>
            <a:ext cx="2099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可观测入口已随镜像交付，但非默认（/metrics 默认 404、未鉴权）、未实测</a:t>
            </a:r>
          </a:p>
        </p:txBody>
      </p:sp>
      <p:sp>
        <p:nvSpPr>
          <p:cNvPr id="53" name="Rectangle 53"/>
          <p:cNvSpPr/>
          <p:nvPr/>
        </p:nvSpPr>
        <p:spPr>
          <a:xfrm>
            <a:off x="4953000" y="525684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5062538" y="5201285"/>
            <a:ext cx="179660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前端已过 100 项真实浏览器验收 / 0 失败</a:t>
            </a:r>
          </a:p>
        </p:txBody>
      </p:sp>
      <p:sp>
        <p:nvSpPr>
          <p:cNvPr id="55" name="Rectangle 55"/>
          <p:cNvSpPr/>
          <p:nvPr/>
        </p:nvSpPr>
        <p:spPr>
          <a:xfrm>
            <a:off x="4953000" y="541115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062538" y="5355590"/>
            <a:ext cx="207930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parity 仅样例级；越界网格已覆盖，唯一残差 1 例、两侧都拒绝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09600" y="4724400"/>
            <a:ext cx="400050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609600" y="4810125"/>
            <a:ext cx="28575" cy="100965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57238" y="4857750"/>
            <a:ext cx="1786347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已解除 2 条（原 17 → 现存 15）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57238" y="5080000"/>
            <a:ext cx="122935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原 #5「未发布未建版本」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57238" y="5240338"/>
            <a:ext cx="227618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→ 已发布并创建版本（v1 10-30 23:04；当前 v2）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57238" y="5375275"/>
            <a:ext cx="15034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原 #17「临时提交未独立评审」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57238" y="5535612"/>
            <a:ext cx="14983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→ 已在 origin/main 且有 PR 记录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65" name="Rectangle 65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757238" y="6203950"/>
            <a:ext cx="4223669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本页结论：左栏是真本事，右栏是我们没做到的。15 条一条不省，也一条不美化。</a:t>
            </a:r>
          </a:p>
        </p:txBody>
      </p:sp>
      <p:sp>
        <p:nvSpPr>
          <p:cNvPr id="67" name="Freeform 67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604838" y="6578600"/>
            <a:ext cx="2819493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docs/competition/材料清单与自查.md §四 · B1-1…B4-15（15 条）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435114" y="209550"/>
            <a:ext cx="1147286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chemeClr val="accent5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535126" y="259969"/>
            <a:ext cx="9089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6 个维度 · 100 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110751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09 / 评分维度对照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600844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评分维度对照（赛道 B · 100 分）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2793467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每一分都对得上一条证据，也对得上一条未完成项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2171700"/>
            <a:ext cx="10972800" cy="247650"/>
          </a:xfrm>
          <a:prstGeom prst="roundRect">
            <a:avLst>
              <a:gd name="adj" fmla="val 30769"/>
            </a:avLst>
          </a:prstGeom>
          <a:solidFill>
            <a:srgbClr val="F0ECE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19138" y="2244725"/>
            <a:ext cx="4376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评分维度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00388" y="2244725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分值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86188" y="2244725"/>
            <a:ext cx="120091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我们的交付物与证据位置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91588" y="2244725"/>
            <a:ext cx="4376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诚实提示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9138" y="2613025"/>
            <a:ext cx="9666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场景价值与痛点判断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00388" y="2613025"/>
            <a:ext cx="12651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86188" y="2613025"/>
            <a:ext cx="271592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P-1…P-5；关系优先级硬性需求；SC-1…SC-9（第 2 页）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91588" y="2613025"/>
            <a:ext cx="91851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SC-1 / SC-4 / SC-5 / SC-6 未达成</a:t>
            </a:r>
          </a:p>
        </p:txBody>
      </p:sp>
      <p:sp>
        <p:nvSpPr>
          <p:cNvPr id="19" name="Freeform 19"/>
          <p:cNvSpPr/>
          <p:nvPr/>
        </p:nvSpPr>
        <p:spPr>
          <a:xfrm>
            <a:off x="609600" y="29337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19138" y="3127375"/>
            <a:ext cx="10730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云原生架构与技术选型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00388" y="3127375"/>
            <a:ext cx="12651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786188" y="3127375"/>
            <a:ext cx="291287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架构图（第 4 页）；选型表与代价（第 3 页）；本机容器实测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91588" y="3127375"/>
            <a:ext cx="149842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未上云、未推镜像仓库、无编排</a:t>
            </a:r>
          </a:p>
        </p:txBody>
      </p:sp>
      <p:sp>
        <p:nvSpPr>
          <p:cNvPr id="24" name="Freeform 24"/>
          <p:cNvSpPr/>
          <p:nvPr/>
        </p:nvSpPr>
        <p:spPr>
          <a:xfrm>
            <a:off x="609600" y="34480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19138" y="3641725"/>
            <a:ext cx="131111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Agent 能力与任务链路质量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100388" y="3641725"/>
            <a:ext cx="12651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786188" y="3641725"/>
            <a:ext cx="362010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11 节点 11 边；恰好 3 个候选；独立规则校验；最多一次修订（第 4、5 页）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91588" y="3641725"/>
            <a:ext cx="193666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N4 ELSE 未触发；修复路径无运行时证据</a:t>
            </a:r>
          </a:p>
        </p:txBody>
      </p:sp>
      <p:sp>
        <p:nvSpPr>
          <p:cNvPr id="29" name="Freeform 29"/>
          <p:cNvSpPr/>
          <p:nvPr/>
        </p:nvSpPr>
        <p:spPr>
          <a:xfrm>
            <a:off x="609600" y="3962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19138" y="4156075"/>
            <a:ext cx="120006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工程完成度与 Demo 表现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00388" y="4156075"/>
            <a:ext cx="12651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786188" y="4156075"/>
            <a:ext cx="316259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329 条单测、39 项阶段 C；容器 14 项；状态码矩阵（第 5、6 页）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891588" y="4156075"/>
            <a:ext cx="119532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前端已过 100 项浏览器验收</a:t>
            </a:r>
          </a:p>
        </p:txBody>
      </p:sp>
      <p:sp>
        <p:nvSpPr>
          <p:cNvPr id="34" name="Freeform 34"/>
          <p:cNvSpPr/>
          <p:nvPr/>
        </p:nvSpPr>
        <p:spPr>
          <a:xfrm>
            <a:off x="609600" y="4476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19138" y="4670425"/>
            <a:ext cx="11793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成本、性能与工程化分析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100388" y="4670425"/>
            <a:ext cx="12651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786188" y="4670425"/>
            <a:ext cx="229604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双 token 口径；延迟矩阵；容器指标（第 7 页）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891588" y="4670425"/>
            <a:ext cx="139207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单价未核实；云端消耗未测量</a:t>
            </a:r>
          </a:p>
        </p:txBody>
      </p:sp>
      <p:sp>
        <p:nvSpPr>
          <p:cNvPr id="39" name="Freeform 39"/>
          <p:cNvSpPr/>
          <p:nvPr/>
        </p:nvSpPr>
        <p:spPr>
          <a:xfrm>
            <a:off x="609600" y="4991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719138" y="5184775"/>
            <a:ext cx="6476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答辩现场表现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100388" y="5184775"/>
            <a:ext cx="12651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786188" y="5184775"/>
            <a:ext cx="335066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5 分钟报告 + 3 分钟 Demo + 7 分钟问答；三模式兜底（第 10、11 页）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891588" y="5184775"/>
            <a:ext cx="139207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现场网络不依赖，用归档记录</a:t>
            </a:r>
          </a:p>
        </p:txBody>
      </p:sp>
      <p:sp>
        <p:nvSpPr>
          <p:cNvPr id="44" name="Freeform 44"/>
          <p:cNvSpPr/>
          <p:nvPr/>
        </p:nvSpPr>
        <p:spPr>
          <a:xfrm>
            <a:off x="609600" y="55054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09600" y="5581650"/>
            <a:ext cx="10972800" cy="304800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609600" y="5648325"/>
            <a:ext cx="28575" cy="1714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57238" y="5680075"/>
            <a:ext cx="494388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云原生维度只有 15 分，而我们在这个维度上有明确未完成项；我们不拿「设计了」冒充「部署了」。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6E6E73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757238" y="6203950"/>
            <a:ext cx="4078953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本页结论：六个维度都能逐条对上号；对不上号的部分，我们已经写进第 8 页。</a:t>
            </a:r>
          </a:p>
        </p:txBody>
      </p:sp>
      <p:sp>
        <p:nvSpPr>
          <p:cNvPr id="51" name="Freeform 51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604838" y="6578600"/>
            <a:ext cx="2407326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赛道 B 评分表 · 6 个维度 · 100 分（PM 权威口径）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047446" y="209550"/>
            <a:ext cx="1534954" cy="228600"/>
          </a:xfrm>
          <a:prstGeom prst="roundRect">
            <a:avLst>
              <a:gd name="adj" fmla="val 50000"/>
            </a:avLst>
          </a:prstGeom>
          <a:solidFill>
            <a:srgbClr val="FFF4DF"/>
          </a:solidFill>
          <a:ln w="9525">
            <a:solidFill>
              <a:srgbClr val="DBC7A5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147459" y="259969"/>
            <a:ext cx="135709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784B14"/>
                </a:solidFill>
                <a:latin typeface="+mn-lt"/>
                <a:ea typeface="+mn-ea"/>
                <a:cs typeface="+mn-cs"/>
              </a:rPr>
              <a:t>镜像 01:13:59 已重建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150531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10 / 一个真实缺陷的闭环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768492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我们修好了一个真实缺陷：半开正文（I-2）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2869392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独立复现 → 定位 → 修复 → 实测 → 镜像已重建并生效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22098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09600" y="2295525"/>
            <a:ext cx="28575" cy="12954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7238" y="23939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chemeClr val="accent5"/>
                </a:solidFill>
                <a:latin typeface="Arial"/>
                <a:ea typeface="Microsoft YaHei"/>
                <a:cs typeface="Arial"/>
              </a:rPr>
              <a:t>STEP 1 发现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7238" y="2622550"/>
            <a:ext cx="221096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以半开方式只发一半请求正文，旧镜像 25 秒零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7238" y="2774950"/>
            <a:ext cx="10730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响应，且不关闭连接。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390900" y="22098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3390900" y="2295525"/>
            <a:ext cx="28575" cy="12954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3538538" y="23939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chemeClr val="accent5"/>
                </a:solidFill>
                <a:latin typeface="Arial"/>
                <a:ea typeface="Microsoft YaHei"/>
                <a:cs typeface="Arial"/>
              </a:rPr>
              <a:t>STEP 2 复现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38538" y="2622550"/>
            <a:ext cx="224287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用一个最小脚本稳定复现，不依赖任何外部服务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38538" y="2774950"/>
            <a:ext cx="7539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，可反复执行。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72200" y="22098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72200" y="2295525"/>
            <a:ext cx="28575" cy="129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319838" y="23939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chemeClr val="accent2"/>
                </a:solidFill>
                <a:latin typeface="Arial"/>
                <a:ea typeface="Microsoft YaHei"/>
                <a:cs typeface="Arial"/>
              </a:rPr>
              <a:t>STEP 3 定位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19838" y="2622550"/>
            <a:ext cx="224287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读请求体的循环没有总时长预算，慢客户端可以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19838" y="2774950"/>
            <a:ext cx="8603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把连接一直占住。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953500" y="22098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8953500" y="2295525"/>
            <a:ext cx="28575" cy="129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101138" y="23939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chemeClr val="accent2"/>
                </a:solidFill>
                <a:latin typeface="Arial"/>
                <a:ea typeface="Microsoft YaHei"/>
                <a:cs typeface="Arial"/>
              </a:rPr>
              <a:t>STEP 4 修复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01138" y="2622550"/>
            <a:ext cx="2232938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加读体总时长预算（默认 10 s，GIFTWISE_REA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01138" y="2774950"/>
            <a:ext cx="164791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D_TIMEOUT 可覆盖）+ read1()。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09600" y="38100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09600" y="3895725"/>
            <a:ext cx="28575" cy="12954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57238" y="39941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rgbClr val="245D3C"/>
                </a:solidFill>
                <a:latin typeface="Arial"/>
                <a:ea typeface="Microsoft YaHei"/>
                <a:cs typeface="Arial"/>
              </a:rPr>
              <a:t>STEP 5 实测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7238" y="4222750"/>
            <a:ext cx="208148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修复版 10.02 s 返回 408 Request Timeout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7238" y="4375150"/>
            <a:ext cx="9666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，并正确关闭连接。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390900" y="38100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3390900" y="3895725"/>
            <a:ext cx="28575" cy="12954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3538538" y="39941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rgbClr val="245D3C"/>
                </a:solidFill>
                <a:latin typeface="Arial"/>
                <a:ea typeface="Microsoft YaHei"/>
                <a:cs typeface="Arial"/>
              </a:rPr>
              <a:t>STEP 6 量化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538538" y="4222750"/>
            <a:ext cx="210461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并发 9 条线程，连接数 1 升到 10；客户端关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538538" y="4375150"/>
            <a:ext cx="106770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闭后 2.5 s 回落到 1。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172200" y="38100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6172200" y="3895725"/>
            <a:ext cx="28575" cy="1295400"/>
          </a:xfrm>
          <a:prstGeom prst="roundRect">
            <a:avLst>
              <a:gd name="adj" fmla="val 50000"/>
            </a:avLst>
          </a:prstGeom>
          <a:solidFill>
            <a:srgbClr val="784B14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319838" y="39941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rgbClr val="784B14"/>
                </a:solidFill>
                <a:latin typeface="Arial"/>
                <a:ea typeface="Microsoft YaHei"/>
                <a:cs typeface="Arial"/>
              </a:rPr>
              <a:t>STEP 7 教训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19838" y="4222750"/>
            <a:ext cx="21524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/healthz 全程 200 且耗时小于 0.02 s——健康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19838" y="4375150"/>
            <a:ext cx="10730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检查会掩盖这个缺陷。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953500" y="38100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8953500" y="3895725"/>
            <a:ext cx="28575" cy="129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9101138" y="39941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chemeClr val="accent2"/>
                </a:solidFill>
                <a:latin typeface="Arial"/>
                <a:ea typeface="Microsoft YaHei"/>
                <a:cs typeface="Arial"/>
              </a:rPr>
              <a:t>STEP 8 边界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01138" y="4222750"/>
            <a:ext cx="224287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以上是主机侧实测；交付镜像已于 01:13:59 重建，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101138" y="4375150"/>
            <a:ext cx="5412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容器内同样 10.01 s 返 408 并关闭连接。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" y="5524500"/>
            <a:ext cx="10972800" cy="381000"/>
          </a:xfrm>
          <a:prstGeom prst="roundRect">
            <a:avLst>
              <a:gd name="adj" fmla="val 25000"/>
            </a:avLst>
          </a:prstGeom>
          <a:solidFill>
            <a:srgbClr val="FCEEEE"/>
          </a:solidFill>
          <a:ln w="9525">
            <a:solidFill>
              <a:schemeClr val="accent2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757238" y="5661025"/>
            <a:ext cx="463479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边界（必须说清）：第 5–7 步是主机侧实测；交付的 latest 镜像已于 01:13:59 重建、包含此修复，容器内同样 10.01 s 返 408 并关闭。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57238" y="6203950"/>
            <a:ext cx="6272855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本页结论：这个缺陷证明了我们的测试能发现真问题——而且我们是自己发现、自己修、自己量化、自己把修复落进交付镜像。</a:t>
            </a:r>
          </a:p>
        </p:txBody>
      </p:sp>
      <p:sp>
        <p:nvSpPr>
          <p:cNvPr id="55" name="Freeform 55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604838" y="6578600"/>
            <a:ext cx="3216782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主机侧与容器内实测 · 交付镜像 01:13:59 已重建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351294" y="209550"/>
            <a:ext cx="1231106" cy="228600"/>
          </a:xfrm>
          <a:prstGeom prst="roundRect">
            <a:avLst>
              <a:gd name="adj" fmla="val 50000"/>
            </a:avLst>
          </a:prstGeom>
          <a:solidFill>
            <a:srgbClr val="EDF5EF"/>
          </a:solidFill>
          <a:ln w="9525">
            <a:solidFill>
              <a:srgbClr val="245D3C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451306" y="259969"/>
            <a:ext cx="101405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3 条命令 · 当场可跑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124011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11 / 评委可现场复核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670224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评委可以现场复核（每一句都有命令）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2160753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三条命令，当场验证我们说的关键事实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2209800"/>
            <a:ext cx="109728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09600" y="2295525"/>
            <a:ext cx="28575" cy="81915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7238" y="2362200"/>
            <a:ext cx="1170326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复核一 规则真源一致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590800"/>
            <a:ext cx="10668000" cy="266700"/>
          </a:xfrm>
          <a:prstGeom prst="roundRect">
            <a:avLst>
              <a:gd name="adj" fmla="val 28571"/>
            </a:avLst>
          </a:prstGeom>
          <a:solidFill>
            <a:srgbClr val="F0ECE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71538" y="2670175"/>
            <a:ext cx="46568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Consolas"/>
                <a:ea typeface="Microsoft YaHei"/>
                <a:cs typeface="Consolas"/>
              </a:rPr>
              <a:t>sha256sum validator/rules.py → 与容器 /healthz 返回的 rules_source_sha256 比对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7238" y="2927350"/>
            <a:ext cx="384875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本机规则指纹 1f389dad4c2589fb… 与容器一致 → 证明三处用的是同一份规则真源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09600" y="3333750"/>
            <a:ext cx="109728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9600" y="3419475"/>
            <a:ext cx="28575" cy="81915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57238" y="3486150"/>
            <a:ext cx="1419373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复核二 推荐阶段单元测试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3714750"/>
            <a:ext cx="10668000" cy="266700"/>
          </a:xfrm>
          <a:prstGeom prst="roundRect">
            <a:avLst>
              <a:gd name="adj" fmla="val 28571"/>
            </a:avLst>
          </a:prstGeom>
          <a:solidFill>
            <a:srgbClr val="F0ECE7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71538" y="3794125"/>
            <a:ext cx="23773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python -m unittest discover -s tests -q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7238" y="4051300"/>
            <a:ext cx="316535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期望输出：Ran 329 tests / OK → 证明推荐阶段 329 条单测全通过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09600" y="4457700"/>
            <a:ext cx="109728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09600" y="4543425"/>
            <a:ext cx="28575" cy="81915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57238" y="4610100"/>
            <a:ext cx="1325718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复核三 阶段 C 独立套件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62000" y="4838700"/>
            <a:ext cx="10668000" cy="266700"/>
          </a:xfrm>
          <a:prstGeom prst="roundRect">
            <a:avLst>
              <a:gd name="adj" fmla="val 28571"/>
            </a:avLst>
          </a:prstGeom>
          <a:solidFill>
            <a:srgbClr val="F0ECE7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71538" y="4918075"/>
            <a:ext cx="353091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python -m unittest discover -s tests/acceptance/stage_c -q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7238" y="5175250"/>
            <a:ext cx="317660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期望输出：Ran 39 tests / OK → 证明阶段 C 的 39 项验收独立通过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09600" y="5638800"/>
            <a:ext cx="10972800" cy="304800"/>
          </a:xfrm>
          <a:prstGeom prst="roundRect">
            <a:avLst>
              <a:gd name="adj" fmla="val 31250"/>
            </a:avLst>
          </a:prstGeom>
          <a:solidFill>
            <a:srgbClr val="FFF4DF"/>
          </a:solidFill>
          <a:ln w="9525">
            <a:solidFill>
              <a:srgbClr val="DBC7A5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09600" y="5705475"/>
            <a:ext cx="28575" cy="17145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57238" y="5737225"/>
            <a:ext cx="544063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A4C00"/>
                </a:solidFill>
                <a:latin typeface="+mn-lt"/>
                <a:ea typeface="+mn-ea"/>
                <a:cs typeface="+mn-cs"/>
              </a:rPr>
              <a:t>docs/verification/** 已建立（复核指南 + tools/verify_all.py 聚合脚本）。/metrics 目前未鉴权，不得直接暴露到公网。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57238" y="6203950"/>
            <a:ext cx="4640453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本页结论：我们说的每一句话，都有一条命令可以在现场跑出来。跑不出来的，我们没写。</a:t>
            </a:r>
          </a:p>
        </p:txBody>
      </p:sp>
      <p:sp>
        <p:nvSpPr>
          <p:cNvPr id="34" name="Freeform 34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838" y="6578600"/>
            <a:ext cx="4669060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validator/rules.py · tests/ · tests/acceptance/stage_c/ · /healthz（rules_source_sha256）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giftwise-defense">
  <a:themeElements>
    <a:clrScheme name="giftwise-defense">
      <a:dk1>
        <a:srgbClr val="101011"/>
      </a:dk1>
      <a:lt1>
        <a:srgbClr val="FBF9F7"/>
      </a:lt1>
      <a:dk2>
        <a:srgbClr val="5B5A5A"/>
      </a:dk2>
      <a:lt2>
        <a:srgbClr val="FBF9F7"/>
      </a:lt2>
      <a:accent1>
        <a:srgbClr val="0F0F10"/>
      </a:accent1>
      <a:accent2>
        <a:srgbClr val="A01C23"/>
      </a:accent2>
      <a:accent3>
        <a:srgbClr val="A01C23"/>
      </a:accent3>
      <a:accent4>
        <a:srgbClr val="DFDAD5"/>
      </a:accent4>
      <a:accent5>
        <a:srgbClr val="21437A"/>
      </a:accent5>
      <a:accent6>
        <a:srgbClr val="6E6E73"/>
      </a:accent6>
      <a:hlink>
        <a:srgbClr val="A01C23"/>
      </a:hlink>
      <a:folHlink>
        <a:srgbClr val="A01C23"/>
      </a:folHlink>
    </a:clrScheme>
    <a:fontScheme name="giftwise-defens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iftwise-defen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giftwise-defense">
  <a:themeElements>
    <a:clrScheme name="giftwise-defense">
      <a:dk1>
        <a:srgbClr val="101011"/>
      </a:dk1>
      <a:lt1>
        <a:srgbClr val="FBF9F7"/>
      </a:lt1>
      <a:dk2>
        <a:srgbClr val="5B5A5A"/>
      </a:dk2>
      <a:lt2>
        <a:srgbClr val="FBF9F7"/>
      </a:lt2>
      <a:accent1>
        <a:srgbClr val="0F0F10"/>
      </a:accent1>
      <a:accent2>
        <a:srgbClr val="A01C23"/>
      </a:accent2>
      <a:accent3>
        <a:srgbClr val="A01C23"/>
      </a:accent3>
      <a:accent4>
        <a:srgbClr val="DFDAD5"/>
      </a:accent4>
      <a:accent5>
        <a:srgbClr val="21437A"/>
      </a:accent5>
      <a:accent6>
        <a:srgbClr val="6E6E73"/>
      </a:accent6>
      <a:hlink>
        <a:srgbClr val="A01C23"/>
      </a:hlink>
      <a:folHlink>
        <a:srgbClr val="A01C23"/>
      </a:folHlink>
    </a:clrScheme>
    <a:fontScheme name="giftwise-defens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iftwise-defen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2026-10-30T17:20:17Z</dcterms:created>
  <dcterms:modified xsi:type="dcterms:W3CDTF">2026-10-30T17:20:17Z</dcterms:modified>
  <cp:category/>
  <cp:contentStatus/>
</cp:coreProperties>
</file>