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1_tf1_tf1.xml" ContentType="application/vnd.openxmlformats-officedocument.presentationml.notesSlide+xml"/>
  <Override PartName="/ppt/notesSlides/notesSlide2_tf1_tf1.xml" ContentType="application/vnd.openxmlformats-officedocument.presentationml.notesSlide+xml"/>
  <Override PartName="/ppt/notesSlides/notesSlide3_tf1_tf1.xml" ContentType="application/vnd.openxmlformats-officedocument.presentationml.notesSlide+xml"/>
  <Override PartName="/ppt/notesSlides/notesSlide4_tf1_tf1.xml" ContentType="application/vnd.openxmlformats-officedocument.presentationml.notesSlide+xml"/>
  <Override PartName="/ppt/notesSlides/notesSlide5_tf1_tf1.xml" ContentType="application/vnd.openxmlformats-officedocument.presentationml.notesSlide+xml"/>
  <Override PartName="/ppt/notesSlides/notesSlide6_tf1_tf1.xml" ContentType="application/vnd.openxmlformats-officedocument.presentationml.notesSlide+xml"/>
  <Override PartName="/ppt/notesSlides/notesSlide7_tf1_tf1.xml" ContentType="application/vnd.openxmlformats-officedocument.presentationml.notesSlide+xml"/>
  <Override PartName="/ppt/notesSlides/notesSlide8_tf1_tf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 autoCompressPictures="0">
  <p:sldMasterIdLst>
    <p:sldMasterId id="2147483648" r:id="rId1"/>
  </p:sldMasterIdLst>
  <p:notesMasterIdLst>
    <p:notesMasterId r:id="rId10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</p:sldIdLst>
  <p:sldSz cx="12192000" cy="6858000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495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3" Type="http://schemas.openxmlformats.org/officeDocument/2006/relationships/theme" Target="theme/theme1.xml" /><Relationship Id="rId12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11" Type="http://schemas.openxmlformats.org/officeDocument/2006/relationships/presProps" Target="presProps.xml" /><Relationship Id="rId10" Type="http://schemas.openxmlformats.org/officeDocument/2006/relationships/notesMaster" Target="notesMasters/notesMaster1.xml" /><Relationship Id="rId14" Type="http://schemas.openxmlformats.org/officeDocument/2006/relationships/tableStyles" Target="tableStyles.xml" /><Relationship Id="rId15" Type="http://schemas.openxmlformats.org/officeDocument/2006/relationships/slide" Target="slides/slide1.xml" /><Relationship Id="rId16" Type="http://schemas.openxmlformats.org/officeDocument/2006/relationships/slide" Target="slides/slide2.xml" /><Relationship Id="rId17" Type="http://schemas.openxmlformats.org/officeDocument/2006/relationships/slide" Target="slides/slide3.xml" /><Relationship Id="rId18" Type="http://schemas.openxmlformats.org/officeDocument/2006/relationships/slide" Target="slides/slide4.xml" /><Relationship Id="rId19" Type="http://schemas.openxmlformats.org/officeDocument/2006/relationships/slide" Target="slides/slide5.xml" /><Relationship Id="rId20" Type="http://schemas.openxmlformats.org/officeDocument/2006/relationships/slide" Target="slides/slide6.xml" /><Relationship Id="rId21" Type="http://schemas.openxmlformats.org/officeDocument/2006/relationships/slide" Target="slides/slide7.xml" /><Relationship Id="rId22" Type="http://schemas.openxmlformats.org/officeDocument/2006/relationships/slide" Target="slides/slide8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_tf1_tf1.xml.rels><?xml version='1.0' encoding='utf-8'?>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_tf1_tf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_tf1_tf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4.xml" />
</Relationships>
</file>

<file path=ppt/notesSlides/_rels/notesSlide5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5.xml" />
</Relationships>
</file>

<file path=ppt/notesSlides/_rels/notesSlide6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6.xml" />
</Relationships>
</file>

<file path=ppt/notesSlides/_rels/notesSlide7_tf1_tf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_tf1_tf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notesSlide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大家好，GiftWise AI帮助青年用户选择合适礼物。系统提供需求解析、三个方案、独立检查和用户选择，选定后再给赠送指南。</a:t>
            </a:r>
          </a:p>
        </p:txBody>
      </p:sp>
    </p:spTree>
  </p:cSld>
  <p:clrMapOvr>
    <a:masterClrMapping/>
  </p:clrMapOvr>
</p:notes>
</file>

<file path=ppt/notesSlides/notesSlide2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送礼的困难不只是找商品，还包括关系分寸、预算禁忌和推荐依据。我们优先服务恋人与追求对象，其次是朋友；追求关系不假定双向好感。成功标准是用户能比较三个有依据的方案，明确选择一个通过检查的选项。现阶段没有真实用户研究，因此不宣称满意度或效率提升。</a:t>
            </a:r>
          </a:p>
          <a:p>
            <a:pPr/>
            <a:endParaRPr lang="zh-CN" dirty="0"/>
          </a:p>
          <a:p>
            <a:pPr/>
            <a:r>
              <a:rPr lang="zh-CN" dirty="0"/>
              <a:t>右侧四个片段来自本轮用户提供的社交平台求助截图，已去除账号信息，仅作问题样例，不代表本项目完成了用户调研或产品效果验证。</a:t>
            </a:r>
          </a:p>
        </p:txBody>
      </p:sp>
    </p:spTree>
  </p:cSld>
  <p:clrMapOvr>
    <a:masterClrMapping/>
  </p:clrMapOvr>
</p:notes>
</file>

<file path=ppt/notesSlides/notesSlide3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方案把生成、校验和决定分开。大模型把原话映射到固定字段，生成三个候选并解释理由；独立代码检查预算、禁忌与输出结构。全任务最多一次业务修订，失败如实返回。规则推导风格方向，文本模型润色表达，用户选定后才生成详细指南和最终包装示意图。商品数据以本地库优先，缺失时可选补抓。</a:t>
            </a:r>
          </a:p>
          <a:p>
            <a:pPr/>
            <a:endParaRPr lang="zh-CN" dirty="0"/>
          </a:p>
          <a:p>
            <a:pPr/>
            <a:r>
              <a:rPr lang="zh-CN" dirty="0"/>
              <a:t>用户为什么选择GiftWise？通用AI也能联网，但用户仍需自己组织送礼需求、追问、查资料和比较。GiftWise把这些步骤组织到同一任务中：根据需要用OpenCLI读取真实公开资料，再结合关系、预算和禁忌生成三个方向，独立检查可检查的约束，由用户自己选择，最后给出赠送指南。我们提供的是围绕送礼的完整服务，不把使用某个工具本身当作独占优势。</a:t>
            </a:r>
          </a:p>
          <a:p>
            <a:pPr/>
            <a:endParaRPr lang="zh-CN" dirty="0"/>
          </a:p>
          <a:p>
            <a:pPr/>
            <a:r>
              <a:rPr lang="zh-CN" dirty="0"/>
              <a:t>真实调研指实际访问外部资料，不是用户访谈或市场验证，也不等于商品价格、库存或所有内容都核实。PR74记录了真实公开网页检索与工具结果回传，再生成最终建议；不同来源也出现失败或空结果，不能说每次每个平台都成功。该历史集成记录不代表冻结演示已采用同版本。依据：https://github.com/sunnyyang0822-stack/GiftWise-AI/pull/74 。</a:t>
            </a:r>
          </a:p>
        </p:txBody>
      </p:sp>
    </p:spTree>
  </p:cSld>
  <p:clrMapOvr>
    <a:masterClrMapping/>
  </p:clrMapOvr>
</p:notes>
</file>

<file path=ppt/notesSlides/notesSlide4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张图对应最新合入的集成流程。服务端解析需求并固定确认项，文本模型生成三个候选，独立规则决定哪些可选；风格方向由规则推导、文本模型润色。用户选择后生成并复核赠送指南，文字先返回，包装图在后台生成，前端查询状态后原位补图。可信选择和修订计数由服务端保存，图片任务与产物落盘；商品数据按需增强。密钥始终留在服务端。现场运行版本另见版本清单。</a:t>
            </a:r>
          </a:p>
        </p:txBody>
      </p:sp>
    </p:spTree>
  </p:cSld>
  <p:clrMapOvr>
    <a:masterClrMapping/>
  </p:clrMapOvr>
</p:notes>
</file>

<file path=ppt/notesSlides/notesSlide5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证据按版本和批次分开。候选307版本独立测试117项，111通过、5项既有失败、1项跳过，新增19项通过。历史单参考图有成功归档，但外观一致性仍未验证。候选307版本的文字复核通过，图片等待超时后任务失败，所以没有切换现场版本。商品主题关联也不等于同款认证，这些限制都随原始结果提交。</a:t>
            </a:r>
          </a:p>
        </p:txBody>
      </p:sp>
    </p:spTree>
  </p:cSld>
  <p:clrMapOvr>
    <a:masterClrMapping/>
  </p:clrMapOvr>
</p:notes>
</file>

<file path=ppt/notesSlides/notesSlide6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工程上，我们把复现、异常和观测落实到材料。代码包对应复现快照9887572，与冻结工作区96个运行文件逐字节一致；现场仍是旧基线加三份提示词覆盖。异常由固定结构、独立规则和明确错误处理，业务修订全局最多一次。账本记录模型用途、耗时与token，图像另有任务和产物记录；冻结演示的内存状态目前不承诺重启恢复。</a:t>
            </a:r>
          </a:p>
        </p:txBody>
      </p:sp>
    </p:spTree>
  </p:cSld>
  <p:clrMapOvr>
    <a:masterClrMapping/>
  </p:clrMapOvr>
</p:notes>
</file>

<file path=ppt/notesSlides/notesSlide7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一轮失败实验的实测，不是成功延迟或百分位统计。四次语言模型调用共16697个token；推荐接口约40.79秒，图片等待达到60.01秒后失败。金额没有可靠费率，尚未测算。主要瓶颈是外部调用和图像等待；后续优先改进等待策略、商品身份绑定与状态管理，再评估扩容。</a:t>
            </a:r>
          </a:p>
          <a:p>
            <a:pPr/>
            <a:endParaRPr lang="zh-CN" dirty="0"/>
          </a:p>
          <a:p>
            <a:pPr/>
            <a:r>
              <a:rPr lang="zh-CN" dirty="0"/>
              <a:t>商品数据接入列为后续规划：先核验并申请适用的电商官方API权限，用真实商品标识、价格条件和许可内缓存增强推荐。OpenCLI保留为公开灵感补充，不作为唯一商品事实来源。当前未获本项目接口授权、尚未接入，也未做速度与成本对比；API失败不阻断基本选礼，不承诺全网价格、库存或送达。</a:t>
            </a:r>
          </a:p>
          <a:p>
            <a:pPr/>
            <a:endParaRPr lang="zh-CN" dirty="0"/>
          </a:p>
          <a:p>
            <a:pPr/>
            <a:r>
              <a:rPr lang="zh-CN" dirty="0"/>
              <a:t>依据：淘宝联盟官方新手指南https://developer.alibaba.com/docs/doc.htm?articleId=118970&amp;docType=1&amp;treeId=713（文档更新于2023-02-01，当前本项目准入待核验）；OpenCLI官方入门https://opencli.info/docs/guide/getting-started.html及Browser Bridge文档https://opencli.info/docs/guide/browser-bridge.html。</a:t>
            </a:r>
          </a:p>
        </p:txBody>
      </p:sp>
    </p:spTree>
  </p:cSld>
  <p:clrMapOvr>
    <a:masterClrMapping/>
  </p:clrMapOvr>
</p:notes>
</file>

<file path=ppt/notesSlides/notesSlide8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项目提供有依据的三方案、独立检查和用户自选。下一步解决商品错配、生图失败、共享状态与恢复验证。下面进入三分钟现场Demo，历史材料会明确标注。</a:t>
            </a:r>
          </a:p>
          <a:p>
            <a:pPr/>
            <a:endParaRPr lang="zh-CN" dirty="0"/>
          </a:p>
          <a:p>
            <a:pPr/>
            <a:r>
              <a:rPr lang="zh-CN" dirty="0"/>
              <a:t>商品数据接入列为后续规划：先核验并申请适用的电商官方API权限，用真实商品标识、价格条件和许可内缓存增强推荐。OpenCLI保留为公开灵感补充，不作为唯一商品事实来源。当前未获本项目接口授权、尚未接入，也未做速度与成本对比；API失败不阻断基本选礼，不承诺全网价格、库存或送达。</a:t>
            </a:r>
          </a:p>
          <a:p>
            <a:pPr/>
            <a:endParaRPr lang="zh-CN" dirty="0"/>
          </a:p>
          <a:p>
            <a:pPr/>
            <a:r>
              <a:rPr lang="zh-CN" dirty="0"/>
              <a:t>依据：淘宝联盟官方新手指南https://developer.alibaba.com/docs/doc.htm?articleId=118970&amp;docType=1&amp;treeId=713（文档更新于2023-02-01，当前本项目准入待核验）；OpenCLI官方入门https://opencli.info/docs/guide/getting-started.html及Browser Bridge文档https://opencli.info/docs/guide/browser-bridge.html。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iftwise-defens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altLang="zh-CN" smtClean="0"/>
              <a:t>11/1/2026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iftwise-defens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altLang="zh-CN" smtClean="0"/>
              <a:t>11/1/2026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zh-CN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zh-CN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zh-CN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2" Type="http://schemas.openxmlformats.org/officeDocument/2006/relationships/notesSlide" Target="../notesSlides/notesSlide1_tf1_tf1.xml" /><Relationship Id="rId1" Type="http://schemas.openxmlformats.org/officeDocument/2006/relationships/slideLayout" Target="../slideLayouts/slideLayout1.xml" /></Relationships>
</file>

<file path=ppt/slides/_rels/slide2.xml.rels><?xml version='1.0' encoding='utf-8'?>
<Relationships xmlns="http://schemas.openxmlformats.org/package/2006/relationships"><Relationship Id="rId1" Type="http://schemas.openxmlformats.org/officeDocument/2006/relationships/slideLayout" Target="../slideLayouts/slideLayout1.xml" /><Relationship Id="rId3" Type="http://schemas.openxmlformats.org/officeDocument/2006/relationships/image" Target="../media/image_8d1378022f60321b.png" /><Relationship Id="rId4" Type="http://schemas.openxmlformats.org/officeDocument/2006/relationships/image" Target="../media/image_d750c475c9b17bfc.png" /><Relationship Id="rId5" Type="http://schemas.openxmlformats.org/officeDocument/2006/relationships/image" Target="../media/image_f8cb9dd907cdbe5c.png" /><Relationship Id="rId6" Type="http://schemas.openxmlformats.org/officeDocument/2006/relationships/image" Target="../media/image_65f9285e9d4136de.png" />  <Relationship Id="rId7" Type="http://schemas.openxmlformats.org/officeDocument/2006/relationships/notesSlide" Target="../notesSlides/notesSlide2_tf1_tf1.xml"/>
</Relationships>
</file>

<file path=ppt/slides/_rels/slide3.xml.rels><?xml version='1.0' encoding='utf-8'?>
<Relationships xmlns="http://schemas.openxmlformats.org/package/2006/relationships"><Relationship Id="rId1" Type="http://schemas.openxmlformats.org/officeDocument/2006/relationships/slideLayout" Target="../slideLayouts/slideLayout1.xml" />    <Relationship Id="rId2" Type="http://schemas.openxmlformats.org/officeDocument/2006/relationships/notesSlide" Target="../notesSlides/notesSlide3_tf1_tf1.xml"/>
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_a8a88ed8ca1a9ae5.png" />  <Relationship Id="rId5" Type="http://schemas.openxmlformats.org/officeDocument/2006/relationships/notesSlide" Target="../notesSlides/notesSlide4_tf1_tf1.xml" />
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5_tf1_tf1.xml" />
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6_tf1_tf1.xml" />
</Relationships>
</file>

<file path=ppt/slides/_rels/slide7.xml.rels><?xml version='1.0' encoding='utf-8'?>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7_tf1_tf1.xml"/>
</Relationships>
</file>

<file path=ppt/slides/_rels/slide8.xml.rels><?xml version='1.0' encoding='utf-8'?>
<Relationships xmlns="http://schemas.openxmlformats.org/package/2006/relationships"><Relationship Id="rId1" Type="http://schemas.openxmlformats.org/officeDocument/2006/relationships/slideLayout" Target="../slideLayouts/slideLayout1.xml" />    <Relationship Id="rId2" Type="http://schemas.openxmlformats.org/officeDocument/2006/relationships/notesSlide" Target="../notesSlides/notesSlide8_tf1_tf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1-topbar"/>
          <p:cNvGrpSpPr/>
          <p:nvPr/>
        </p:nvGrpSpPr>
        <p:grpSpPr>
          <a:xfrm>
            <a:off x="0" y="0"/>
            <a:ext cx="12192000" cy="95250"/>
            <a:chOff x="0" y="0"/>
            <a:chExt cx="12192000" cy="95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95250"/>
            </a:xfrm>
            <a:prstGeom prst="rect">
              <a:avLst/>
            </a:prstGeom>
            <a:solidFill>
              <a:srgbClr val="4338C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p1-title"/>
          <p:cNvGrpSpPr/>
          <p:nvPr/>
        </p:nvGrpSpPr>
        <p:grpSpPr>
          <a:xfrm>
            <a:off x="590550" y="1600200"/>
            <a:ext cx="3672554" cy="962025"/>
            <a:chOff x="590550" y="1600200"/>
            <a:chExt cx="3672554" cy="962025"/>
          </a:xfrm>
        </p:grpSpPr>
        <p:sp>
          <p:nvSpPr>
            <p:cNvPr id="4" name="TextBox 4"/>
            <p:cNvSpPr/>
            <p:nvPr/>
          </p:nvSpPr>
          <p:spPr>
            <a:xfrm>
              <a:off x="590550" y="1600200"/>
              <a:ext cx="3672554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49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项目概述</a:t>
              </a:r>
            </a:p>
          </p:txBody>
        </p:sp>
      </p:grpSp>
      <p:grpSp>
        <p:nvGrpSpPr>
          <p:cNvPr id="8" name="p1-sub"/>
          <p:cNvGrpSpPr/>
          <p:nvPr/>
        </p:nvGrpSpPr>
        <p:grpSpPr>
          <a:xfrm>
            <a:off x="599313" y="2673382"/>
            <a:ext cx="5186172" cy="682085"/>
            <a:chOff x="599313" y="2673382"/>
            <a:chExt cx="5186172" cy="682085"/>
          </a:xfrm>
        </p:grpSpPr>
        <p:sp>
          <p:nvSpPr>
            <p:cNvPr id="6" name="TextBox 6"/>
            <p:cNvSpPr/>
            <p:nvPr/>
          </p:nvSpPr>
          <p:spPr>
            <a:xfrm>
              <a:off x="599313" y="2673382"/>
              <a:ext cx="33487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2020" b="1" dirty="0">
                  <a:solidFill>
                    <a:srgbClr val="4338CA"/>
                  </a:solidFill>
                  <a:latin typeface="Arial"/>
                  <a:ea typeface="Microsoft YaHei"/>
                  <a:cs typeface="Arial"/>
                </a:rPr>
                <a:t>GiftWise AI · 送礼决策</a:t>
              </a:r>
            </a:p>
          </p:txBody>
        </p:sp>
        <p:sp>
          <p:nvSpPr>
            <p:cNvPr id="7" name="TextBox 7"/>
            <p:cNvSpPr/>
            <p:nvPr/>
          </p:nvSpPr>
          <p:spPr>
            <a:xfrm>
              <a:off x="603123" y="3105150"/>
              <a:ext cx="518236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面向青年，先选礼物，再决定怎么送</a:t>
              </a:r>
            </a:p>
          </p:txBody>
        </p:sp>
      </p:grpSp>
      <p:grpSp>
        <p:nvGrpSpPr>
          <p:cNvPr id="13" name="p1-narrative"/>
          <p:cNvGrpSpPr/>
          <p:nvPr/>
        </p:nvGrpSpPr>
        <p:grpSpPr>
          <a:xfrm>
            <a:off x="609600" y="3657600"/>
            <a:ext cx="10972800" cy="1257300"/>
            <a:chOff x="609600" y="3657600"/>
            <a:chExt cx="10972800" cy="1257300"/>
          </a:xfrm>
        </p:grpSpPr>
        <p:sp>
          <p:nvSpPr>
            <p:cNvPr id="9" name="Rectangle 9"/>
            <p:cNvSpPr/>
            <p:nvPr/>
          </p:nvSpPr>
          <p:spPr>
            <a:xfrm>
              <a:off x="609600" y="3657600"/>
              <a:ext cx="10972800" cy="1257300"/>
            </a:xfrm>
            <a:prstGeom prst="roundRect">
              <a:avLst>
                <a:gd name="adj" fmla="val 10606"/>
              </a:avLst>
            </a:prstGeom>
            <a:solidFill>
              <a:srgbClr val="EEF2FF"/>
            </a:solidFill>
            <a:ln w="15240">
              <a:solidFill>
                <a:srgbClr val="4338CA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/>
            <p:nvPr/>
          </p:nvSpPr>
          <p:spPr>
            <a:xfrm>
              <a:off x="832866" y="387353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b="1" dirty="0">
                  <a:solidFill>
                    <a:srgbClr val="4338CA"/>
                  </a:solidFill>
                  <a:latin typeface="Arial"/>
                  <a:ea typeface="Microsoft YaHei"/>
                  <a:cs typeface="Arial"/>
                </a:rPr>
                <a:t>定位</a:t>
              </a:r>
            </a:p>
          </p:txBody>
        </p:sp>
        <p:sp>
          <p:nvSpPr>
            <p:cNvPr id="11" name="TextBox 11"/>
            <p:cNvSpPr/>
            <p:nvPr/>
          </p:nvSpPr>
          <p:spPr>
            <a:xfrm>
              <a:off x="831532" y="4140232"/>
              <a:ext cx="7140607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31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不知道送什么 → 三个有据方案 → 用户自己选择</a:t>
              </a:r>
            </a:p>
          </p:txBody>
        </p:sp>
        <p:sp>
          <p:nvSpPr>
            <p:cNvPr id="12" name="TextBox 12"/>
            <p:cNvSpPr/>
            <p:nvPr/>
          </p:nvSpPr>
          <p:spPr>
            <a:xfrm>
              <a:off x="832676" y="4502182"/>
              <a:ext cx="8081486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9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独立规则检查预算与禁忌；选后生成赠送指南与包装示意。</a:t>
              </a:r>
            </a:p>
          </p:txBody>
        </p:sp>
      </p:grpSp>
      <p:grpSp>
        <p:nvGrpSpPr>
          <p:cNvPr id="18" name="p1-meta"/>
          <p:cNvGrpSpPr/>
          <p:nvPr/>
        </p:nvGrpSpPr>
        <p:grpSpPr>
          <a:xfrm>
            <a:off x="603885" y="5143500"/>
            <a:ext cx="10978515" cy="926782"/>
            <a:chOff x="603885" y="5143500"/>
            <a:chExt cx="10978515" cy="926782"/>
          </a:xfrm>
        </p:grpSpPr>
        <p:sp>
          <p:nvSpPr>
            <p:cNvPr id="14" name="Line 14"/>
            <p:cNvSpPr/>
            <p:nvPr/>
          </p:nvSpPr>
          <p:spPr>
            <a:xfrm>
              <a:off x="609600" y="5143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4288">
              <a:solidFill>
                <a:srgbClr val="CBD5E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/>
            <p:nvPr/>
          </p:nvSpPr>
          <p:spPr>
            <a:xfrm>
              <a:off x="603885" y="5346668"/>
              <a:ext cx="32547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赛道 B · 2026-11-01</a:t>
              </a:r>
            </a:p>
          </p:txBody>
        </p:sp>
        <p:sp>
          <p:nvSpPr>
            <p:cNvPr id="16" name="TextBox 16"/>
            <p:cNvSpPr/>
            <p:nvPr/>
          </p:nvSpPr>
          <p:spPr>
            <a:xfrm>
              <a:off x="604456" y="5645182"/>
              <a:ext cx="600865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1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5 分钟汇报 · 3 分钟 Demo · 7 分钟问答</a:t>
              </a:r>
            </a:p>
          </p:txBody>
        </p:sp>
        <p:sp>
          <p:nvSpPr>
            <p:cNvPr id="17" name="TextBox 17"/>
            <p:cNvSpPr/>
            <p:nvPr/>
          </p:nvSpPr>
          <p:spPr>
            <a:xfrm>
              <a:off x="604838" y="5886450"/>
              <a:ext cx="5039582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4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冻结演示与复现快照分别声明 · 源码ZIP随材料提交</a:t>
              </a:r>
            </a:p>
          </p:txBody>
        </p:sp>
      </p:grpSp>
      <p:grpSp>
        <p:nvGrpSpPr>
          <p:cNvPr id="20" name="p1-foot"/>
          <p:cNvGrpSpPr/>
          <p:nvPr/>
        </p:nvGrpSpPr>
        <p:grpSpPr>
          <a:xfrm>
            <a:off x="604838" y="6381750"/>
            <a:ext cx="5476208" cy="183832"/>
            <a:chOff x="604838" y="6381750"/>
            <a:chExt cx="5476208" cy="183832"/>
          </a:xfrm>
        </p:grpSpPr>
        <p:sp>
          <p:nvSpPr>
            <p:cNvPr id="19" name="TextBox 19"/>
            <p:cNvSpPr/>
            <p:nvPr/>
          </p:nvSpPr>
          <p:spPr>
            <a:xfrm>
              <a:off x="604838" y="6381750"/>
              <a:ext cx="5476208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4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当前可复现快照 9887572；未切换本轮候选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-title"/>
          <p:cNvGrpSpPr/>
          <p:nvPr/>
        </p:nvGrpSpPr>
        <p:grpSpPr>
          <a:xfrm>
            <a:off x="609600" y="539782"/>
            <a:ext cx="6562725" cy="450818"/>
            <a:chOff x="609600" y="539782"/>
            <a:chExt cx="6562725" cy="450818"/>
          </a:xfrm>
        </p:grpSpPr>
        <p:sp>
          <p:nvSpPr>
            <p:cNvPr id="2" name="Rectangle 2"/>
            <p:cNvSpPr/>
            <p:nvPr/>
          </p:nvSpPr>
          <p:spPr>
            <a:xfrm>
              <a:off x="609600" y="571500"/>
              <a:ext cx="57150" cy="419100"/>
            </a:xfrm>
            <a:prstGeom prst="roundRect">
              <a:avLst>
                <a:gd name="adj" fmla="val 50000"/>
              </a:avLst>
            </a:prstGeom>
            <a:solidFill>
              <a:srgbClr val="4338C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TextBox 3"/>
            <p:cNvSpPr/>
            <p:nvPr/>
          </p:nvSpPr>
          <p:spPr>
            <a:xfrm>
              <a:off x="788670" y="539782"/>
              <a:ext cx="63836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22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问题与目标</a:t>
              </a:r>
            </a:p>
          </p:txBody>
        </p:sp>
      </p:grpSp>
      <p:grpSp>
        <p:nvGrpSpPr>
          <p:cNvPr id="6" name="p2-kicker"/>
          <p:cNvGrpSpPr/>
          <p:nvPr/>
        </p:nvGrpSpPr>
        <p:grpSpPr>
          <a:xfrm>
            <a:off x="794576" y="939832"/>
            <a:ext cx="2358866" cy="213170"/>
            <a:chOff x="794576" y="939832"/>
            <a:chExt cx="2358866" cy="213170"/>
          </a:xfrm>
        </p:grpSpPr>
        <p:sp>
          <p:nvSpPr>
            <p:cNvPr id="5" name="TextBox 5"/>
            <p:cNvSpPr/>
            <p:nvPr/>
          </p:nvSpPr>
          <p:spPr>
            <a:xfrm>
              <a:off x="794576" y="939832"/>
              <a:ext cx="2358866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9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恋人与追求对象优先，朋友其次</a:t>
              </a:r>
            </a:p>
          </p:txBody>
        </p:sp>
      </p:grpSp>
      <p:grpSp>
        <p:nvGrpSpPr>
          <p:cNvPr id="8" name="p2-rule"/>
          <p:cNvGrpSpPr/>
          <p:nvPr/>
        </p:nvGrpSpPr>
        <p:grpSpPr>
          <a:xfrm>
            <a:off x="609600" y="1228725"/>
            <a:ext cx="10972800" cy="9525"/>
            <a:chOff x="609600" y="1228725"/>
            <a:chExt cx="10972800" cy="9525"/>
          </a:xfrm>
        </p:grpSpPr>
        <p:sp>
          <p:nvSpPr>
            <p:cNvPr id="7" name="Line 7"/>
            <p:cNvSpPr/>
            <p:nvPr/>
          </p:nvSpPr>
          <p:spPr>
            <a:xfrm>
              <a:off x="609600" y="12287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4288">
              <a:solidFill>
                <a:srgbClr val="CBD5E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p2-foot"/>
          <p:cNvGrpSpPr/>
          <p:nvPr/>
        </p:nvGrpSpPr>
        <p:grpSpPr>
          <a:xfrm>
            <a:off x="604838" y="6553200"/>
            <a:ext cx="10982325" cy="176212"/>
            <a:chOff x="604838" y="6553200"/>
            <a:chExt cx="10982325" cy="176212"/>
          </a:xfrm>
        </p:grpSpPr>
        <p:sp>
          <p:nvSpPr>
            <p:cNvPr id="9" name="TextBox 9"/>
            <p:cNvSpPr/>
            <p:nvPr/>
          </p:nvSpPr>
          <p:spPr>
            <a:xfrm>
              <a:off x="604838" y="6553200"/>
              <a:ext cx="36564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GiftWise AI · 赛道 B</a:t>
              </a:r>
            </a:p>
          </p:txBody>
        </p:sp>
        <p:sp>
          <p:nvSpPr>
            <p:cNvPr id="10" name="TextBox 10"/>
            <p:cNvSpPr/>
            <p:nvPr/>
          </p:nvSpPr>
          <p:spPr>
            <a:xfrm>
              <a:off x="11274457" y="6553200"/>
              <a:ext cx="3127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00" b="1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2 / 8</a:t>
              </a:r>
            </a:p>
          </p:txBody>
        </p:sp>
      </p:grpSp>
      <p:grpSp>
        <p:nvGrpSpPr>
          <p:cNvPr id="16" name="p2-c1"/>
          <p:cNvGrpSpPr/>
          <p:nvPr/>
        </p:nvGrpSpPr>
        <p:grpSpPr>
          <a:xfrm>
            <a:off x="609600" y="1447800"/>
            <a:ext cx="2628900" cy="1676400"/>
            <a:chOff x="609600" y="1447800"/>
            <a:chExt cx="2628900" cy="1676400"/>
          </a:xfrm>
        </p:grpSpPr>
        <p:sp>
          <p:nvSpPr>
            <p:cNvPr id="12" name="Rectangle 12"/>
            <p:cNvSpPr/>
            <p:nvPr/>
          </p:nvSpPr>
          <p:spPr>
            <a:xfrm>
              <a:off x="609600" y="1447800"/>
              <a:ext cx="2628900" cy="1676400"/>
            </a:xfrm>
            <a:prstGeom prst="roundRect">
              <a:avLst>
                <a:gd name="adj" fmla="val 6818"/>
              </a:avLst>
            </a:prstGeom>
            <a:solidFill>
              <a:srgbClr val="FFFFFF"/>
            </a:solidFill>
            <a:ln w="15240">
              <a:solidFill>
                <a:srgbClr val="4338CA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09600" y="1447800"/>
              <a:ext cx="47625" cy="1676400"/>
            </a:xfrm>
            <a:prstGeom prst="roundRect">
              <a:avLst>
                <a:gd name="adj" fmla="val 50000"/>
              </a:avLst>
            </a:prstGeom>
            <a:solidFill>
              <a:srgbClr val="4338C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4573" y="158115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关系分寸</a:t>
              </a:r>
            </a:p>
          </p:txBody>
        </p:sp>
        <p:sp>
          <p:nvSpPr>
            <p:cNvPr id="15" name="TextBox 15"/>
            <p:cNvSpPr/>
            <p:nvPr/>
          </p:nvSpPr>
          <p:spPr>
            <a:xfrm>
              <a:off x="775906" y="1790700"/>
              <a:ext cx="1164717" cy="7981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追求关系不等于恋爱</a:t>
              </a:r>
              <a:b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</a:br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不预设双向好感</a:t>
              </a:r>
              <a:b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</a:br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给出低压力表达</a:t>
              </a:r>
              <a:b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</a:br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避免过强承诺</a:t>
              </a:r>
            </a:p>
          </p:txBody>
        </p:sp>
      </p:grpSp>
      <p:grpSp>
        <p:nvGrpSpPr>
          <p:cNvPr id="21" name="p2-c2"/>
          <p:cNvGrpSpPr/>
          <p:nvPr/>
        </p:nvGrpSpPr>
        <p:grpSpPr>
          <a:xfrm>
            <a:off x="3390900" y="1447800"/>
            <a:ext cx="2628900" cy="1676400"/>
            <a:chOff x="3390900" y="1447800"/>
            <a:chExt cx="2628900" cy="1676400"/>
          </a:xfrm>
        </p:grpSpPr>
        <p:sp>
          <p:nvSpPr>
            <p:cNvPr id="17" name="Rectangle 17"/>
            <p:cNvSpPr/>
            <p:nvPr/>
          </p:nvSpPr>
          <p:spPr>
            <a:xfrm>
              <a:off x="3390900" y="1447800"/>
              <a:ext cx="2628900" cy="1676400"/>
            </a:xfrm>
            <a:prstGeom prst="roundRect">
              <a:avLst>
                <a:gd name="adj" fmla="val 6818"/>
              </a:avLst>
            </a:prstGeom>
            <a:solidFill>
              <a:srgbClr val="FFFFFF"/>
            </a:solidFill>
            <a:ln w="15240">
              <a:solidFill>
                <a:srgbClr val="6D28D9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390900" y="1447800"/>
              <a:ext cx="47625" cy="1676400"/>
            </a:xfrm>
            <a:prstGeom prst="roundRect">
              <a:avLst>
                <a:gd name="adj" fmla="val 50000"/>
              </a:avLst>
            </a:prstGeom>
            <a:solidFill>
              <a:srgbClr val="6D28D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Box 19"/>
            <p:cNvSpPr/>
            <p:nvPr/>
          </p:nvSpPr>
          <p:spPr>
            <a:xfrm>
              <a:off x="3555873" y="1581150"/>
              <a:ext cx="70218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硬约束</a:t>
              </a:r>
            </a:p>
          </p:txBody>
        </p:sp>
        <p:sp>
          <p:nvSpPr>
            <p:cNvPr id="20" name="TextBox 20"/>
            <p:cNvSpPr/>
            <p:nvPr/>
          </p:nvSpPr>
          <p:spPr>
            <a:xfrm>
              <a:off x="3557206" y="1790700"/>
              <a:ext cx="1293019" cy="7981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预算、期限与禁忌</a:t>
              </a:r>
              <a:b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</a:br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由独立规则检查</a:t>
              </a:r>
              <a:b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</a:br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不能靠模型保证</a:t>
              </a:r>
              <a:b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</a:br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失败如实返回</a:t>
              </a:r>
            </a:p>
          </p:txBody>
        </p:sp>
      </p:grpSp>
      <p:grpSp>
        <p:nvGrpSpPr>
          <p:cNvPr id="26" name="p2-c3"/>
          <p:cNvGrpSpPr/>
          <p:nvPr/>
        </p:nvGrpSpPr>
        <p:grpSpPr>
          <a:xfrm>
            <a:off x="609600" y="3276600"/>
            <a:ext cx="2628900" cy="1676400"/>
            <a:chOff x="609600" y="3276600"/>
            <a:chExt cx="2628900" cy="1676400"/>
          </a:xfrm>
        </p:grpSpPr>
        <p:sp>
          <p:nvSpPr>
            <p:cNvPr id="22" name="Rectangle 22"/>
            <p:cNvSpPr/>
            <p:nvPr/>
          </p:nvSpPr>
          <p:spPr>
            <a:xfrm>
              <a:off x="609600" y="3276600"/>
              <a:ext cx="2628900" cy="1676400"/>
            </a:xfrm>
            <a:prstGeom prst="roundRect">
              <a:avLst>
                <a:gd name="adj" fmla="val 6818"/>
              </a:avLst>
            </a:prstGeom>
            <a:solidFill>
              <a:srgbClr val="FFFFFF"/>
            </a:solidFill>
            <a:ln w="15240">
              <a:solidFill>
                <a:srgbClr val="0F766E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09600" y="3276600"/>
              <a:ext cx="47625" cy="167640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Box 24"/>
            <p:cNvSpPr/>
            <p:nvPr/>
          </p:nvSpPr>
          <p:spPr>
            <a:xfrm>
              <a:off x="774573" y="3409950"/>
              <a:ext cx="104679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推荐依据</a:t>
              </a:r>
            </a:p>
          </p:txBody>
        </p:sp>
        <p:sp>
          <p:nvSpPr>
            <p:cNvPr id="25" name="TextBox 25"/>
            <p:cNvSpPr/>
            <p:nvPr/>
          </p:nvSpPr>
          <p:spPr>
            <a:xfrm>
              <a:off x="775907" y="3619500"/>
              <a:ext cx="1183958" cy="7981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区分用户事实</a:t>
              </a:r>
              <a:b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</a:br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明确模型推断</a:t>
              </a:r>
              <a:b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</a:br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保留未知信息</a:t>
              </a:r>
              <a:b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</a:br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理由关联需求</a:t>
              </a:r>
            </a:p>
          </p:txBody>
        </p:sp>
      </p:grpSp>
      <p:grpSp>
        <p:nvGrpSpPr>
          <p:cNvPr id="31" name="p2-c4"/>
          <p:cNvGrpSpPr/>
          <p:nvPr/>
        </p:nvGrpSpPr>
        <p:grpSpPr>
          <a:xfrm>
            <a:off x="3390900" y="3276600"/>
            <a:ext cx="2628900" cy="1676400"/>
            <a:chOff x="3390900" y="3276600"/>
            <a:chExt cx="2628900" cy="1676400"/>
          </a:xfrm>
        </p:grpSpPr>
        <p:sp>
          <p:nvSpPr>
            <p:cNvPr id="27" name="Rectangle 27"/>
            <p:cNvSpPr/>
            <p:nvPr/>
          </p:nvSpPr>
          <p:spPr>
            <a:xfrm>
              <a:off x="3390900" y="3276600"/>
              <a:ext cx="2628900" cy="1676400"/>
            </a:xfrm>
            <a:prstGeom prst="roundRect">
              <a:avLst>
                <a:gd name="adj" fmla="val 6818"/>
              </a:avLst>
            </a:prstGeom>
            <a:solidFill>
              <a:srgbClr val="FFFFFF"/>
            </a:solidFill>
            <a:ln w="15240">
              <a:solidFill>
                <a:srgbClr val="B45309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390900" y="3276600"/>
              <a:ext cx="47625" cy="1676400"/>
            </a:xfrm>
            <a:prstGeom prst="roundRect">
              <a:avLst>
                <a:gd name="adj" fmla="val 50000"/>
              </a:avLst>
            </a:prstGeom>
            <a:solidFill>
              <a:srgbClr val="B4530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TextBox 29"/>
            <p:cNvSpPr/>
            <p:nvPr/>
          </p:nvSpPr>
          <p:spPr>
            <a:xfrm>
              <a:off x="3555873" y="3409950"/>
              <a:ext cx="104679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模型边界</a:t>
              </a:r>
            </a:p>
          </p:txBody>
        </p:sp>
        <p:sp>
          <p:nvSpPr>
            <p:cNvPr id="30" name="TextBox 30"/>
            <p:cNvSpPr/>
            <p:nvPr/>
          </p:nvSpPr>
          <p:spPr>
            <a:xfrm>
              <a:off x="3557207" y="3619500"/>
              <a:ext cx="1401985" cy="7981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不擅自补偏好</a:t>
              </a:r>
              <a:b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</a:br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不静默补金额</a:t>
              </a:r>
              <a:b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</a:br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模型不自评合规</a:t>
              </a:r>
              <a:b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</a:br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用户保留选择权</a:t>
              </a:r>
            </a:p>
          </p:txBody>
        </p:sp>
      </p:grpSp>
      <p:grpSp>
        <p:nvGrpSpPr>
          <p:cNvPr id="36" name="p2-answer"/>
          <p:cNvGrpSpPr/>
          <p:nvPr/>
        </p:nvGrpSpPr>
        <p:grpSpPr>
          <a:xfrm>
            <a:off x="609600" y="5105400"/>
            <a:ext cx="6286500" cy="819150"/>
            <a:chOff x="609600" y="5105400"/>
            <a:chExt cx="6286500" cy="819150"/>
          </a:xfrm>
        </p:grpSpPr>
        <p:sp>
          <p:nvSpPr>
            <p:cNvPr id="32" name="Rectangle 32"/>
            <p:cNvSpPr/>
            <p:nvPr/>
          </p:nvSpPr>
          <p:spPr>
            <a:xfrm>
              <a:off x="609600" y="5105400"/>
              <a:ext cx="6286500" cy="819150"/>
            </a:xfrm>
            <a:prstGeom prst="roundRect">
              <a:avLst>
                <a:gd name="adj" fmla="val 10938"/>
              </a:avLst>
            </a:prstGeom>
            <a:solidFill>
              <a:srgbClr val="F0FDF4"/>
            </a:solidFill>
            <a:ln w="17145">
              <a:solidFill>
                <a:srgbClr val="15803D"/>
              </a:solidFill>
            </a:ln>
          </p:spPr>
        </p:sp>
        <p:sp>
          <p:nvSpPr>
            <p:cNvPr id="33" name="TextBox 33"/>
            <p:cNvSpPr/>
            <p:nvPr/>
          </p:nvSpPr>
          <p:spPr>
            <a:xfrm>
              <a:off x="838200" y="5133975"/>
              <a:ext cx="58293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b="1" dirty="0">
                  <a:solidFill>
                    <a:srgbClr val="15803D"/>
                  </a:solidFill>
                  <a:latin typeface="Arial"/>
                  <a:ea typeface="Microsoft YaHei"/>
                  <a:cs typeface="Arial"/>
                </a:rPr>
                <a:t>目标输出</a:t>
              </a:r>
            </a:p>
          </p:txBody>
        </p:sp>
        <p:sp>
          <p:nvSpPr>
            <p:cNvPr id="34" name="TextBox 34"/>
            <p:cNvSpPr/>
            <p:nvPr/>
          </p:nvSpPr>
          <p:spPr>
            <a:xfrm>
              <a:off x="838200" y="5362575"/>
              <a:ext cx="58293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三方案 → 独立检查 → 用户选择一个 → 选后赠送指南</a:t>
              </a:r>
            </a:p>
          </p:txBody>
        </p:sp>
        <p:sp>
          <p:nvSpPr>
            <p:cNvPr id="35" name="TextBox 35"/>
            <p:cNvSpPr/>
            <p:nvPr/>
          </p:nvSpPr>
          <p:spPr>
            <a:xfrm>
              <a:off x="838200" y="5614702"/>
              <a:ext cx="5829300" cy="22143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1398" rIns="0" bIns="0" anchor="t" anchorCtr="0">
              <a:noAutofit/>
            </a:bodyPr>
            <a:lstStyle/>
            <a:p>
              <a:pPr algn="l"/>
              <a:r>
                <a:rPr lang="zh-CN" sz="109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目标是让选择可解释、约束可检查，区别于自由聊天推荐。</a:t>
              </a:r>
            </a:p>
          </p:txBody>
        </p:sp>
      </p:grpSp>
      <p:grpSp>
        <p:nvGrpSpPr>
          <p:cNvPr id="40" name="p2-note"/>
          <p:cNvGrpSpPr/>
          <p:nvPr/>
        </p:nvGrpSpPr>
        <p:grpSpPr>
          <a:xfrm>
            <a:off x="609600" y="6019800"/>
            <a:ext cx="6286500" cy="432435"/>
            <a:chOff x="609600" y="6019800"/>
            <a:chExt cx="6286500" cy="432435"/>
          </a:xfrm>
        </p:grpSpPr>
        <p:sp>
          <p:nvSpPr>
            <p:cNvPr id="37" name="Rectangle 37"/>
            <p:cNvSpPr/>
            <p:nvPr/>
          </p:nvSpPr>
          <p:spPr>
            <a:xfrm>
              <a:off x="609600" y="6019800"/>
              <a:ext cx="6286500" cy="419100"/>
            </a:xfrm>
            <a:prstGeom prst="roundRect">
              <a:avLst>
                <a:gd name="adj" fmla="val 11475"/>
              </a:avLst>
            </a:prstGeom>
            <a:solidFill>
              <a:srgbClr val="FEF3C7"/>
            </a:solidFill>
            <a:ln w="15240">
              <a:solidFill>
                <a:srgbClr val="B45309"/>
              </a:solidFill>
            </a:ln>
          </p:spPr>
        </p:sp>
        <p:sp>
          <p:nvSpPr>
            <p:cNvPr id="38" name="TextBox 38"/>
            <p:cNvSpPr/>
            <p:nvPr/>
          </p:nvSpPr>
          <p:spPr>
            <a:xfrm>
              <a:off x="838200" y="6049042"/>
              <a:ext cx="5829300" cy="2275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2508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验证边界</a:t>
              </a:r>
            </a:p>
          </p:txBody>
        </p:sp>
        <p:sp>
          <p:nvSpPr>
            <p:cNvPr id="39" name="TextBox 39"/>
            <p:cNvSpPr/>
            <p:nvPr/>
          </p:nvSpPr>
          <p:spPr>
            <a:xfrm>
              <a:off x="838200" y="6238875"/>
              <a:ext cx="58293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635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无真实用户研究；不宣称效率、满意度或关系结果已经提升。</a:t>
              </a:r>
            </a:p>
          </p:txBody>
        </p:sp>
      </p:grpSp>
      <p:grpSp>
        <p:nvGrpSpPr>
          <p:cNvPr id="43" name="compact-case-1"/>
          <p:cNvGrpSpPr/>
          <p:nvPr/>
        </p:nvGrpSpPr>
        <p:grpSpPr>
          <a:xfrm>
            <a:off x="7842504" y="1457325"/>
            <a:ext cx="3149346" cy="1485405"/>
            <a:chOff x="7842504" y="1457325"/>
            <a:chExt cx="3149346" cy="1485405"/>
          </a:xfrm>
        </p:grpSpPr>
        <p:sp>
          <p:nvSpPr>
            <p:cNvPr id="41" name="TextBox 41"/>
            <p:cNvSpPr txBox="1"/>
            <p:nvPr/>
          </p:nvSpPr>
          <p:spPr>
            <a:xfrm>
              <a:off x="7842504" y="1457325"/>
              <a:ext cx="2013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01 预算有限，怕送了用不上</a:t>
              </a:r>
            </a:p>
          </p:txBody>
        </p:sp>
        <p:pic>
          <p:nvPicPr>
            <p:cNvPr id="42" name="Image 4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48600" y="1704975"/>
              <a:ext cx="3143250" cy="1237755"/>
            </a:xfrm>
            <a:prstGeom prst="rect">
              <a:avLst/>
            </a:prstGeom>
          </p:spPr>
        </p:pic>
      </p:grpSp>
      <p:grpSp>
        <p:nvGrpSpPr>
          <p:cNvPr id="46" name="compact-case-2"/>
          <p:cNvGrpSpPr/>
          <p:nvPr/>
        </p:nvGrpSpPr>
        <p:grpSpPr>
          <a:xfrm>
            <a:off x="7842504" y="3019425"/>
            <a:ext cx="3149346" cy="899103"/>
            <a:chOff x="7842504" y="3019425"/>
            <a:chExt cx="3149346" cy="899103"/>
          </a:xfrm>
        </p:grpSpPr>
        <p:sp>
          <p:nvSpPr>
            <p:cNvPr id="44" name="TextBox 44"/>
            <p:cNvSpPr txBox="1"/>
            <p:nvPr/>
          </p:nvSpPr>
          <p:spPr>
            <a:xfrm>
              <a:off x="7842504" y="3019425"/>
              <a:ext cx="1690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02 知道兴趣，依然难选</a:t>
              </a:r>
            </a:p>
          </p:txBody>
        </p:sp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48600" y="3267075"/>
              <a:ext cx="3143250" cy="651453"/>
            </a:xfrm>
            <a:prstGeom prst="rect">
              <a:avLst/>
            </a:prstGeom>
          </p:spPr>
        </p:pic>
      </p:grpSp>
      <p:grpSp>
        <p:nvGrpSpPr>
          <p:cNvPr id="49" name="compact-case-3"/>
          <p:cNvGrpSpPr/>
          <p:nvPr/>
        </p:nvGrpSpPr>
        <p:grpSpPr>
          <a:xfrm>
            <a:off x="7842504" y="3990975"/>
            <a:ext cx="3149346" cy="1273683"/>
            <a:chOff x="7842504" y="3990975"/>
            <a:chExt cx="3149346" cy="1273683"/>
          </a:xfrm>
        </p:grpSpPr>
        <p:sp>
          <p:nvSpPr>
            <p:cNvPr id="47" name="TextBox 47"/>
            <p:cNvSpPr txBox="1"/>
            <p:nvPr/>
          </p:nvSpPr>
          <p:spPr>
            <a:xfrm>
              <a:off x="7842504" y="3990975"/>
              <a:ext cx="2175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03 想表达心意，又怕审美不同</a:t>
              </a:r>
            </a:p>
          </p:txBody>
        </p:sp>
        <p:pic>
          <p:nvPicPr>
            <p:cNvPr id="48" name="Image 4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48600" y="4238625"/>
              <a:ext cx="3143250" cy="1026033"/>
            </a:xfrm>
            <a:prstGeom prst="rect">
              <a:avLst/>
            </a:prstGeom>
          </p:spPr>
        </p:pic>
      </p:grpSp>
      <p:grpSp>
        <p:nvGrpSpPr>
          <p:cNvPr id="52" name="compact-case-4"/>
          <p:cNvGrpSpPr/>
          <p:nvPr/>
        </p:nvGrpSpPr>
        <p:grpSpPr>
          <a:xfrm>
            <a:off x="7842504" y="5343525"/>
            <a:ext cx="3149346" cy="1013108"/>
            <a:chOff x="7842504" y="5343525"/>
            <a:chExt cx="3149346" cy="1013108"/>
          </a:xfrm>
        </p:grpSpPr>
        <p:sp>
          <p:nvSpPr>
            <p:cNvPr id="50" name="TextBox 50"/>
            <p:cNvSpPr txBox="1"/>
            <p:nvPr/>
          </p:nvSpPr>
          <p:spPr>
            <a:xfrm>
              <a:off x="7842504" y="5343525"/>
              <a:ext cx="2013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04 排除了很多，还是没方向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848600" y="5591175"/>
              <a:ext cx="3143250" cy="765458"/>
            </a:xfrm>
            <a:prstGeom prst="rect">
              <a:avLst/>
            </a:prstGeom>
          </p:spPr>
        </p:pic>
      </p:grpSp>
      <p:grpSp>
        <p:nvGrpSpPr>
          <p:cNvPr id="54" name="compact-source"/>
          <p:cNvGrpSpPr/>
          <p:nvPr/>
        </p:nvGrpSpPr>
        <p:grpSpPr>
          <a:xfrm>
            <a:off x="7843838" y="6403975"/>
            <a:ext cx="2658847" cy="161925"/>
            <a:chOff x="7843838" y="6403975"/>
            <a:chExt cx="2658847" cy="161925"/>
          </a:xfrm>
        </p:grpSpPr>
        <p:sp>
          <p:nvSpPr>
            <p:cNvPr id="53" name="TextBox 53"/>
            <p:cNvSpPr txBox="1"/>
            <p:nvPr/>
          </p:nvSpPr>
          <p:spPr>
            <a:xfrm>
              <a:off x="7843838" y="6403975"/>
              <a:ext cx="265884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用户提供的求助截图节选，已去账号，仅作问题样例。</a:t>
              </a:r>
            </a:p>
          </p:txBody>
        </p:sp>
      </p:grp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3-title"/>
          <p:cNvGrpSpPr/>
          <p:nvPr/>
        </p:nvGrpSpPr>
        <p:grpSpPr>
          <a:xfrm>
            <a:off x="609600" y="539782"/>
            <a:ext cx="7168515" cy="450818"/>
            <a:chOff x="609600" y="539782"/>
            <a:chExt cx="7168515" cy="450818"/>
          </a:xfrm>
        </p:grpSpPr>
        <p:sp>
          <p:nvSpPr>
            <p:cNvPr id="2" name="Rectangle 2"/>
            <p:cNvSpPr/>
            <p:nvPr/>
          </p:nvSpPr>
          <p:spPr>
            <a:xfrm>
              <a:off x="609600" y="571500"/>
              <a:ext cx="57150" cy="419100"/>
            </a:xfrm>
            <a:prstGeom prst="roundRect">
              <a:avLst>
                <a:gd name="adj" fmla="val 50000"/>
              </a:avLst>
            </a:prstGeom>
            <a:solidFill>
              <a:srgbClr val="6D28D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TextBox 3"/>
            <p:cNvSpPr/>
            <p:nvPr/>
          </p:nvSpPr>
          <p:spPr>
            <a:xfrm>
              <a:off x="788670" y="539782"/>
              <a:ext cx="69894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22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整体方案</a:t>
              </a:r>
            </a:p>
          </p:txBody>
        </p:sp>
      </p:grpSp>
      <p:grpSp>
        <p:nvGrpSpPr>
          <p:cNvPr id="6" name="p3-kicker"/>
          <p:cNvGrpSpPr/>
          <p:nvPr/>
        </p:nvGrpSpPr>
        <p:grpSpPr>
          <a:xfrm>
            <a:off x="794576" y="927068"/>
            <a:ext cx="3004471" cy="213170"/>
            <a:chOff x="794576" y="927068"/>
            <a:chExt cx="3004471" cy="213170"/>
          </a:xfrm>
        </p:grpSpPr>
        <p:sp>
          <p:nvSpPr>
            <p:cNvPr id="5" name="TextBox 5"/>
            <p:cNvSpPr/>
            <p:nvPr/>
          </p:nvSpPr>
          <p:spPr>
            <a:xfrm>
              <a:off x="794576" y="927068"/>
              <a:ext cx="3004471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732" rIns="0" bIns="0" anchor="t" anchorCtr="0">
              <a:noAutofit/>
            </a:bodyPr>
            <a:lstStyle/>
            <a:p>
              <a:pPr algn="l"/>
              <a:r>
                <a:rPr lang="zh-CN" sz="109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模型生成、代码检查、用户选择分开</a:t>
              </a:r>
            </a:p>
          </p:txBody>
        </p:sp>
      </p:grpSp>
      <p:grpSp>
        <p:nvGrpSpPr>
          <p:cNvPr id="8" name="p3-rule"/>
          <p:cNvGrpSpPr/>
          <p:nvPr/>
        </p:nvGrpSpPr>
        <p:grpSpPr>
          <a:xfrm>
            <a:off x="609600" y="1228725"/>
            <a:ext cx="10972800" cy="9525"/>
            <a:chOff x="609600" y="1228725"/>
            <a:chExt cx="10972800" cy="9525"/>
          </a:xfrm>
        </p:grpSpPr>
        <p:sp>
          <p:nvSpPr>
            <p:cNvPr id="7" name="Line 7"/>
            <p:cNvSpPr/>
            <p:nvPr/>
          </p:nvSpPr>
          <p:spPr>
            <a:xfrm>
              <a:off x="609600" y="12287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4288">
              <a:solidFill>
                <a:srgbClr val="CBD5E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p3-foot"/>
          <p:cNvGrpSpPr/>
          <p:nvPr/>
        </p:nvGrpSpPr>
        <p:grpSpPr>
          <a:xfrm>
            <a:off x="604838" y="6553200"/>
            <a:ext cx="10982325" cy="176212"/>
            <a:chOff x="604838" y="6553200"/>
            <a:chExt cx="10982325" cy="176212"/>
          </a:xfrm>
        </p:grpSpPr>
        <p:sp>
          <p:nvSpPr>
            <p:cNvPr id="9" name="TextBox 9"/>
            <p:cNvSpPr/>
            <p:nvPr/>
          </p:nvSpPr>
          <p:spPr>
            <a:xfrm>
              <a:off x="604838" y="6553200"/>
              <a:ext cx="60310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GiftWise AI · 赛道 B</a:t>
              </a:r>
            </a:p>
          </p:txBody>
        </p:sp>
        <p:sp>
          <p:nvSpPr>
            <p:cNvPr id="10" name="TextBox 10"/>
            <p:cNvSpPr/>
            <p:nvPr/>
          </p:nvSpPr>
          <p:spPr>
            <a:xfrm>
              <a:off x="11274457" y="6553200"/>
              <a:ext cx="3127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00" b="1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3 / 8</a:t>
              </a:r>
            </a:p>
          </p:txBody>
        </p:sp>
      </p:grpSp>
      <p:grpSp>
        <p:nvGrpSpPr>
          <p:cNvPr id="17" name="p3-s1"/>
          <p:cNvGrpSpPr/>
          <p:nvPr/>
        </p:nvGrpSpPr>
        <p:grpSpPr>
          <a:xfrm>
            <a:off x="609600" y="1524000"/>
            <a:ext cx="2038350" cy="1752600"/>
            <a:chOff x="609600" y="1524000"/>
            <a:chExt cx="2038350" cy="1752600"/>
          </a:xfrm>
        </p:grpSpPr>
        <p:sp>
          <p:nvSpPr>
            <p:cNvPr id="12" name="Rectangle 12"/>
            <p:cNvSpPr/>
            <p:nvPr/>
          </p:nvSpPr>
          <p:spPr>
            <a:xfrm>
              <a:off x="609600" y="1524000"/>
              <a:ext cx="2038350" cy="1752600"/>
            </a:xfrm>
            <a:prstGeom prst="roundRect">
              <a:avLst>
                <a:gd name="adj" fmla="val 6522"/>
              </a:avLst>
            </a:prstGeom>
            <a:solidFill>
              <a:srgbClr val="FFFFFF"/>
            </a:solidFill>
            <a:ln w="17145">
              <a:solidFill>
                <a:srgbClr val="4338CA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09600" y="1524000"/>
              <a:ext cx="2038350" cy="381000"/>
            </a:xfrm>
            <a:prstGeom prst="roundRect">
              <a:avLst>
                <a:gd name="adj" fmla="val 30000"/>
              </a:avLst>
            </a:prstGeom>
            <a:solidFill>
              <a:srgbClr val="4338C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9600" y="1790700"/>
              <a:ext cx="2038350" cy="114300"/>
            </a:xfrm>
            <a:prstGeom prst="rect">
              <a:avLst/>
            </a:prstGeom>
            <a:solidFill>
              <a:srgbClr val="4338C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/>
            <p:nvPr/>
          </p:nvSpPr>
          <p:spPr>
            <a:xfrm>
              <a:off x="756094" y="1641443"/>
              <a:ext cx="775811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16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① 需求解析</a:t>
              </a:r>
            </a:p>
          </p:txBody>
        </p:sp>
        <p:sp>
          <p:nvSpPr>
            <p:cNvPr id="16" name="TextBox 16"/>
            <p:cNvSpPr/>
            <p:nvPr/>
          </p:nvSpPr>
          <p:spPr>
            <a:xfrm>
              <a:off x="756856" y="1974818"/>
              <a:ext cx="1478947" cy="6552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原话与表单</a:t>
              </a:r>
              <a:b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</a:br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映射固定字段</a:t>
              </a:r>
              <a:b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</a:br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缺失信息待确认</a:t>
              </a:r>
            </a:p>
          </p:txBody>
        </p:sp>
      </p:grpSp>
      <p:grpSp>
        <p:nvGrpSpPr>
          <p:cNvPr id="20" name="p3-a1"/>
          <p:cNvGrpSpPr/>
          <p:nvPr/>
        </p:nvGrpSpPr>
        <p:grpSpPr>
          <a:xfrm>
            <a:off x="2648902" y="2351722"/>
            <a:ext cx="103823" cy="97155"/>
            <a:chOff x="2648902" y="2351722"/>
            <a:chExt cx="103823" cy="97155"/>
          </a:xfrm>
        </p:grpSpPr>
        <p:sp>
          <p:nvSpPr>
            <p:cNvPr id="18" name="Line 18"/>
            <p:cNvSpPr/>
            <p:nvPr/>
          </p:nvSpPr>
          <p:spPr>
            <a:xfrm>
              <a:off x="2676525" y="2400300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28575">
              <a:solidFill>
                <a:srgbClr val="4338CA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2648902" y="2351722"/>
              <a:ext cx="103822" cy="97155"/>
            </a:xfrm>
            <a:custGeom>
              <a:avLst/>
              <a:gdLst/>
              <a:ahLst/>
              <a:cxnLst/>
              <a:rect l="l" t="t" r="r" b="b"/>
              <a:pathLst>
                <a:path w="103822" h="97155">
                  <a:moveTo>
                    <a:pt x="0" y="97155"/>
                  </a:moveTo>
                  <a:lnTo>
                    <a:pt x="103822" y="485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338C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6" name="p3-s2"/>
          <p:cNvGrpSpPr/>
          <p:nvPr/>
        </p:nvGrpSpPr>
        <p:grpSpPr>
          <a:xfrm>
            <a:off x="2800350" y="1524000"/>
            <a:ext cx="2038350" cy="1752600"/>
            <a:chOff x="2800350" y="1524000"/>
            <a:chExt cx="2038350" cy="1752600"/>
          </a:xfrm>
        </p:grpSpPr>
        <p:sp>
          <p:nvSpPr>
            <p:cNvPr id="21" name="Rectangle 21"/>
            <p:cNvSpPr/>
            <p:nvPr/>
          </p:nvSpPr>
          <p:spPr>
            <a:xfrm>
              <a:off x="2800350" y="1524000"/>
              <a:ext cx="2038350" cy="1752600"/>
            </a:xfrm>
            <a:prstGeom prst="roundRect">
              <a:avLst>
                <a:gd name="adj" fmla="val 6522"/>
              </a:avLst>
            </a:prstGeom>
            <a:solidFill>
              <a:srgbClr val="FFFFFF"/>
            </a:solidFill>
            <a:ln w="17145">
              <a:solidFill>
                <a:srgbClr val="6D28D9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800350" y="1524000"/>
              <a:ext cx="2038350" cy="381000"/>
            </a:xfrm>
            <a:prstGeom prst="roundRect">
              <a:avLst>
                <a:gd name="adj" fmla="val 30000"/>
              </a:avLst>
            </a:prstGeom>
            <a:solidFill>
              <a:srgbClr val="6D28D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800350" y="1790700"/>
              <a:ext cx="2038350" cy="114300"/>
            </a:xfrm>
            <a:prstGeom prst="rect">
              <a:avLst/>
            </a:prstGeom>
            <a:solidFill>
              <a:srgbClr val="6D28D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Box 24"/>
            <p:cNvSpPr/>
            <p:nvPr/>
          </p:nvSpPr>
          <p:spPr>
            <a:xfrm>
              <a:off x="2946844" y="1641443"/>
              <a:ext cx="932021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16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② 三个候选</a:t>
              </a:r>
            </a:p>
          </p:txBody>
        </p:sp>
        <p:sp>
          <p:nvSpPr>
            <p:cNvPr id="25" name="TextBox 25"/>
            <p:cNvSpPr/>
            <p:nvPr/>
          </p:nvSpPr>
          <p:spPr>
            <a:xfrm>
              <a:off x="2947606" y="1974818"/>
              <a:ext cx="1331500" cy="6552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说明选择理由</a:t>
              </a:r>
              <a:b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</a:br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区分事实与推断</a:t>
              </a:r>
              <a:b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</a:br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给出估价与时间</a:t>
              </a:r>
            </a:p>
          </p:txBody>
        </p:sp>
      </p:grpSp>
      <p:grpSp>
        <p:nvGrpSpPr>
          <p:cNvPr id="29" name="p3-a2"/>
          <p:cNvGrpSpPr/>
          <p:nvPr/>
        </p:nvGrpSpPr>
        <p:grpSpPr>
          <a:xfrm>
            <a:off x="4839652" y="2351722"/>
            <a:ext cx="103823" cy="97155"/>
            <a:chOff x="4839652" y="2351722"/>
            <a:chExt cx="103823" cy="97155"/>
          </a:xfrm>
        </p:grpSpPr>
        <p:sp>
          <p:nvSpPr>
            <p:cNvPr id="27" name="Line 27"/>
            <p:cNvSpPr/>
            <p:nvPr/>
          </p:nvSpPr>
          <p:spPr>
            <a:xfrm>
              <a:off x="4867275" y="2400300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28575">
              <a:solidFill>
                <a:srgbClr val="6D28D9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4839652" y="2351722"/>
              <a:ext cx="103822" cy="97155"/>
            </a:xfrm>
            <a:custGeom>
              <a:avLst/>
              <a:gdLst/>
              <a:ahLst/>
              <a:cxnLst/>
              <a:rect l="l" t="t" r="r" b="b"/>
              <a:pathLst>
                <a:path w="103822" h="97155">
                  <a:moveTo>
                    <a:pt x="0" y="97155"/>
                  </a:moveTo>
                  <a:lnTo>
                    <a:pt x="103822" y="485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28D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5" name="p3-s3"/>
          <p:cNvGrpSpPr/>
          <p:nvPr/>
        </p:nvGrpSpPr>
        <p:grpSpPr>
          <a:xfrm>
            <a:off x="4991100" y="1524000"/>
            <a:ext cx="2038350" cy="1752600"/>
            <a:chOff x="4991100" y="1524000"/>
            <a:chExt cx="2038350" cy="1752600"/>
          </a:xfrm>
        </p:grpSpPr>
        <p:sp>
          <p:nvSpPr>
            <p:cNvPr id="30" name="Rectangle 30"/>
            <p:cNvSpPr/>
            <p:nvPr/>
          </p:nvSpPr>
          <p:spPr>
            <a:xfrm>
              <a:off x="4991100" y="1524000"/>
              <a:ext cx="2038350" cy="1752600"/>
            </a:xfrm>
            <a:prstGeom prst="roundRect">
              <a:avLst>
                <a:gd name="adj" fmla="val 6522"/>
              </a:avLst>
            </a:prstGeom>
            <a:solidFill>
              <a:srgbClr val="FFFFFF"/>
            </a:solidFill>
            <a:ln w="17145">
              <a:solidFill>
                <a:srgbClr val="B45309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991100" y="1524000"/>
              <a:ext cx="2038350" cy="381000"/>
            </a:xfrm>
            <a:prstGeom prst="roundRect">
              <a:avLst>
                <a:gd name="adj" fmla="val 30000"/>
              </a:avLst>
            </a:prstGeom>
            <a:solidFill>
              <a:srgbClr val="B4530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991100" y="1790700"/>
              <a:ext cx="2038350" cy="114300"/>
            </a:xfrm>
            <a:prstGeom prst="rect">
              <a:avLst/>
            </a:prstGeom>
            <a:solidFill>
              <a:srgbClr val="B4530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TextBox 33"/>
            <p:cNvSpPr/>
            <p:nvPr/>
          </p:nvSpPr>
          <p:spPr>
            <a:xfrm>
              <a:off x="5137594" y="1641443"/>
              <a:ext cx="1400461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16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③ 独立校验</a:t>
              </a:r>
            </a:p>
          </p:txBody>
        </p:sp>
        <p:sp>
          <p:nvSpPr>
            <p:cNvPr id="34" name="TextBox 34"/>
            <p:cNvSpPr/>
            <p:nvPr/>
          </p:nvSpPr>
          <p:spPr>
            <a:xfrm>
              <a:off x="5138356" y="1974818"/>
              <a:ext cx="888968" cy="6552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预算与禁忌</a:t>
              </a:r>
              <a:b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</a:br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输出结构</a:t>
              </a:r>
              <a:b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</a:br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最多一次修订</a:t>
              </a:r>
            </a:p>
          </p:txBody>
        </p:sp>
      </p:grpSp>
      <p:grpSp>
        <p:nvGrpSpPr>
          <p:cNvPr id="38" name="p3-a3"/>
          <p:cNvGrpSpPr/>
          <p:nvPr/>
        </p:nvGrpSpPr>
        <p:grpSpPr>
          <a:xfrm>
            <a:off x="7030402" y="2351722"/>
            <a:ext cx="103823" cy="97155"/>
            <a:chOff x="7030402" y="2351722"/>
            <a:chExt cx="103823" cy="97155"/>
          </a:xfrm>
        </p:grpSpPr>
        <p:sp>
          <p:nvSpPr>
            <p:cNvPr id="36" name="Line 36"/>
            <p:cNvSpPr/>
            <p:nvPr/>
          </p:nvSpPr>
          <p:spPr>
            <a:xfrm>
              <a:off x="7058025" y="2400300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28575">
              <a:solidFill>
                <a:srgbClr val="B45309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7030402" y="2351722"/>
              <a:ext cx="103822" cy="97155"/>
            </a:xfrm>
            <a:custGeom>
              <a:avLst/>
              <a:gdLst/>
              <a:ahLst/>
              <a:cxnLst/>
              <a:rect l="l" t="t" r="r" b="b"/>
              <a:pathLst>
                <a:path w="103822" h="97155">
                  <a:moveTo>
                    <a:pt x="0" y="97155"/>
                  </a:moveTo>
                  <a:lnTo>
                    <a:pt x="103822" y="485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530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4" name="p3-s4"/>
          <p:cNvGrpSpPr/>
          <p:nvPr/>
        </p:nvGrpSpPr>
        <p:grpSpPr>
          <a:xfrm>
            <a:off x="7181850" y="1524000"/>
            <a:ext cx="2038350" cy="1752600"/>
            <a:chOff x="7181850" y="1524000"/>
            <a:chExt cx="2038350" cy="1752600"/>
          </a:xfrm>
        </p:grpSpPr>
        <p:sp>
          <p:nvSpPr>
            <p:cNvPr id="39" name="Rectangle 39"/>
            <p:cNvSpPr/>
            <p:nvPr/>
          </p:nvSpPr>
          <p:spPr>
            <a:xfrm>
              <a:off x="7181850" y="1524000"/>
              <a:ext cx="2038350" cy="1752600"/>
            </a:xfrm>
            <a:prstGeom prst="roundRect">
              <a:avLst>
                <a:gd name="adj" fmla="val 6522"/>
              </a:avLst>
            </a:prstGeom>
            <a:solidFill>
              <a:srgbClr val="FFFFFF"/>
            </a:solidFill>
            <a:ln w="17145">
              <a:solidFill>
                <a:srgbClr val="B45309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181850" y="1524000"/>
              <a:ext cx="2038350" cy="381000"/>
            </a:xfrm>
            <a:prstGeom prst="roundRect">
              <a:avLst>
                <a:gd name="adj" fmla="val 30000"/>
              </a:avLst>
            </a:prstGeom>
            <a:solidFill>
              <a:srgbClr val="B4530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181850" y="1790700"/>
              <a:ext cx="2038350" cy="114300"/>
            </a:xfrm>
            <a:prstGeom prst="rect">
              <a:avLst/>
            </a:prstGeom>
            <a:solidFill>
              <a:srgbClr val="B4530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TextBox 42"/>
            <p:cNvSpPr/>
            <p:nvPr/>
          </p:nvSpPr>
          <p:spPr>
            <a:xfrm>
              <a:off x="7328344" y="1641443"/>
              <a:ext cx="1244251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16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④ 文字方向</a:t>
              </a:r>
            </a:p>
          </p:txBody>
        </p:sp>
        <p:sp>
          <p:nvSpPr>
            <p:cNvPr id="43" name="TextBox 43"/>
            <p:cNvSpPr/>
            <p:nvPr/>
          </p:nvSpPr>
          <p:spPr>
            <a:xfrm>
              <a:off x="7329106" y="1974818"/>
              <a:ext cx="1164717" cy="6552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规则推导</a:t>
              </a:r>
              <a:b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</a:br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风格与色彩</a:t>
              </a:r>
              <a:b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</a:br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llm_text 润色</a:t>
              </a:r>
            </a:p>
          </p:txBody>
        </p:sp>
      </p:grpSp>
      <p:grpSp>
        <p:nvGrpSpPr>
          <p:cNvPr id="47" name="p3-a4"/>
          <p:cNvGrpSpPr/>
          <p:nvPr/>
        </p:nvGrpSpPr>
        <p:grpSpPr>
          <a:xfrm>
            <a:off x="9221152" y="2351722"/>
            <a:ext cx="103823" cy="97155"/>
            <a:chOff x="9221152" y="2351722"/>
            <a:chExt cx="103823" cy="97155"/>
          </a:xfrm>
        </p:grpSpPr>
        <p:sp>
          <p:nvSpPr>
            <p:cNvPr id="45" name="Line 45"/>
            <p:cNvSpPr/>
            <p:nvPr/>
          </p:nvSpPr>
          <p:spPr>
            <a:xfrm>
              <a:off x="9248775" y="2400300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28575">
              <a:solidFill>
                <a:srgbClr val="B45309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9221152" y="2351722"/>
              <a:ext cx="103822" cy="97155"/>
            </a:xfrm>
            <a:custGeom>
              <a:avLst/>
              <a:gdLst/>
              <a:ahLst/>
              <a:cxnLst/>
              <a:rect l="l" t="t" r="r" b="b"/>
              <a:pathLst>
                <a:path w="103822" h="97155">
                  <a:moveTo>
                    <a:pt x="0" y="97155"/>
                  </a:moveTo>
                  <a:lnTo>
                    <a:pt x="103822" y="485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530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3" name="p3-s5"/>
          <p:cNvGrpSpPr/>
          <p:nvPr/>
        </p:nvGrpSpPr>
        <p:grpSpPr>
          <a:xfrm>
            <a:off x="9372600" y="1524000"/>
            <a:ext cx="2038350" cy="1752600"/>
            <a:chOff x="9372600" y="1524000"/>
            <a:chExt cx="2038350" cy="1752600"/>
          </a:xfrm>
        </p:grpSpPr>
        <p:sp>
          <p:nvSpPr>
            <p:cNvPr id="48" name="Rectangle 48"/>
            <p:cNvSpPr/>
            <p:nvPr/>
          </p:nvSpPr>
          <p:spPr>
            <a:xfrm>
              <a:off x="9372600" y="1524000"/>
              <a:ext cx="2038350" cy="1752600"/>
            </a:xfrm>
            <a:prstGeom prst="roundRect">
              <a:avLst>
                <a:gd name="adj" fmla="val 6522"/>
              </a:avLst>
            </a:prstGeom>
            <a:solidFill>
              <a:srgbClr val="FFFFFF"/>
            </a:solidFill>
            <a:ln w="17145">
              <a:solidFill>
                <a:srgbClr val="0F766E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Rectangle 49"/>
            <p:cNvSpPr/>
            <p:nvPr/>
          </p:nvSpPr>
          <p:spPr>
            <a:xfrm>
              <a:off x="9372600" y="1524000"/>
              <a:ext cx="2038350" cy="381000"/>
            </a:xfrm>
            <a:prstGeom prst="roundRect">
              <a:avLst>
                <a:gd name="adj" fmla="val 30000"/>
              </a:avLst>
            </a:prstGeom>
            <a:solidFill>
              <a:srgbClr val="0F766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372600" y="1790700"/>
              <a:ext cx="2038350" cy="11430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TextBox 51"/>
            <p:cNvSpPr/>
            <p:nvPr/>
          </p:nvSpPr>
          <p:spPr>
            <a:xfrm>
              <a:off x="9519094" y="1641443"/>
              <a:ext cx="1088136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16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⑤ 选后呈现</a:t>
              </a:r>
            </a:p>
          </p:txBody>
        </p:sp>
        <p:sp>
          <p:nvSpPr>
            <p:cNvPr id="52" name="TextBox 52"/>
            <p:cNvSpPr/>
            <p:nvPr/>
          </p:nvSpPr>
          <p:spPr>
            <a:xfrm>
              <a:off x="9519856" y="1974818"/>
              <a:ext cx="1055656" cy="6552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用户选择合格项</a:t>
              </a:r>
              <a:b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</a:br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生成指南与贺卡</a:t>
              </a:r>
              <a:b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</a:br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再生成包装图</a:t>
              </a:r>
            </a:p>
          </p:txBody>
        </p:sp>
      </p:grpSp>
      <p:grpSp>
        <p:nvGrpSpPr>
          <p:cNvPr id="57" name="p3-hard"/>
          <p:cNvGrpSpPr/>
          <p:nvPr/>
        </p:nvGrpSpPr>
        <p:grpSpPr>
          <a:xfrm>
            <a:off x="609600" y="3543300"/>
            <a:ext cx="10972800" cy="1428750"/>
            <a:chOff x="609600" y="3543300"/>
            <a:chExt cx="10972800" cy="1428750"/>
          </a:xfrm>
        </p:grpSpPr>
        <p:sp>
          <p:nvSpPr>
            <p:cNvPr id="54" name="Rectangle 54"/>
            <p:cNvSpPr/>
            <p:nvPr/>
          </p:nvSpPr>
          <p:spPr>
            <a:xfrm>
              <a:off x="609600" y="3543300"/>
              <a:ext cx="10972800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CBD5E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TextBox 55"/>
            <p:cNvSpPr/>
            <p:nvPr/>
          </p:nvSpPr>
          <p:spPr>
            <a:xfrm>
              <a:off x="832104" y="3714750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为什么使用 GiftWise</a:t>
              </a:r>
            </a:p>
          </p:txBody>
        </p:sp>
        <p:sp>
          <p:nvSpPr>
            <p:cNvPr id="56" name="TextBox 56"/>
            <p:cNvSpPr/>
            <p:nvPr/>
          </p:nvSpPr>
          <p:spPr>
            <a:xfrm>
              <a:off x="832866" y="3981450"/>
              <a:ext cx="6271450" cy="7006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8100" rIns="0" bIns="0" anchor="t" anchorCtr="0">
              <a:no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按需用OpenCLI真实调研，让建议参考外部资料。</a:t>
              </a:r>
            </a:p>
            <a:p>
              <a:pPr algn="l">
                <a:lnSpc>
                  <a:spcPts val="1575"/>
                </a:lnSpc>
                <a:spcBef>
                  <a:spcPts val="375"/>
                </a:spcBef>
              </a:pPr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结合关系、预算和禁忌，比较三个有据方向。</a:t>
              </a:r>
            </a:p>
            <a:p>
              <a:pPr algn="l">
                <a:lnSpc>
                  <a:spcPts val="1575"/>
                </a:lnSpc>
                <a:spcBef>
                  <a:spcPts val="375"/>
                </a:spcBef>
              </a:pPr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用户自己选择，再获得对应的赠送指南。</a:t>
              </a:r>
            </a:p>
          </p:txBody>
        </p:sp>
      </p:grpSp>
      <p:grpSp>
        <p:nvGrpSpPr>
          <p:cNvPr id="62" name="p3-flow"/>
          <p:cNvGrpSpPr/>
          <p:nvPr/>
        </p:nvGrpSpPr>
        <p:grpSpPr>
          <a:xfrm>
            <a:off x="609600" y="5143500"/>
            <a:ext cx="10972800" cy="914400"/>
            <a:chOff x="609600" y="5143500"/>
            <a:chExt cx="10972800" cy="914400"/>
          </a:xfrm>
        </p:grpSpPr>
        <p:sp>
          <p:nvSpPr>
            <p:cNvPr id="58" name="Rectangle 58"/>
            <p:cNvSpPr/>
            <p:nvPr/>
          </p:nvSpPr>
          <p:spPr>
            <a:xfrm>
              <a:off x="609600" y="5143500"/>
              <a:ext cx="10972800" cy="914400"/>
            </a:xfrm>
            <a:prstGeom prst="roundRect">
              <a:avLst>
                <a:gd name="adj" fmla="val 14583"/>
              </a:avLst>
            </a:prstGeom>
            <a:solidFill>
              <a:srgbClr val="CCFBF1"/>
            </a:solidFill>
            <a:ln w="15240">
              <a:solidFill>
                <a:srgbClr val="0F766E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TextBox 59"/>
            <p:cNvSpPr/>
            <p:nvPr/>
          </p:nvSpPr>
          <p:spPr>
            <a:xfrm>
              <a:off x="832485" y="5308568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rgbClr val="0F766E"/>
                  </a:solidFill>
                  <a:latin typeface="Arial"/>
                  <a:ea typeface="Microsoft YaHei"/>
                  <a:cs typeface="Arial"/>
                </a:rPr>
                <a:t>调研与检查各司其职</a:t>
              </a:r>
            </a:p>
          </p:txBody>
        </p:sp>
        <p:sp>
          <p:nvSpPr>
            <p:cNvPr id="60" name="TextBox 60"/>
            <p:cNvSpPr/>
            <p:nvPr/>
          </p:nvSpPr>
          <p:spPr>
            <a:xfrm>
              <a:off x="832866" y="5607082"/>
              <a:ext cx="3885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OpenCLI读取公开资料，模型结合用户需求形成建议。</a:t>
              </a:r>
            </a:p>
          </p:txBody>
        </p:sp>
        <p:sp>
          <p:nvSpPr>
            <p:cNvPr id="61" name="TextBox 61"/>
            <p:cNvSpPr/>
            <p:nvPr/>
          </p:nvSpPr>
          <p:spPr>
            <a:xfrm>
              <a:off x="833056" y="5835682"/>
              <a:ext cx="7969663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规则检查已知硬约束；外部资料不等于实时价格或库存。</a:t>
              </a:r>
            </a:p>
          </p:txBody>
        </p:sp>
      </p:grp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4-title"/>
          <p:cNvGrpSpPr/>
          <p:nvPr/>
        </p:nvGrpSpPr>
        <p:grpSpPr>
          <a:xfrm>
            <a:off x="609600" y="539782"/>
            <a:ext cx="5956935" cy="450818"/>
            <a:chOff x="609600" y="539782"/>
            <a:chExt cx="5956935" cy="450818"/>
          </a:xfrm>
        </p:grpSpPr>
        <p:sp>
          <p:nvSpPr>
            <p:cNvPr id="2" name="Rectangle 2"/>
            <p:cNvSpPr/>
            <p:nvPr/>
          </p:nvSpPr>
          <p:spPr>
            <a:xfrm>
              <a:off x="609600" y="571500"/>
              <a:ext cx="57150" cy="41910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TextBox 3"/>
            <p:cNvSpPr/>
            <p:nvPr/>
          </p:nvSpPr>
          <p:spPr>
            <a:xfrm>
              <a:off x="788670" y="539782"/>
              <a:ext cx="577786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22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核心实现</a:t>
              </a:r>
            </a:p>
          </p:txBody>
        </p:sp>
      </p:grpSp>
      <p:grpSp>
        <p:nvGrpSpPr>
          <p:cNvPr id="6" name="p4-kicker"/>
          <p:cNvGrpSpPr/>
          <p:nvPr/>
        </p:nvGrpSpPr>
        <p:grpSpPr>
          <a:xfrm>
            <a:off x="794576" y="927068"/>
            <a:ext cx="5557647" cy="213170"/>
            <a:chOff x="794576" y="927068"/>
            <a:chExt cx="5557647" cy="213170"/>
          </a:xfrm>
        </p:grpSpPr>
        <p:sp>
          <p:nvSpPr>
            <p:cNvPr id="5" name="TextBox 5"/>
            <p:cNvSpPr/>
            <p:nvPr/>
          </p:nvSpPr>
          <p:spPr>
            <a:xfrm>
              <a:off x="794576" y="927068"/>
              <a:ext cx="5557647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09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Agent 决策链路与异步图片生成</a:t>
              </a:r>
            </a:p>
          </p:txBody>
        </p:sp>
      </p:grpSp>
      <p:grpSp>
        <p:nvGrpSpPr>
          <p:cNvPr id="8" name="p4-rule"/>
          <p:cNvGrpSpPr/>
          <p:nvPr/>
        </p:nvGrpSpPr>
        <p:grpSpPr>
          <a:xfrm>
            <a:off x="609600" y="1228725"/>
            <a:ext cx="10972800" cy="9525"/>
            <a:chOff x="609600" y="1228725"/>
            <a:chExt cx="10972800" cy="9525"/>
          </a:xfrm>
        </p:grpSpPr>
        <p:sp>
          <p:nvSpPr>
            <p:cNvPr id="7" name="Line 7"/>
            <p:cNvSpPr/>
            <p:nvPr/>
          </p:nvSpPr>
          <p:spPr>
            <a:xfrm>
              <a:off x="609600" y="12287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4288">
              <a:solidFill>
                <a:srgbClr val="CBD5E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p4-foot"/>
          <p:cNvGrpSpPr/>
          <p:nvPr/>
        </p:nvGrpSpPr>
        <p:grpSpPr>
          <a:xfrm>
            <a:off x="604838" y="6553200"/>
            <a:ext cx="10982325" cy="176212"/>
            <a:chOff x="604838" y="6553200"/>
            <a:chExt cx="10982325" cy="176212"/>
          </a:xfrm>
        </p:grpSpPr>
        <p:sp>
          <p:nvSpPr>
            <p:cNvPr id="9" name="TextBox 9"/>
            <p:cNvSpPr/>
            <p:nvPr/>
          </p:nvSpPr>
          <p:spPr>
            <a:xfrm>
              <a:off x="604838" y="6553200"/>
              <a:ext cx="66276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GiftWise AI · 赛道 B</a:t>
              </a:r>
            </a:p>
          </p:txBody>
        </p:sp>
        <p:sp>
          <p:nvSpPr>
            <p:cNvPr id="10" name="TextBox 10"/>
            <p:cNvSpPr/>
            <p:nvPr/>
          </p:nvSpPr>
          <p:spPr>
            <a:xfrm>
              <a:off x="11274457" y="6553200"/>
              <a:ext cx="3127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00" b="1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4 / 8</a:t>
              </a:r>
            </a:p>
          </p:txBody>
        </p:sp>
      </p:grpSp>
      <p:grpSp>
        <p:nvGrpSpPr>
          <p:cNvPr id="12" name="architecture-overview"/>
          <p:cNvGrpSpPr/>
          <p:nvPr/>
        </p:nvGrpSpPr>
        <p:grpSpPr>
          <a:xfrm>
            <a:off x="613469" y="1409700"/>
            <a:ext cx="10965063" cy="4724400"/>
            <a:chOff x="613469" y="1409700"/>
            <a:chExt cx="10965063" cy="4724400"/>
          </a:xfrm>
        </p:grpSpPr>
        <p:pic>
          <p:nvPicPr>
            <p:cNvPr id="15" name="Imag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3469" y="1409700"/>
              <a:ext cx="10965063" cy="4724400"/>
            </a:xfrm>
            <a:prstGeom prst="rect">
              <a:avLst/>
            </a:prstGeom>
          </p:spPr>
        </p:pic>
      </p:grpSp>
      <p:grpSp>
        <p:nvGrpSpPr>
          <p:cNvPr id="14" name="architecture-caption"/>
          <p:cNvGrpSpPr/>
          <p:nvPr/>
        </p:nvGrpSpPr>
        <p:grpSpPr>
          <a:xfrm>
            <a:off x="604266" y="6254750"/>
            <a:ext cx="5233361" cy="205359"/>
            <a:chOff x="604266" y="6254750"/>
            <a:chExt cx="5233361" cy="205359"/>
          </a:xfrm>
        </p:grpSpPr>
        <p:sp>
          <p:nvSpPr>
            <p:cNvPr id="13" name="TextBox 13"/>
            <p:cNvSpPr txBox="1"/>
            <p:nvPr/>
          </p:nvSpPr>
          <p:spPr>
            <a:xfrm>
              <a:off x="604266" y="6254750"/>
              <a:ext cx="52333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176"/>
                  </a:solidFill>
                  <a:latin typeface="Arial"/>
                  <a:ea typeface="Microsoft YaHei"/>
                  <a:cs typeface="Arial"/>
                </a:rPr>
                <a:t>集成流程版本 0ad650b · 核心决策与商品数据增强分离 · 文字先返回，图片后台补齐</a:t>
              </a:r>
            </a:p>
          </p:txBody>
        </p:sp>
      </p:grp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7-title"/>
          <p:cNvGrpSpPr/>
          <p:nvPr/>
        </p:nvGrpSpPr>
        <p:grpSpPr>
          <a:xfrm>
            <a:off x="609600" y="539782"/>
            <a:ext cx="7900035" cy="450818"/>
            <a:chOff x="609600" y="539782"/>
            <a:chExt cx="7900035" cy="450818"/>
          </a:xfrm>
        </p:grpSpPr>
        <p:sp>
          <p:nvSpPr>
            <p:cNvPr id="2" name="Rectangle 2"/>
            <p:cNvSpPr/>
            <p:nvPr/>
          </p:nvSpPr>
          <p:spPr>
            <a:xfrm>
              <a:off x="609600" y="571500"/>
              <a:ext cx="57150" cy="419100"/>
            </a:xfrm>
            <a:prstGeom prst="roundRect">
              <a:avLst>
                <a:gd name="adj" fmla="val 50000"/>
              </a:avLst>
            </a:prstGeom>
            <a:solidFill>
              <a:srgbClr val="6D28D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TextBox 3"/>
            <p:cNvSpPr/>
            <p:nvPr/>
          </p:nvSpPr>
          <p:spPr>
            <a:xfrm>
              <a:off x="788670" y="539782"/>
              <a:ext cx="772096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22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结果与证据</a:t>
              </a:r>
            </a:p>
          </p:txBody>
        </p:sp>
      </p:grpSp>
      <p:grpSp>
        <p:nvGrpSpPr>
          <p:cNvPr id="6" name="p7-kicker"/>
          <p:cNvGrpSpPr/>
          <p:nvPr/>
        </p:nvGrpSpPr>
        <p:grpSpPr>
          <a:xfrm>
            <a:off x="794576" y="939832"/>
            <a:ext cx="3679412" cy="213170"/>
            <a:chOff x="794576" y="939832"/>
            <a:chExt cx="3679412" cy="213170"/>
          </a:xfrm>
        </p:grpSpPr>
        <p:sp>
          <p:nvSpPr>
            <p:cNvPr id="5" name="TextBox 5"/>
            <p:cNvSpPr/>
            <p:nvPr/>
          </p:nvSpPr>
          <p:spPr>
            <a:xfrm>
              <a:off x="794576" y="939832"/>
              <a:ext cx="3679412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9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版本、测试条件与原始结果一起归档</a:t>
              </a:r>
            </a:p>
          </p:txBody>
        </p:sp>
      </p:grpSp>
      <p:grpSp>
        <p:nvGrpSpPr>
          <p:cNvPr id="8" name="p7-rule"/>
          <p:cNvGrpSpPr/>
          <p:nvPr/>
        </p:nvGrpSpPr>
        <p:grpSpPr>
          <a:xfrm>
            <a:off x="609600" y="1228725"/>
            <a:ext cx="10972800" cy="9525"/>
            <a:chOff x="609600" y="1228725"/>
            <a:chExt cx="10972800" cy="9525"/>
          </a:xfrm>
        </p:grpSpPr>
        <p:sp>
          <p:nvSpPr>
            <p:cNvPr id="7" name="Line 7"/>
            <p:cNvSpPr/>
            <p:nvPr/>
          </p:nvSpPr>
          <p:spPr>
            <a:xfrm>
              <a:off x="609600" y="12287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4288">
              <a:solidFill>
                <a:srgbClr val="CBD5E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p7-foot"/>
          <p:cNvGrpSpPr/>
          <p:nvPr/>
        </p:nvGrpSpPr>
        <p:grpSpPr>
          <a:xfrm>
            <a:off x="604838" y="6553200"/>
            <a:ext cx="10982325" cy="176212"/>
            <a:chOff x="604838" y="6553200"/>
            <a:chExt cx="10982325" cy="176212"/>
          </a:xfrm>
        </p:grpSpPr>
        <p:sp>
          <p:nvSpPr>
            <p:cNvPr id="9" name="TextBox 9"/>
            <p:cNvSpPr/>
            <p:nvPr/>
          </p:nvSpPr>
          <p:spPr>
            <a:xfrm>
              <a:off x="604838" y="6553200"/>
              <a:ext cx="63339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GiftWise AI · 赛道 B</a:t>
              </a:r>
            </a:p>
          </p:txBody>
        </p:sp>
        <p:sp>
          <p:nvSpPr>
            <p:cNvPr id="10" name="TextBox 10"/>
            <p:cNvSpPr/>
            <p:nvPr/>
          </p:nvSpPr>
          <p:spPr>
            <a:xfrm>
              <a:off x="11274457" y="6553200"/>
              <a:ext cx="3127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00" b="1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5 / 8</a:t>
              </a:r>
            </a:p>
          </p:txBody>
        </p:sp>
      </p:grpSp>
      <p:grpSp>
        <p:nvGrpSpPr>
          <p:cNvPr id="25" name="p6-cards"/>
          <p:cNvGrpSpPr/>
          <p:nvPr/>
        </p:nvGrpSpPr>
        <p:grpSpPr>
          <a:xfrm>
            <a:off x="609600" y="1447800"/>
            <a:ext cx="10972800" cy="1638300"/>
            <a:chOff x="609600" y="1447800"/>
            <a:chExt cx="10972800" cy="1638300"/>
          </a:xfrm>
        </p:grpSpPr>
        <p:sp>
          <p:nvSpPr>
            <p:cNvPr id="12" name="Rectangle 12"/>
            <p:cNvSpPr/>
            <p:nvPr/>
          </p:nvSpPr>
          <p:spPr>
            <a:xfrm>
              <a:off x="609600" y="1447800"/>
              <a:ext cx="3467100" cy="1638300"/>
            </a:xfrm>
            <a:prstGeom prst="roundRect">
              <a:avLst>
                <a:gd name="adj" fmla="val 6977"/>
              </a:avLst>
            </a:prstGeom>
            <a:solidFill>
              <a:srgbClr val="FFFFFF"/>
            </a:solidFill>
            <a:ln w="15240">
              <a:solidFill>
                <a:srgbClr val="6D28D9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09600" y="1447800"/>
              <a:ext cx="57150" cy="1638300"/>
            </a:xfrm>
            <a:prstGeom prst="roundRect">
              <a:avLst>
                <a:gd name="adj" fmla="val 50000"/>
              </a:avLst>
            </a:prstGeom>
            <a:solidFill>
              <a:srgbClr val="6D28D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Box 14"/>
            <p:cNvSpPr/>
            <p:nvPr/>
          </p:nvSpPr>
          <p:spPr>
            <a:xfrm>
              <a:off x="851154" y="1638300"/>
              <a:ext cx="1661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候选独立验收</a:t>
              </a:r>
            </a:p>
          </p:txBody>
        </p:sp>
        <p:sp>
          <p:nvSpPr>
            <p:cNvPr id="15" name="TextBox 15"/>
            <p:cNvSpPr/>
            <p:nvPr/>
          </p:nvSpPr>
          <p:spPr>
            <a:xfrm>
              <a:off x="852106" y="1866900"/>
              <a:ext cx="1915096" cy="94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800" rIns="0" bIns="0" anchor="t" anchorCtr="0">
              <a:noAutofit/>
            </a:bodyPr>
            <a:lstStyle/>
            <a:p>
              <a:pPr algn="l">
                <a:lnSpc>
                  <a:spcPts val="1515"/>
                </a:lnSpc>
              </a:pPr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117项：111通过</a:t>
              </a:r>
            </a:p>
            <a:p>
              <a:pPr algn="l">
                <a:lnSpc>
                  <a:spcPts val="1515"/>
                </a:lnSpc>
                <a:spcBef>
                  <a:spcPts val="435"/>
                </a:spcBef>
              </a:pPr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5失败，1跳过</a:t>
              </a:r>
            </a:p>
            <a:p>
              <a:pPr algn="l">
                <a:lnSpc>
                  <a:spcPts val="1515"/>
                </a:lnSpc>
                <a:spcBef>
                  <a:spcPts val="435"/>
                </a:spcBef>
              </a:pPr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19项新增验证通过</a:t>
              </a:r>
            </a:p>
            <a:p>
              <a:pPr algn="l">
                <a:lnSpc>
                  <a:spcPts val="1515"/>
                </a:lnSpc>
                <a:spcBef>
                  <a:spcPts val="435"/>
                </a:spcBef>
              </a:pPr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仅指本轮候选307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362450" y="1447800"/>
              <a:ext cx="3467100" cy="1638300"/>
            </a:xfrm>
            <a:prstGeom prst="roundRect">
              <a:avLst>
                <a:gd name="adj" fmla="val 6977"/>
              </a:avLst>
            </a:prstGeom>
            <a:solidFill>
              <a:srgbClr val="FFFFFF"/>
            </a:solidFill>
            <a:ln w="17145">
              <a:solidFill>
                <a:srgbClr val="B91C1C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362450" y="1447800"/>
              <a:ext cx="57150" cy="1638300"/>
            </a:xfrm>
            <a:prstGeom prst="roundRect">
              <a:avLst>
                <a:gd name="adj" fmla="val 50000"/>
              </a:avLst>
            </a:prstGeom>
            <a:solidFill>
              <a:srgbClr val="B91C1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Box 18"/>
            <p:cNvSpPr/>
            <p:nvPr/>
          </p:nvSpPr>
          <p:spPr>
            <a:xfrm>
              <a:off x="4604004" y="1638300"/>
              <a:ext cx="1685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历史参考图</a:t>
              </a:r>
            </a:p>
          </p:txBody>
        </p:sp>
        <p:sp>
          <p:nvSpPr>
            <p:cNvPr id="19" name="TextBox 19"/>
            <p:cNvSpPr/>
            <p:nvPr/>
          </p:nvSpPr>
          <p:spPr>
            <a:xfrm>
              <a:off x="4604956" y="1866900"/>
              <a:ext cx="2171605" cy="94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800" rIns="0" bIns="0" anchor="t" anchorCtr="0">
              <a:noAutofit/>
            </a:bodyPr>
            <a:lstStyle/>
            <a:p>
              <a:pPr algn="l">
                <a:lnSpc>
                  <a:spcPts val="1515"/>
                </a:lnSpc>
              </a:pPr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1张真实参考图</a:t>
              </a:r>
            </a:p>
            <a:p>
              <a:pPr algn="l">
                <a:lnSpc>
                  <a:spcPts val="1515"/>
                </a:lnSpc>
                <a:spcBef>
                  <a:spcPts val="435"/>
                </a:spcBef>
              </a:pPr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状态used，HTTP 200</a:t>
              </a:r>
            </a:p>
            <a:p>
              <a:pPr algn="l">
                <a:lnSpc>
                  <a:spcPts val="1515"/>
                </a:lnSpc>
                <a:spcBef>
                  <a:spcPts val="435"/>
                </a:spcBef>
              </a:pPr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660,658 B，JPEG</a:t>
              </a:r>
            </a:p>
            <a:p>
              <a:pPr algn="l">
                <a:lnSpc>
                  <a:spcPts val="1515"/>
                </a:lnSpc>
                <a:spcBef>
                  <a:spcPts val="435"/>
                </a:spcBef>
              </a:pPr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外观一致性未验证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115300" y="1447800"/>
              <a:ext cx="3467100" cy="1638300"/>
            </a:xfrm>
            <a:prstGeom prst="roundRect">
              <a:avLst>
                <a:gd name="adj" fmla="val 6977"/>
              </a:avLst>
            </a:prstGeom>
            <a:solidFill>
              <a:srgbClr val="FFFFFF"/>
            </a:solidFill>
            <a:ln w="15240">
              <a:solidFill>
                <a:srgbClr val="0E749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115300" y="1447800"/>
              <a:ext cx="57150" cy="1638300"/>
            </a:xfrm>
            <a:prstGeom prst="roundRect">
              <a:avLst>
                <a:gd name="adj" fmla="val 50000"/>
              </a:avLst>
            </a:prstGeom>
            <a:solidFill>
              <a:srgbClr val="0E749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Box 22"/>
            <p:cNvSpPr/>
            <p:nvPr/>
          </p:nvSpPr>
          <p:spPr>
            <a:xfrm>
              <a:off x="8356854" y="1638300"/>
              <a:ext cx="21615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冻结与缺口</a:t>
              </a:r>
            </a:p>
          </p:txBody>
        </p:sp>
        <p:sp>
          <p:nvSpPr>
            <p:cNvPr id="23" name="TextBox 23"/>
            <p:cNvSpPr/>
            <p:nvPr/>
          </p:nvSpPr>
          <p:spPr>
            <a:xfrm>
              <a:off x="8358188" y="1866900"/>
              <a:ext cx="2134457" cy="6791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800" rIns="0" bIns="0" anchor="t" anchorCtr="0">
              <a:noAutofit/>
            </a:bodyPr>
            <a:lstStyle/>
            <a:p>
              <a:pPr algn="l">
                <a:lnSpc>
                  <a:spcPts val="1410"/>
                </a:lnSpc>
              </a:pPr>
              <a:r>
                <a:rPr lang="zh-CN" sz="94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8903保持冻结</a:t>
              </a:r>
            </a:p>
            <a:p>
              <a:pPr algn="l">
                <a:lnSpc>
                  <a:spcPts val="1410"/>
                </a:lnSpc>
                <a:spcBef>
                  <a:spcPts val="540"/>
                </a:spcBef>
              </a:pPr>
              <a:r>
                <a:rPr lang="zh-CN" sz="94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候选本轮生图失败</a:t>
              </a:r>
            </a:p>
            <a:p>
              <a:pPr algn="l">
                <a:lnSpc>
                  <a:spcPts val="1410"/>
                </a:lnSpc>
                <a:spcBef>
                  <a:spcPts val="540"/>
                </a:spcBef>
              </a:pPr>
              <a:r>
                <a:rPr lang="zh-CN" sz="94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主题匹配可能错配</a:t>
              </a:r>
            </a:p>
          </p:txBody>
        </p:sp>
        <p:sp>
          <p:nvSpPr>
            <p:cNvPr id="24" name="TextBox 24"/>
            <p:cNvSpPr/>
            <p:nvPr/>
          </p:nvSpPr>
          <p:spPr>
            <a:xfrm>
              <a:off x="8358188" y="2705100"/>
              <a:ext cx="2839688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40" b="1" dirty="0">
                  <a:solidFill>
                    <a:srgbClr val="B91C1C"/>
                  </a:solidFill>
                  <a:latin typeface="Arial"/>
                  <a:ea typeface="Microsoft YaHei"/>
                  <a:cs typeface="Arial"/>
                </a:rPr>
                <a:t>主题匹配不等于同款认证。</a:t>
              </a:r>
            </a:p>
          </p:txBody>
        </p:sp>
      </p:grpSp>
      <p:grpSp>
        <p:nvGrpSpPr>
          <p:cNvPr id="30" name="p6-real"/>
          <p:cNvGrpSpPr/>
          <p:nvPr/>
        </p:nvGrpSpPr>
        <p:grpSpPr>
          <a:xfrm>
            <a:off x="609600" y="3314700"/>
            <a:ext cx="10972800" cy="1409700"/>
            <a:chOff x="609600" y="3314700"/>
            <a:chExt cx="10972800" cy="1409700"/>
          </a:xfrm>
        </p:grpSpPr>
        <p:sp>
          <p:nvSpPr>
            <p:cNvPr id="26" name="Rectangle 26"/>
            <p:cNvSpPr/>
            <p:nvPr/>
          </p:nvSpPr>
          <p:spPr>
            <a:xfrm>
              <a:off x="609600" y="3314700"/>
              <a:ext cx="10972800" cy="1409700"/>
            </a:xfrm>
            <a:prstGeom prst="roundRect">
              <a:avLst>
                <a:gd name="adj" fmla="val 9459"/>
              </a:avLst>
            </a:prstGeom>
            <a:solidFill>
              <a:srgbClr val="EEF2FF"/>
            </a:solidFill>
            <a:ln w="15240">
              <a:solidFill>
                <a:srgbClr val="4338CA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Box 27"/>
            <p:cNvSpPr/>
            <p:nvPr/>
          </p:nvSpPr>
          <p:spPr>
            <a:xfrm>
              <a:off x="832104" y="348615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b="1" dirty="0">
                  <a:solidFill>
                    <a:srgbClr val="4338CA"/>
                  </a:solidFill>
                  <a:latin typeface="Arial"/>
                  <a:ea typeface="Microsoft YaHei"/>
                  <a:cs typeface="Arial"/>
                </a:rPr>
                <a:t>证据如何使用</a:t>
              </a:r>
            </a:p>
          </p:txBody>
        </p:sp>
        <p:sp>
          <p:nvSpPr>
            <p:cNvPr id="28" name="TextBox 28"/>
            <p:cNvSpPr/>
            <p:nvPr/>
          </p:nvSpPr>
          <p:spPr>
            <a:xfrm>
              <a:off x="832866" y="3740182"/>
              <a:ext cx="7451598" cy="472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768" rIns="0" bIns="0" anchor="t" anchorCtr="0">
              <a:no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历史成功说明机制曾运行，不能替代本轮结果。</a:t>
              </a:r>
            </a:p>
            <a:p>
              <a:pPr algn="l">
                <a:lnSpc>
                  <a:spcPts val="1575"/>
                </a:lnSpc>
                <a:spcBef>
                  <a:spcPts val="525"/>
                </a:spcBef>
              </a:pPr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本轮候选文字链路通过，图像等待失败，未切到演示。</a:t>
              </a:r>
            </a:p>
          </p:txBody>
        </p:sp>
        <p:sp>
          <p:nvSpPr>
            <p:cNvPr id="29" name="TextBox 29"/>
            <p:cNvSpPr/>
            <p:nvPr/>
          </p:nvSpPr>
          <p:spPr>
            <a:xfrm>
              <a:off x="833056" y="4349782"/>
              <a:ext cx="833847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无真实用户研究，不能宣称选礼效率或满意度提升。</a:t>
              </a:r>
            </a:p>
          </p:txBody>
        </p:sp>
      </p:grpSp>
      <p:grpSp>
        <p:nvGrpSpPr>
          <p:cNvPr id="35" name="p6-why"/>
          <p:cNvGrpSpPr/>
          <p:nvPr/>
        </p:nvGrpSpPr>
        <p:grpSpPr>
          <a:xfrm>
            <a:off x="609600" y="4991100"/>
            <a:ext cx="10972800" cy="1085850"/>
            <a:chOff x="609600" y="4991100"/>
            <a:chExt cx="10972800" cy="1085850"/>
          </a:xfrm>
        </p:grpSpPr>
        <p:sp>
          <p:nvSpPr>
            <p:cNvPr id="31" name="Rectangle 31"/>
            <p:cNvSpPr/>
            <p:nvPr/>
          </p:nvSpPr>
          <p:spPr>
            <a:xfrm>
              <a:off x="609600" y="4991100"/>
              <a:ext cx="10972800" cy="1085850"/>
            </a:xfrm>
            <a:prstGeom prst="roundRect">
              <a:avLst>
                <a:gd name="adj" fmla="val 12281"/>
              </a:avLst>
            </a:prstGeom>
            <a:solidFill>
              <a:srgbClr val="FFFFFF"/>
            </a:solidFill>
            <a:ln w="14288">
              <a:solidFill>
                <a:srgbClr val="CBD5E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TextBox 32"/>
            <p:cNvSpPr/>
            <p:nvPr/>
          </p:nvSpPr>
          <p:spPr>
            <a:xfrm>
              <a:off x="832104" y="5143500"/>
              <a:ext cx="27919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复现与原始结果入口</a:t>
              </a:r>
            </a:p>
          </p:txBody>
        </p:sp>
        <p:sp>
          <p:nvSpPr>
            <p:cNvPr id="33" name="TextBox 33"/>
            <p:cNvSpPr/>
            <p:nvPr/>
          </p:nvSpPr>
          <p:spPr>
            <a:xfrm>
              <a:off x="832866" y="5473732"/>
              <a:ext cx="65128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源码快照9887572随附ZIP；候选原始证据在提交材料中单独归档。</a:t>
              </a:r>
            </a:p>
          </p:txBody>
        </p:sp>
        <p:sp>
          <p:nvSpPr>
            <p:cNvPr id="34" name="TextBox 34"/>
            <p:cNvSpPr/>
            <p:nvPr/>
          </p:nvSpPr>
          <p:spPr>
            <a:xfrm>
              <a:off x="833438" y="5753100"/>
              <a:ext cx="705107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117整体仍有5项既有失败；19项新增通过不是整体全绿。</a:t>
              </a:r>
            </a:p>
          </p:txBody>
        </p:sp>
      </p:grp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5-title"/>
          <p:cNvGrpSpPr/>
          <p:nvPr/>
        </p:nvGrpSpPr>
        <p:grpSpPr>
          <a:xfrm>
            <a:off x="609600" y="539782"/>
            <a:ext cx="9360027" cy="450818"/>
            <a:chOff x="609600" y="539782"/>
            <a:chExt cx="9360027" cy="450818"/>
          </a:xfrm>
        </p:grpSpPr>
        <p:sp>
          <p:nvSpPr>
            <p:cNvPr id="2" name="Rectangle 2"/>
            <p:cNvSpPr/>
            <p:nvPr/>
          </p:nvSpPr>
          <p:spPr>
            <a:xfrm>
              <a:off x="609600" y="571500"/>
              <a:ext cx="57150" cy="419100"/>
            </a:xfrm>
            <a:prstGeom prst="roundRect">
              <a:avLst>
                <a:gd name="adj" fmla="val 50000"/>
              </a:avLst>
            </a:prstGeom>
            <a:solidFill>
              <a:srgbClr val="0E749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TextBox 3"/>
            <p:cNvSpPr/>
            <p:nvPr/>
          </p:nvSpPr>
          <p:spPr>
            <a:xfrm>
              <a:off x="788670" y="539782"/>
              <a:ext cx="918095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22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工程化设计</a:t>
              </a:r>
            </a:p>
          </p:txBody>
        </p:sp>
      </p:grpSp>
      <p:grpSp>
        <p:nvGrpSpPr>
          <p:cNvPr id="6" name="p5-kicker"/>
          <p:cNvGrpSpPr/>
          <p:nvPr/>
        </p:nvGrpSpPr>
        <p:grpSpPr>
          <a:xfrm>
            <a:off x="794576" y="939832"/>
            <a:ext cx="3239262" cy="213170"/>
            <a:chOff x="794576" y="939832"/>
            <a:chExt cx="3239262" cy="213170"/>
          </a:xfrm>
        </p:grpSpPr>
        <p:sp>
          <p:nvSpPr>
            <p:cNvPr id="5" name="TextBox 5"/>
            <p:cNvSpPr/>
            <p:nvPr/>
          </p:nvSpPr>
          <p:spPr>
            <a:xfrm>
              <a:off x="794576" y="939832"/>
              <a:ext cx="3239262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9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复现、异常、可靠性与可观测性</a:t>
              </a:r>
            </a:p>
          </p:txBody>
        </p:sp>
      </p:grpSp>
      <p:grpSp>
        <p:nvGrpSpPr>
          <p:cNvPr id="8" name="p5-rule"/>
          <p:cNvGrpSpPr/>
          <p:nvPr/>
        </p:nvGrpSpPr>
        <p:grpSpPr>
          <a:xfrm>
            <a:off x="609600" y="1228725"/>
            <a:ext cx="10972800" cy="9525"/>
            <a:chOff x="609600" y="1228725"/>
            <a:chExt cx="10972800" cy="9525"/>
          </a:xfrm>
        </p:grpSpPr>
        <p:sp>
          <p:nvSpPr>
            <p:cNvPr id="7" name="Line 7"/>
            <p:cNvSpPr/>
            <p:nvPr/>
          </p:nvSpPr>
          <p:spPr>
            <a:xfrm>
              <a:off x="609600" y="12287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4288">
              <a:solidFill>
                <a:srgbClr val="CBD5E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p5-foot"/>
          <p:cNvGrpSpPr/>
          <p:nvPr/>
        </p:nvGrpSpPr>
        <p:grpSpPr>
          <a:xfrm>
            <a:off x="604838" y="6553200"/>
            <a:ext cx="10982325" cy="176212"/>
            <a:chOff x="604838" y="6553200"/>
            <a:chExt cx="10982325" cy="176212"/>
          </a:xfrm>
        </p:grpSpPr>
        <p:sp>
          <p:nvSpPr>
            <p:cNvPr id="9" name="TextBox 9"/>
            <p:cNvSpPr/>
            <p:nvPr/>
          </p:nvSpPr>
          <p:spPr>
            <a:xfrm>
              <a:off x="604838" y="6553200"/>
              <a:ext cx="64529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GiftWise AI · 赛道 B</a:t>
              </a:r>
            </a:p>
          </p:txBody>
        </p:sp>
        <p:sp>
          <p:nvSpPr>
            <p:cNvPr id="10" name="TextBox 10"/>
            <p:cNvSpPr/>
            <p:nvPr/>
          </p:nvSpPr>
          <p:spPr>
            <a:xfrm>
              <a:off x="11274457" y="6553200"/>
              <a:ext cx="3127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00" b="1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6 / 8</a:t>
              </a:r>
            </a:p>
          </p:txBody>
        </p:sp>
      </p:grpSp>
      <p:grpSp>
        <p:nvGrpSpPr>
          <p:cNvPr id="18" name="p5c-read"/>
          <p:cNvGrpSpPr/>
          <p:nvPr/>
        </p:nvGrpSpPr>
        <p:grpSpPr>
          <a:xfrm>
            <a:off x="609600" y="1447800"/>
            <a:ext cx="5257800" cy="2191893"/>
            <a:chOff x="609600" y="1447800"/>
            <a:chExt cx="5257800" cy="2191893"/>
          </a:xfrm>
        </p:grpSpPr>
        <p:sp>
          <p:nvSpPr>
            <p:cNvPr id="12" name="Rectangle 12"/>
            <p:cNvSpPr/>
            <p:nvPr/>
          </p:nvSpPr>
          <p:spPr>
            <a:xfrm>
              <a:off x="609600" y="1447800"/>
              <a:ext cx="5257800" cy="2190750"/>
            </a:xfrm>
            <a:prstGeom prst="roundRect">
              <a:avLst>
                <a:gd name="adj" fmla="val 6087"/>
              </a:avLst>
            </a:prstGeom>
            <a:solidFill>
              <a:srgbClr val="FFFFFF"/>
            </a:solidFill>
            <a:ln w="17145">
              <a:solidFill>
                <a:srgbClr val="0F766E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09600" y="1447800"/>
              <a:ext cx="5257800" cy="400050"/>
            </a:xfrm>
            <a:prstGeom prst="roundRect">
              <a:avLst>
                <a:gd name="adj" fmla="val 33333"/>
              </a:avLst>
            </a:prstGeom>
            <a:solidFill>
              <a:srgbClr val="0F766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9600" y="1695450"/>
              <a:ext cx="5257800" cy="15240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/>
            <p:nvPr/>
          </p:nvSpPr>
          <p:spPr>
            <a:xfrm>
              <a:off x="832485" y="1574768"/>
              <a:ext cx="27253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可复现交付</a:t>
              </a:r>
            </a:p>
          </p:txBody>
        </p:sp>
        <p:grpSp>
          <p:nvGrpSpPr>
            <p:cNvPr id="54" name="TextBox 16"/>
            <p:cNvGrpSpPr/>
            <p:nvPr/>
          </p:nvGrpSpPr>
          <p:grpSpPr>
            <a:xfrm>
              <a:off x="828294" y="1917668"/>
              <a:ext cx="3580638" cy="1410938"/>
              <a:chOff x="828294" y="1917668"/>
              <a:chExt cx="3580638" cy="1410938"/>
            </a:xfrm>
          </p:grpSpPr>
          <p:sp>
            <p:nvSpPr>
              <p:cNvPr id="55" name="Freeform 25"/>
              <p:cNvSpPr/>
              <p:nvPr/>
            </p:nvSpPr>
            <p:spPr>
              <a:xfrm>
                <a:off x="833247" y="1917668"/>
                <a:ext cx="3575685" cy="1410843"/>
              </a:xfrm>
              <a:custGeom>
                <a:avLst/>
                <a:gdLst/>
                <a:ahLst/>
                <a:cxnLst/>
                <a:rect l="l" t="t" r="r" b="b"/>
                <a:pathLst>
                  <a:path w="3575685" h="1410843">
                    <a:moveTo>
                      <a:pt x="0" y="0"/>
                    </a:moveTo>
                    <a:lnTo>
                      <a:pt x="3575685" y="0"/>
                    </a:lnTo>
                    <a:lnTo>
                      <a:pt x="3575685" y="1410843"/>
                    </a:lnTo>
                    <a:lnTo>
                      <a:pt x="0" y="1410843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TextBox 32"/>
              <p:cNvSpPr/>
              <p:nvPr/>
            </p:nvSpPr>
            <p:spPr>
              <a:xfrm>
                <a:off x="828294" y="1981200"/>
                <a:ext cx="2330863" cy="1917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98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源码快照9887572与依赖说明</a:t>
                </a:r>
              </a:p>
            </p:txBody>
          </p:sp>
          <p:sp>
            <p:nvSpPr>
              <p:cNvPr id="57" name="TextBox 33"/>
              <p:cNvSpPr/>
              <p:nvPr/>
            </p:nvSpPr>
            <p:spPr>
              <a:xfrm>
                <a:off x="828294" y="2228850"/>
                <a:ext cx="2726626" cy="1917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98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运行文件与冻结工作区字节一致</a:t>
                </a:r>
              </a:p>
            </p:txBody>
          </p:sp>
          <p:sp>
            <p:nvSpPr>
              <p:cNvPr id="58" name="TextBox 34"/>
              <p:cNvSpPr/>
              <p:nvPr/>
            </p:nvSpPr>
            <p:spPr>
              <a:xfrm>
                <a:off x="828294" y="2412968"/>
                <a:ext cx="2499170" cy="4203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zh-CN" sz="98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模型密钥只在可信服务端</a:t>
                </a:r>
                <a:br>
                  <a:rPr lang="zh-CN" sz="98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</a:br>
                <a:r>
                  <a:rPr lang="zh-CN" sz="98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任务与选择按会话归属绑定</a:t>
                </a:r>
              </a:p>
            </p:txBody>
          </p:sp>
          <p:sp>
            <p:nvSpPr>
              <p:cNvPr id="59" name="TextBox 35"/>
              <p:cNvSpPr/>
              <p:nvPr/>
            </p:nvSpPr>
            <p:spPr>
              <a:xfrm>
                <a:off x="828294" y="2908268"/>
                <a:ext cx="3386995" cy="4203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zh-CN" sz="98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用户只能选择已通过检查的候选</a:t>
                </a:r>
                <a:br>
                  <a:rPr lang="zh-CN" sz="98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</a:br>
                <a:r>
                  <a:rPr lang="zh-CN" sz="98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原始结果绑定版本与关键配置</a:t>
                </a:r>
              </a:p>
            </p:txBody>
          </p:sp>
        </p:grpSp>
        <p:sp>
          <p:nvSpPr>
            <p:cNvPr id="17" name="TextBox 17"/>
            <p:cNvSpPr/>
            <p:nvPr/>
          </p:nvSpPr>
          <p:spPr>
            <a:xfrm>
              <a:off x="833247" y="3448050"/>
              <a:ext cx="251679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运行数据与外部依赖单独说明</a:t>
              </a:r>
            </a:p>
          </p:txBody>
        </p:sp>
      </p:grpSp>
      <p:grpSp>
        <p:nvGrpSpPr>
          <p:cNvPr id="26" name="p5c-edge"/>
          <p:cNvGrpSpPr/>
          <p:nvPr/>
        </p:nvGrpSpPr>
        <p:grpSpPr>
          <a:xfrm>
            <a:off x="6172200" y="1447800"/>
            <a:ext cx="5410200" cy="2203132"/>
            <a:chOff x="6172200" y="1447800"/>
            <a:chExt cx="5410200" cy="2203132"/>
          </a:xfrm>
        </p:grpSpPr>
        <p:sp>
          <p:nvSpPr>
            <p:cNvPr id="19" name="Rectangle 19"/>
            <p:cNvSpPr/>
            <p:nvPr/>
          </p:nvSpPr>
          <p:spPr>
            <a:xfrm>
              <a:off x="6172200" y="1447800"/>
              <a:ext cx="5410200" cy="2190750"/>
            </a:xfrm>
            <a:prstGeom prst="roundRect">
              <a:avLst>
                <a:gd name="adj" fmla="val 6087"/>
              </a:avLst>
            </a:prstGeom>
            <a:solidFill>
              <a:srgbClr val="FEF3C7"/>
            </a:solidFill>
            <a:ln w="17145">
              <a:solidFill>
                <a:srgbClr val="B45309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172200" y="1447800"/>
              <a:ext cx="5410200" cy="400050"/>
            </a:xfrm>
            <a:prstGeom prst="roundRect">
              <a:avLst>
                <a:gd name="adj" fmla="val 33333"/>
              </a:avLst>
            </a:prstGeom>
            <a:solidFill>
              <a:srgbClr val="B4530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72200" y="1695450"/>
              <a:ext cx="5410200" cy="152400"/>
            </a:xfrm>
            <a:prstGeom prst="rect">
              <a:avLst/>
            </a:prstGeom>
            <a:solidFill>
              <a:srgbClr val="B4530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Box 22"/>
            <p:cNvSpPr/>
            <p:nvPr/>
          </p:nvSpPr>
          <p:spPr>
            <a:xfrm>
              <a:off x="6395085" y="1574768"/>
              <a:ext cx="21060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异常与失败处理</a:t>
              </a:r>
            </a:p>
          </p:txBody>
        </p:sp>
        <p:grpSp>
          <p:nvGrpSpPr>
            <p:cNvPr id="82" name="TextBox 23"/>
            <p:cNvGrpSpPr/>
            <p:nvPr/>
          </p:nvGrpSpPr>
          <p:grpSpPr>
            <a:xfrm>
              <a:off x="6390894" y="1917668"/>
              <a:ext cx="2889885" cy="1245870"/>
              <a:chOff x="6390894" y="1917668"/>
              <a:chExt cx="2889885" cy="1245870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6395847" y="1917668"/>
                <a:ext cx="2884932" cy="1182243"/>
              </a:xfrm>
              <a:custGeom>
                <a:avLst/>
                <a:gdLst/>
                <a:ahLst/>
                <a:cxnLst/>
                <a:rect l="l" t="t" r="r" b="b"/>
                <a:pathLst>
                  <a:path w="2884932" h="1182243">
                    <a:moveTo>
                      <a:pt x="0" y="0"/>
                    </a:moveTo>
                    <a:lnTo>
                      <a:pt x="2884932" y="0"/>
                    </a:lnTo>
                    <a:lnTo>
                      <a:pt x="2884932" y="1182243"/>
                    </a:lnTo>
                    <a:lnTo>
                      <a:pt x="0" y="1182243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" name="TextBox 79"/>
              <p:cNvSpPr/>
              <p:nvPr/>
            </p:nvSpPr>
            <p:spPr>
              <a:xfrm>
                <a:off x="6390894" y="1917668"/>
                <a:ext cx="1503712" cy="4203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zh-CN" sz="98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模型输出需结构校验</a:t>
                </a:r>
                <a:br>
                  <a:rPr lang="zh-CN" sz="98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</a:br>
                <a:r>
                  <a:rPr lang="zh-CN" sz="98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业务修订全局最多一次</a:t>
                </a:r>
              </a:p>
            </p:txBody>
          </p:sp>
          <p:sp>
            <p:nvSpPr>
              <p:cNvPr id="80" name="TextBox 80"/>
              <p:cNvSpPr/>
              <p:nvPr/>
            </p:nvSpPr>
            <p:spPr>
              <a:xfrm>
                <a:off x="6390894" y="2412968"/>
                <a:ext cx="1510665" cy="4203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zh-CN" sz="98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重试与业务修订分开</a:t>
                </a:r>
                <a:br>
                  <a:rPr lang="zh-CN" sz="98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</a:br>
                <a:r>
                  <a:rPr lang="zh-CN" sz="98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图像超时保留失败</a:t>
                </a:r>
              </a:p>
            </p:txBody>
          </p:sp>
          <p:sp>
            <p:nvSpPr>
              <p:cNvPr id="81" name="TextBox 81"/>
              <p:cNvSpPr/>
              <p:nvPr/>
            </p:nvSpPr>
            <p:spPr>
              <a:xfrm>
                <a:off x="6390894" y="2971800"/>
                <a:ext cx="1197292" cy="1917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98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旧图不顶替本轮</a:t>
                </a:r>
              </a:p>
            </p:txBody>
          </p:sp>
        </p:grpSp>
        <p:sp>
          <p:nvSpPr>
            <p:cNvPr id="24" name="TextBox 24"/>
            <p:cNvSpPr/>
            <p:nvPr/>
          </p:nvSpPr>
          <p:spPr>
            <a:xfrm>
              <a:off x="6395847" y="3238500"/>
              <a:ext cx="28981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8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任务恢复与多副本尚未完成</a:t>
              </a:r>
            </a:p>
          </p:txBody>
        </p:sp>
        <p:sp>
          <p:nvSpPr>
            <p:cNvPr id="25" name="TextBox 25"/>
            <p:cNvSpPr/>
            <p:nvPr/>
          </p:nvSpPr>
          <p:spPr>
            <a:xfrm>
              <a:off x="6396038" y="3467100"/>
              <a:ext cx="1953863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40" b="1" dirty="0">
                  <a:solidFill>
                    <a:srgbClr val="B91C1C"/>
                  </a:solidFill>
                  <a:latin typeface="Arial"/>
                  <a:ea typeface="Microsoft YaHei"/>
                  <a:cs typeface="Arial"/>
                </a:rPr>
                <a:t>未知状态不标可用</a:t>
              </a:r>
            </a:p>
          </p:txBody>
        </p:sp>
      </p:grpSp>
      <p:grpSp>
        <p:nvGrpSpPr>
          <p:cNvPr id="31" name="p5c-login"/>
          <p:cNvGrpSpPr/>
          <p:nvPr/>
        </p:nvGrpSpPr>
        <p:grpSpPr>
          <a:xfrm>
            <a:off x="609600" y="3733800"/>
            <a:ext cx="10972800" cy="1257300"/>
            <a:chOff x="609600" y="3733800"/>
            <a:chExt cx="10972800" cy="1257300"/>
          </a:xfrm>
        </p:grpSpPr>
        <p:sp>
          <p:nvSpPr>
            <p:cNvPr id="27" name="Rectangle 27"/>
            <p:cNvSpPr/>
            <p:nvPr/>
          </p:nvSpPr>
          <p:spPr>
            <a:xfrm>
              <a:off x="609600" y="3733800"/>
              <a:ext cx="10972800" cy="1257300"/>
            </a:xfrm>
            <a:prstGeom prst="roundRect">
              <a:avLst>
                <a:gd name="adj" fmla="val 10606"/>
              </a:avLst>
            </a:prstGeom>
            <a:solidFill>
              <a:srgbClr val="FFFFFF"/>
            </a:solidFill>
            <a:ln w="15240">
              <a:solidFill>
                <a:srgbClr val="4338CA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Box 28"/>
            <p:cNvSpPr/>
            <p:nvPr/>
          </p:nvSpPr>
          <p:spPr>
            <a:xfrm>
              <a:off x="832866" y="3911632"/>
              <a:ext cx="50974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b="1" dirty="0">
                  <a:solidFill>
                    <a:srgbClr val="4338CA"/>
                  </a:solidFill>
                  <a:latin typeface="Arial"/>
                  <a:ea typeface="Microsoft YaHei"/>
                  <a:cs typeface="Arial"/>
                </a:rPr>
                <a:t>运行证据</a:t>
              </a:r>
            </a:p>
          </p:txBody>
        </p:sp>
        <p:sp>
          <p:nvSpPr>
            <p:cNvPr id="29" name="TextBox 29"/>
            <p:cNvSpPr/>
            <p:nvPr/>
          </p:nvSpPr>
          <p:spPr>
            <a:xfrm>
              <a:off x="833056" y="4102132"/>
              <a:ext cx="6346793" cy="617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LLM账本：用途、模型、耗时与usage。</a:t>
              </a:r>
              <a:b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</a:br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媒体记录：task、asset与内容哈希。</a:t>
              </a:r>
              <a:b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</a:br>
              <a:r>
                <a:rPr lang="zh-CN" sz="101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历史、候选与冻结运行分开归档。</a:t>
              </a:r>
            </a:p>
          </p:txBody>
        </p:sp>
        <p:sp>
          <p:nvSpPr>
            <p:cNvPr id="30" name="TextBox 30"/>
            <p:cNvSpPr/>
            <p:nvPr/>
          </p:nvSpPr>
          <p:spPr>
            <a:xfrm>
              <a:off x="833438" y="4781550"/>
              <a:ext cx="8185023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40" b="1" dirty="0">
                  <a:solidFill>
                    <a:srgbClr val="B91C1C"/>
                  </a:solidFill>
                  <a:latin typeface="Arial"/>
                  <a:ea typeface="Microsoft YaHei"/>
                  <a:cs typeface="Arial"/>
                </a:rPr>
                <a:t>生图不写LLM账本；金额仍为not_measured。</a:t>
              </a:r>
            </a:p>
          </p:txBody>
        </p:sp>
      </p:grpSp>
      <p:grpSp>
        <p:nvGrpSpPr>
          <p:cNvPr id="36" name="p5c-k8s"/>
          <p:cNvGrpSpPr/>
          <p:nvPr/>
        </p:nvGrpSpPr>
        <p:grpSpPr>
          <a:xfrm>
            <a:off x="609600" y="5105400"/>
            <a:ext cx="10972800" cy="593693"/>
            <a:chOff x="609600" y="5105400"/>
            <a:chExt cx="10972800" cy="593693"/>
          </a:xfrm>
        </p:grpSpPr>
        <p:sp>
          <p:nvSpPr>
            <p:cNvPr id="32" name="Rectangle 32"/>
            <p:cNvSpPr/>
            <p:nvPr/>
          </p:nvSpPr>
          <p:spPr>
            <a:xfrm>
              <a:off x="609600" y="5105400"/>
              <a:ext cx="10972800" cy="590550"/>
            </a:xfrm>
            <a:prstGeom prst="roundRect">
              <a:avLst>
                <a:gd name="adj" fmla="val 22581"/>
              </a:avLst>
            </a:prstGeom>
            <a:solidFill>
              <a:srgbClr val="FEF2F2"/>
            </a:solidFill>
            <a:ln w="15240">
              <a:solidFill>
                <a:srgbClr val="B91C1C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TextBox 33"/>
            <p:cNvSpPr/>
            <p:nvPr/>
          </p:nvSpPr>
          <p:spPr>
            <a:xfrm>
              <a:off x="832866" y="5187982"/>
              <a:ext cx="2606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b="1" dirty="0">
                  <a:solidFill>
                    <a:srgbClr val="B91C1C"/>
                  </a:solidFill>
                  <a:latin typeface="Arial"/>
                  <a:ea typeface="Microsoft YaHei"/>
                  <a:cs typeface="Arial"/>
                </a:rPr>
                <a:t>可靠性取舍</a:t>
              </a:r>
            </a:p>
          </p:txBody>
        </p:sp>
        <p:sp>
          <p:nvSpPr>
            <p:cNvPr id="34" name="TextBox 34"/>
            <p:cNvSpPr/>
            <p:nvPr/>
          </p:nvSpPr>
          <p:spPr>
            <a:xfrm>
              <a:off x="833247" y="5391150"/>
              <a:ext cx="606056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冻结演示：任务与选择在进程内存；不承诺重启恢复与安全多副本。</a:t>
              </a:r>
            </a:p>
          </p:txBody>
        </p:sp>
        <p:sp>
          <p:nvSpPr>
            <p:cNvPr id="35" name="TextBox 35"/>
            <p:cNvSpPr/>
            <p:nvPr/>
          </p:nvSpPr>
          <p:spPr>
            <a:xfrm>
              <a:off x="833438" y="5537168"/>
              <a:ext cx="48576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82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先外置共享状态，再验证恢复与扩容效果（尚未实现）。</a:t>
              </a:r>
            </a:p>
          </p:txBody>
        </p:sp>
      </p:grpSp>
      <p:grpSp>
        <p:nvGrpSpPr>
          <p:cNvPr id="53" name="p5c-eng"/>
          <p:cNvGrpSpPr/>
          <p:nvPr/>
        </p:nvGrpSpPr>
        <p:grpSpPr>
          <a:xfrm>
            <a:off x="609600" y="5810250"/>
            <a:ext cx="10972800" cy="704850"/>
            <a:chOff x="609600" y="5810250"/>
            <a:chExt cx="10972800" cy="704850"/>
          </a:xfrm>
        </p:grpSpPr>
        <p:sp>
          <p:nvSpPr>
            <p:cNvPr id="37" name="Rectangle 37"/>
            <p:cNvSpPr/>
            <p:nvPr/>
          </p:nvSpPr>
          <p:spPr>
            <a:xfrm>
              <a:off x="609600" y="5810250"/>
              <a:ext cx="2628900" cy="704850"/>
            </a:xfrm>
            <a:prstGeom prst="roundRect">
              <a:avLst>
                <a:gd name="adj" fmla="val 13514"/>
              </a:avLst>
            </a:prstGeom>
            <a:solidFill>
              <a:srgbClr val="FFFFFF"/>
            </a:solidFill>
            <a:ln w="13335">
              <a:solidFill>
                <a:srgbClr val="0F766E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TextBox 38"/>
            <p:cNvSpPr/>
            <p:nvPr/>
          </p:nvSpPr>
          <p:spPr>
            <a:xfrm>
              <a:off x="757238" y="5886450"/>
              <a:ext cx="3599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00" b="1" dirty="0">
                  <a:solidFill>
                    <a:srgbClr val="0F766E"/>
                  </a:solidFill>
                  <a:latin typeface="Arial"/>
                  <a:ea typeface="Microsoft YaHei"/>
                  <a:cs typeface="Arial"/>
                </a:rPr>
                <a:t>复现</a:t>
              </a:r>
            </a:p>
          </p:txBody>
        </p:sp>
        <p:sp>
          <p:nvSpPr>
            <p:cNvPr id="39" name="TextBox 39"/>
            <p:cNvSpPr/>
            <p:nvPr/>
          </p:nvSpPr>
          <p:spPr>
            <a:xfrm>
              <a:off x="757238" y="6089618"/>
              <a:ext cx="1727073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79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精确源包、版本与依赖</a:t>
              </a:r>
            </a:p>
          </p:txBody>
        </p:sp>
        <p:sp>
          <p:nvSpPr>
            <p:cNvPr id="40" name="TextBox 40"/>
            <p:cNvSpPr/>
            <p:nvPr/>
          </p:nvSpPr>
          <p:spPr>
            <a:xfrm>
              <a:off x="757238" y="6242018"/>
              <a:ext cx="2104644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79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不以旧tag代替工作区快照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390900" y="5810250"/>
              <a:ext cx="2628900" cy="704850"/>
            </a:xfrm>
            <a:prstGeom prst="roundRect">
              <a:avLst>
                <a:gd name="adj" fmla="val 13514"/>
              </a:avLst>
            </a:prstGeom>
            <a:solidFill>
              <a:srgbClr val="FFFFFF"/>
            </a:solidFill>
            <a:ln w="13335">
              <a:solidFill>
                <a:srgbClr val="B45309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TextBox 42"/>
            <p:cNvSpPr/>
            <p:nvPr/>
          </p:nvSpPr>
          <p:spPr>
            <a:xfrm>
              <a:off x="3538538" y="5886450"/>
              <a:ext cx="60226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0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异常处理</a:t>
              </a:r>
            </a:p>
          </p:txBody>
        </p:sp>
        <p:sp>
          <p:nvSpPr>
            <p:cNvPr id="43" name="TextBox 43"/>
            <p:cNvSpPr/>
            <p:nvPr/>
          </p:nvSpPr>
          <p:spPr>
            <a:xfrm>
              <a:off x="3538538" y="6089618"/>
              <a:ext cx="2030158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79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失败码与分层处理</a:t>
              </a:r>
            </a:p>
          </p:txBody>
        </p:sp>
        <p:sp>
          <p:nvSpPr>
            <p:cNvPr id="44" name="TextBox 44"/>
            <p:cNvSpPr/>
            <p:nvPr/>
          </p:nvSpPr>
          <p:spPr>
            <a:xfrm>
              <a:off x="3538538" y="6242018"/>
              <a:ext cx="1942719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79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全局一次业务修订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172200" y="5810250"/>
              <a:ext cx="2628900" cy="704850"/>
            </a:xfrm>
            <a:prstGeom prst="roundRect">
              <a:avLst>
                <a:gd name="adj" fmla="val 13514"/>
              </a:avLst>
            </a:prstGeom>
            <a:solidFill>
              <a:srgbClr val="FFFFFF"/>
            </a:solidFill>
            <a:ln w="13335">
              <a:solidFill>
                <a:srgbClr val="4338CA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TextBox 46"/>
            <p:cNvSpPr/>
            <p:nvPr/>
          </p:nvSpPr>
          <p:spPr>
            <a:xfrm>
              <a:off x="6319838" y="5886450"/>
              <a:ext cx="4811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00" b="1" dirty="0">
                  <a:solidFill>
                    <a:srgbClr val="4338CA"/>
                  </a:solidFill>
                  <a:latin typeface="Arial"/>
                  <a:ea typeface="Microsoft YaHei"/>
                  <a:cs typeface="Arial"/>
                </a:rPr>
                <a:t>可靠性</a:t>
              </a:r>
            </a:p>
          </p:txBody>
        </p:sp>
        <p:sp>
          <p:nvSpPr>
            <p:cNvPr id="47" name="TextBox 47"/>
            <p:cNvSpPr/>
            <p:nvPr/>
          </p:nvSpPr>
          <p:spPr>
            <a:xfrm>
              <a:off x="6319838" y="6089618"/>
              <a:ext cx="1493139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79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当前单实例，状态未外置</a:t>
              </a:r>
            </a:p>
          </p:txBody>
        </p:sp>
        <p:sp>
          <p:nvSpPr>
            <p:cNvPr id="48" name="TextBox 48"/>
            <p:cNvSpPr/>
            <p:nvPr/>
          </p:nvSpPr>
          <p:spPr>
            <a:xfrm>
              <a:off x="6319838" y="6242018"/>
              <a:ext cx="1742980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79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恢复能力尚待实现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953500" y="5810250"/>
              <a:ext cx="2628900" cy="704850"/>
            </a:xfrm>
            <a:prstGeom prst="roundRect">
              <a:avLst>
                <a:gd name="adj" fmla="val 13514"/>
              </a:avLst>
            </a:prstGeom>
            <a:solidFill>
              <a:srgbClr val="FFFFFF"/>
            </a:solidFill>
            <a:ln w="13335">
              <a:solidFill>
                <a:srgbClr val="6D28D9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TextBox 50"/>
            <p:cNvSpPr/>
            <p:nvPr/>
          </p:nvSpPr>
          <p:spPr>
            <a:xfrm>
              <a:off x="9101138" y="5886450"/>
              <a:ext cx="60226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00" b="1" dirty="0">
                  <a:solidFill>
                    <a:srgbClr val="6D28D9"/>
                  </a:solidFill>
                  <a:latin typeface="Arial"/>
                  <a:ea typeface="Microsoft YaHei"/>
                  <a:cs typeface="Arial"/>
                </a:rPr>
                <a:t>可观测性</a:t>
              </a:r>
            </a:p>
          </p:txBody>
        </p:sp>
        <p:sp>
          <p:nvSpPr>
            <p:cNvPr id="51" name="TextBox 51"/>
            <p:cNvSpPr/>
            <p:nvPr/>
          </p:nvSpPr>
          <p:spPr>
            <a:xfrm>
              <a:off x="9101138" y="6089618"/>
              <a:ext cx="1732407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79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逐次调用与媒体记录</a:t>
              </a:r>
            </a:p>
          </p:txBody>
        </p:sp>
        <p:sp>
          <p:nvSpPr>
            <p:cNvPr id="52" name="TextBox 52"/>
            <p:cNvSpPr/>
            <p:nvPr/>
          </p:nvSpPr>
          <p:spPr>
            <a:xfrm>
              <a:off x="9101138" y="6242018"/>
              <a:ext cx="2296001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79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原始证据可回查</a:t>
              </a:r>
            </a:p>
          </p:txBody>
        </p:sp>
      </p:grp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0-title"/>
          <p:cNvGrpSpPr/>
          <p:nvPr/>
        </p:nvGrpSpPr>
        <p:grpSpPr>
          <a:xfrm>
            <a:off x="609600" y="539782"/>
            <a:ext cx="7837170" cy="450818"/>
            <a:chOff x="609600" y="539782"/>
            <a:chExt cx="7837170" cy="450818"/>
          </a:xfrm>
        </p:grpSpPr>
        <p:sp>
          <p:nvSpPr>
            <p:cNvPr id="2" name="Rectangle 2"/>
            <p:cNvSpPr/>
            <p:nvPr/>
          </p:nvSpPr>
          <p:spPr>
            <a:xfrm>
              <a:off x="609600" y="571500"/>
              <a:ext cx="57150" cy="419100"/>
            </a:xfrm>
            <a:prstGeom prst="roundRect">
              <a:avLst>
                <a:gd name="adj" fmla="val 50000"/>
              </a:avLst>
            </a:prstGeom>
            <a:solidFill>
              <a:srgbClr val="0E749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TextBox 3"/>
            <p:cNvSpPr/>
            <p:nvPr/>
          </p:nvSpPr>
          <p:spPr>
            <a:xfrm>
              <a:off x="788670" y="539782"/>
              <a:ext cx="76581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22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成本、性能与取舍</a:t>
              </a:r>
            </a:p>
          </p:txBody>
        </p:sp>
      </p:grpSp>
      <p:grpSp>
        <p:nvGrpSpPr>
          <p:cNvPr id="6" name="p10-kicker"/>
          <p:cNvGrpSpPr/>
          <p:nvPr/>
        </p:nvGrpSpPr>
        <p:grpSpPr>
          <a:xfrm>
            <a:off x="794576" y="939832"/>
            <a:ext cx="3679412" cy="213170"/>
            <a:chOff x="794576" y="939832"/>
            <a:chExt cx="3679412" cy="213170"/>
          </a:xfrm>
        </p:grpSpPr>
        <p:sp>
          <p:nvSpPr>
            <p:cNvPr id="5" name="TextBox 5"/>
            <p:cNvSpPr/>
            <p:nvPr/>
          </p:nvSpPr>
          <p:spPr>
            <a:xfrm>
              <a:off x="794576" y="939832"/>
              <a:ext cx="3679412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12732" rIns="0" bIns="0" anchor="t" anchorCtr="0">
              <a:noAutofit/>
            </a:bodyPr>
            <a:lstStyle/>
            <a:p>
              <a:pPr algn="l"/>
              <a:r>
                <a:rPr lang="zh-CN" sz="109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单次候选实验；接口wall time，不是p95</a:t>
              </a:r>
            </a:p>
          </p:txBody>
        </p:sp>
      </p:grpSp>
      <p:grpSp>
        <p:nvGrpSpPr>
          <p:cNvPr id="8" name="p10-rule"/>
          <p:cNvGrpSpPr/>
          <p:nvPr/>
        </p:nvGrpSpPr>
        <p:grpSpPr>
          <a:xfrm>
            <a:off x="609600" y="1228725"/>
            <a:ext cx="10972800" cy="9525"/>
            <a:chOff x="609600" y="1228725"/>
            <a:chExt cx="10972800" cy="9525"/>
          </a:xfrm>
        </p:grpSpPr>
        <p:sp>
          <p:nvSpPr>
            <p:cNvPr id="7" name="Line 7"/>
            <p:cNvSpPr/>
            <p:nvPr/>
          </p:nvSpPr>
          <p:spPr>
            <a:xfrm>
              <a:off x="609600" y="12287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4288">
              <a:solidFill>
                <a:srgbClr val="CBD5E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p10-foot"/>
          <p:cNvGrpSpPr/>
          <p:nvPr/>
        </p:nvGrpSpPr>
        <p:grpSpPr>
          <a:xfrm>
            <a:off x="604838" y="6553200"/>
            <a:ext cx="10982325" cy="176212"/>
            <a:chOff x="604838" y="6553200"/>
            <a:chExt cx="10982325" cy="176212"/>
          </a:xfrm>
        </p:grpSpPr>
        <p:sp>
          <p:nvSpPr>
            <p:cNvPr id="9" name="TextBox 9"/>
            <p:cNvSpPr/>
            <p:nvPr/>
          </p:nvSpPr>
          <p:spPr>
            <a:xfrm>
              <a:off x="604838" y="6553200"/>
              <a:ext cx="42500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GiftWise AI · 赛道 B</a:t>
              </a:r>
            </a:p>
          </p:txBody>
        </p:sp>
        <p:sp>
          <p:nvSpPr>
            <p:cNvPr id="10" name="TextBox 10"/>
            <p:cNvSpPr/>
            <p:nvPr/>
          </p:nvSpPr>
          <p:spPr>
            <a:xfrm>
              <a:off x="11207115" y="6553200"/>
              <a:ext cx="38004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00" b="1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7 / 8</a:t>
              </a:r>
            </a:p>
          </p:txBody>
        </p:sp>
      </p:grpSp>
      <p:grpSp>
        <p:nvGrpSpPr>
          <p:cNvPr id="16" name="p9-head"/>
          <p:cNvGrpSpPr/>
          <p:nvPr/>
        </p:nvGrpSpPr>
        <p:grpSpPr>
          <a:xfrm>
            <a:off x="609600" y="1428750"/>
            <a:ext cx="10972800" cy="381000"/>
            <a:chOff x="609600" y="1428750"/>
            <a:chExt cx="10972800" cy="381000"/>
          </a:xfrm>
        </p:grpSpPr>
        <p:sp>
          <p:nvSpPr>
            <p:cNvPr id="12" name="Rectangle 12"/>
            <p:cNvSpPr/>
            <p:nvPr/>
          </p:nvSpPr>
          <p:spPr>
            <a:xfrm>
              <a:off x="609600" y="1428750"/>
              <a:ext cx="10972800" cy="381000"/>
            </a:xfrm>
            <a:prstGeom prst="roundRect">
              <a:avLst>
                <a:gd name="adj" fmla="val 20000"/>
              </a:avLst>
            </a:prstGeom>
            <a:solidFill>
              <a:srgbClr val="4338C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Box 13"/>
            <p:cNvSpPr/>
            <p:nvPr/>
          </p:nvSpPr>
          <p:spPr>
            <a:xfrm>
              <a:off x="832866" y="154943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项目</a:t>
              </a:r>
            </a:p>
          </p:txBody>
        </p:sp>
        <p:sp>
          <p:nvSpPr>
            <p:cNvPr id="14" name="TextBox 14"/>
            <p:cNvSpPr/>
            <p:nvPr/>
          </p:nvSpPr>
          <p:spPr>
            <a:xfrm>
              <a:off x="2852166" y="1549432"/>
              <a:ext cx="13121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观测</a:t>
              </a:r>
            </a:p>
          </p:txBody>
        </p:sp>
        <p:sp>
          <p:nvSpPr>
            <p:cNvPr id="15" name="TextBox 15"/>
            <p:cNvSpPr/>
            <p:nvPr/>
          </p:nvSpPr>
          <p:spPr>
            <a:xfrm>
              <a:off x="6281166" y="154943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说明与边界</a:t>
              </a:r>
            </a:p>
          </p:txBody>
        </p:sp>
      </p:grpSp>
      <p:grpSp>
        <p:nvGrpSpPr>
          <p:cNvPr id="21" name="p9-r1"/>
          <p:cNvGrpSpPr/>
          <p:nvPr/>
        </p:nvGrpSpPr>
        <p:grpSpPr>
          <a:xfrm>
            <a:off x="609600" y="1847850"/>
            <a:ext cx="10972800" cy="438150"/>
            <a:chOff x="609600" y="1847850"/>
            <a:chExt cx="10972800" cy="438150"/>
          </a:xfrm>
        </p:grpSpPr>
        <p:sp>
          <p:nvSpPr>
            <p:cNvPr id="17" name="Rectangle 17"/>
            <p:cNvSpPr/>
            <p:nvPr/>
          </p:nvSpPr>
          <p:spPr>
            <a:xfrm>
              <a:off x="609600" y="1847850"/>
              <a:ext cx="10972800" cy="4381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7620">
              <a:solidFill>
                <a:srgbClr val="CBD5E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Box 18"/>
            <p:cNvSpPr/>
            <p:nvPr/>
          </p:nvSpPr>
          <p:spPr>
            <a:xfrm>
              <a:off x="833056" y="1987582"/>
              <a:ext cx="55416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1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调用代价</a:t>
              </a:r>
            </a:p>
          </p:txBody>
        </p:sp>
        <p:sp>
          <p:nvSpPr>
            <p:cNvPr id="19" name="TextBox 19"/>
            <p:cNvSpPr/>
            <p:nvPr/>
          </p:nvSpPr>
          <p:spPr>
            <a:xfrm>
              <a:off x="2852547" y="2000250"/>
              <a:ext cx="108508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4次LLM</a:t>
              </a:r>
            </a:p>
          </p:txBody>
        </p:sp>
        <p:sp>
          <p:nvSpPr>
            <p:cNvPr id="20" name="TextBox 20"/>
            <p:cNvSpPr/>
            <p:nvPr/>
          </p:nvSpPr>
          <p:spPr>
            <a:xfrm>
              <a:off x="6281547" y="2000250"/>
              <a:ext cx="384238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16,697 tokens；4条账本均为ok</a:t>
              </a:r>
            </a:p>
          </p:txBody>
        </p:sp>
      </p:grpSp>
      <p:grpSp>
        <p:nvGrpSpPr>
          <p:cNvPr id="26" name="p9-r2"/>
          <p:cNvGrpSpPr/>
          <p:nvPr/>
        </p:nvGrpSpPr>
        <p:grpSpPr>
          <a:xfrm>
            <a:off x="609600" y="2305050"/>
            <a:ext cx="10972800" cy="438150"/>
            <a:chOff x="609600" y="2305050"/>
            <a:chExt cx="10972800" cy="438150"/>
          </a:xfrm>
        </p:grpSpPr>
        <p:sp>
          <p:nvSpPr>
            <p:cNvPr id="22" name="Rectangle 22"/>
            <p:cNvSpPr/>
            <p:nvPr/>
          </p:nvSpPr>
          <p:spPr>
            <a:xfrm>
              <a:off x="609600" y="2305050"/>
              <a:ext cx="10972800" cy="438150"/>
            </a:xfrm>
            <a:prstGeom prst="roundRect">
              <a:avLst>
                <a:gd name="adj" fmla="val 13043"/>
              </a:avLst>
            </a:prstGeom>
            <a:solidFill>
              <a:srgbClr val="F1F5F9"/>
            </a:solidFill>
            <a:ln w="7620">
              <a:solidFill>
                <a:srgbClr val="CBD5E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Box 23"/>
            <p:cNvSpPr/>
            <p:nvPr/>
          </p:nvSpPr>
          <p:spPr>
            <a:xfrm>
              <a:off x="833056" y="2444782"/>
              <a:ext cx="55416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10" b="1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-</a:t>
              </a:r>
            </a:p>
          </p:txBody>
        </p:sp>
        <p:sp>
          <p:nvSpPr>
            <p:cNvPr id="24" name="TextBox 24"/>
            <p:cNvSpPr/>
            <p:nvPr/>
          </p:nvSpPr>
          <p:spPr>
            <a:xfrm>
              <a:off x="2852547" y="2457450"/>
              <a:ext cx="158781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金额未测</a:t>
              </a:r>
            </a:p>
          </p:txBody>
        </p:sp>
        <p:sp>
          <p:nvSpPr>
            <p:cNvPr id="25" name="TextBox 25"/>
            <p:cNvSpPr/>
            <p:nvPr/>
          </p:nvSpPr>
          <p:spPr>
            <a:xfrm>
              <a:off x="6281547" y="2457450"/>
              <a:ext cx="415899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单价未核验，不折算货币金额</a:t>
              </a:r>
            </a:p>
          </p:txBody>
        </p:sp>
      </p:grpSp>
      <p:grpSp>
        <p:nvGrpSpPr>
          <p:cNvPr id="31" name="p9-r3"/>
          <p:cNvGrpSpPr/>
          <p:nvPr/>
        </p:nvGrpSpPr>
        <p:grpSpPr>
          <a:xfrm>
            <a:off x="609600" y="2762250"/>
            <a:ext cx="10972800" cy="438150"/>
            <a:chOff x="609600" y="2762250"/>
            <a:chExt cx="10972800" cy="438150"/>
          </a:xfrm>
        </p:grpSpPr>
        <p:sp>
          <p:nvSpPr>
            <p:cNvPr id="27" name="Rectangle 27"/>
            <p:cNvSpPr/>
            <p:nvPr/>
          </p:nvSpPr>
          <p:spPr>
            <a:xfrm>
              <a:off x="609600" y="2762250"/>
              <a:ext cx="10972800" cy="4381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7620">
              <a:solidFill>
                <a:srgbClr val="CBD5E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Box 28"/>
            <p:cNvSpPr/>
            <p:nvPr/>
          </p:nvSpPr>
          <p:spPr>
            <a:xfrm>
              <a:off x="833056" y="2901982"/>
              <a:ext cx="854297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1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接口耗时</a:t>
              </a:r>
            </a:p>
          </p:txBody>
        </p:sp>
        <p:sp>
          <p:nvSpPr>
            <p:cNvPr id="29" name="TextBox 29"/>
            <p:cNvSpPr/>
            <p:nvPr/>
          </p:nvSpPr>
          <p:spPr>
            <a:xfrm>
              <a:off x="2852547" y="2914650"/>
              <a:ext cx="93335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解析4.349s</a:t>
              </a:r>
            </a:p>
          </p:txBody>
        </p:sp>
        <p:sp>
          <p:nvSpPr>
            <p:cNvPr id="30" name="TextBox 30"/>
            <p:cNvSpPr/>
            <p:nvPr/>
          </p:nvSpPr>
          <p:spPr>
            <a:xfrm>
              <a:off x="6281547" y="2914650"/>
              <a:ext cx="372370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推荐40.792s；接口耗时包括文字方向等流程</a:t>
              </a:r>
            </a:p>
          </p:txBody>
        </p:sp>
      </p:grpSp>
      <p:grpSp>
        <p:nvGrpSpPr>
          <p:cNvPr id="36" name="p9-r4"/>
          <p:cNvGrpSpPr/>
          <p:nvPr/>
        </p:nvGrpSpPr>
        <p:grpSpPr>
          <a:xfrm>
            <a:off x="609600" y="3219450"/>
            <a:ext cx="10972800" cy="438150"/>
            <a:chOff x="609600" y="3219450"/>
            <a:chExt cx="10972800" cy="438150"/>
          </a:xfrm>
        </p:grpSpPr>
        <p:sp>
          <p:nvSpPr>
            <p:cNvPr id="32" name="Rectangle 32"/>
            <p:cNvSpPr/>
            <p:nvPr/>
          </p:nvSpPr>
          <p:spPr>
            <a:xfrm>
              <a:off x="609600" y="3219450"/>
              <a:ext cx="10972800" cy="438150"/>
            </a:xfrm>
            <a:prstGeom prst="roundRect">
              <a:avLst>
                <a:gd name="adj" fmla="val 13043"/>
              </a:avLst>
            </a:prstGeom>
            <a:solidFill>
              <a:srgbClr val="F1F5F9"/>
            </a:solidFill>
            <a:ln w="7620">
              <a:solidFill>
                <a:srgbClr val="CBD5E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TextBox 33"/>
            <p:cNvSpPr/>
            <p:nvPr/>
          </p:nvSpPr>
          <p:spPr>
            <a:xfrm>
              <a:off x="833056" y="3359182"/>
              <a:ext cx="55416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10" b="1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-</a:t>
              </a:r>
            </a:p>
          </p:txBody>
        </p:sp>
        <p:sp>
          <p:nvSpPr>
            <p:cNvPr id="34" name="TextBox 34"/>
            <p:cNvSpPr/>
            <p:nvPr/>
          </p:nvSpPr>
          <p:spPr>
            <a:xfrm>
              <a:off x="2852547" y="3371850"/>
              <a:ext cx="108508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呈现69.568s</a:t>
              </a:r>
            </a:p>
          </p:txBody>
        </p:sp>
        <p:sp>
          <p:nvSpPr>
            <p:cNvPr id="35" name="TextBox 35"/>
            <p:cNvSpPr/>
            <p:nvPr/>
          </p:nvSpPr>
          <p:spPr>
            <a:xfrm>
              <a:off x="6281547" y="3371850"/>
              <a:ext cx="370017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包含图像等待60.011s；不是成功延迟</a:t>
              </a:r>
            </a:p>
          </p:txBody>
        </p:sp>
      </p:grpSp>
      <p:grpSp>
        <p:nvGrpSpPr>
          <p:cNvPr id="41" name="p9-r5"/>
          <p:cNvGrpSpPr/>
          <p:nvPr/>
        </p:nvGrpSpPr>
        <p:grpSpPr>
          <a:xfrm>
            <a:off x="609600" y="3676650"/>
            <a:ext cx="10972800" cy="438150"/>
            <a:chOff x="609600" y="3676650"/>
            <a:chExt cx="10972800" cy="438150"/>
          </a:xfrm>
        </p:grpSpPr>
        <p:sp>
          <p:nvSpPr>
            <p:cNvPr id="37" name="Rectangle 37"/>
            <p:cNvSpPr/>
            <p:nvPr/>
          </p:nvSpPr>
          <p:spPr>
            <a:xfrm>
              <a:off x="609600" y="3676650"/>
              <a:ext cx="10972800" cy="4381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7620">
              <a:solidFill>
                <a:srgbClr val="CBD5E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TextBox 38"/>
            <p:cNvSpPr/>
            <p:nvPr/>
          </p:nvSpPr>
          <p:spPr>
            <a:xfrm>
              <a:off x="833056" y="3816382"/>
              <a:ext cx="55416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1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失败边界</a:t>
              </a:r>
            </a:p>
          </p:txBody>
        </p:sp>
        <p:sp>
          <p:nvSpPr>
            <p:cNvPr id="39" name="TextBox 39"/>
            <p:cNvSpPr/>
            <p:nvPr/>
          </p:nvSpPr>
          <p:spPr>
            <a:xfrm>
              <a:off x="2852547" y="3829050"/>
              <a:ext cx="106537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图像任务失败</a:t>
              </a:r>
            </a:p>
          </p:txBody>
        </p:sp>
        <p:sp>
          <p:nvSpPr>
            <p:cNvPr id="40" name="TextBox 40"/>
            <p:cNvSpPr/>
            <p:nvPr/>
          </p:nvSpPr>
          <p:spPr>
            <a:xfrm>
              <a:off x="6281547" y="3829050"/>
              <a:ext cx="443607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IMAGE_EXECUTION_UNKNOWN；image=null</a:t>
              </a:r>
            </a:p>
          </p:txBody>
        </p:sp>
      </p:grpSp>
      <p:grpSp>
        <p:nvGrpSpPr>
          <p:cNvPr id="46" name="p9-r6"/>
          <p:cNvGrpSpPr/>
          <p:nvPr/>
        </p:nvGrpSpPr>
        <p:grpSpPr>
          <a:xfrm>
            <a:off x="609600" y="4133850"/>
            <a:ext cx="10972800" cy="438150"/>
            <a:chOff x="609600" y="4133850"/>
            <a:chExt cx="10972800" cy="438150"/>
          </a:xfrm>
        </p:grpSpPr>
        <p:sp>
          <p:nvSpPr>
            <p:cNvPr id="42" name="Rectangle 42"/>
            <p:cNvSpPr/>
            <p:nvPr/>
          </p:nvSpPr>
          <p:spPr>
            <a:xfrm>
              <a:off x="609600" y="4133850"/>
              <a:ext cx="10972800" cy="438150"/>
            </a:xfrm>
            <a:prstGeom prst="roundRect">
              <a:avLst>
                <a:gd name="adj" fmla="val 13043"/>
              </a:avLst>
            </a:prstGeom>
            <a:solidFill>
              <a:srgbClr val="F1F5F9"/>
            </a:solidFill>
            <a:ln w="7620">
              <a:solidFill>
                <a:srgbClr val="CBD5E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Box 43"/>
            <p:cNvSpPr/>
            <p:nvPr/>
          </p:nvSpPr>
          <p:spPr>
            <a:xfrm>
              <a:off x="833056" y="4273582"/>
              <a:ext cx="55416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10" b="1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-</a:t>
              </a:r>
            </a:p>
          </p:txBody>
        </p:sp>
        <p:sp>
          <p:nvSpPr>
            <p:cNvPr id="44" name="TextBox 44"/>
            <p:cNvSpPr/>
            <p:nvPr/>
          </p:nvSpPr>
          <p:spPr>
            <a:xfrm>
              <a:off x="2852547" y="4286250"/>
              <a:ext cx="80143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单次样本</a:t>
              </a:r>
            </a:p>
          </p:txBody>
        </p:sp>
        <p:sp>
          <p:nvSpPr>
            <p:cNvPr id="45" name="TextBox 45"/>
            <p:cNvSpPr/>
            <p:nvPr/>
          </p:nvSpPr>
          <p:spPr>
            <a:xfrm>
              <a:off x="6281547" y="4286250"/>
              <a:ext cx="39743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本轮候选307，未切换；不推算p95或成功率</a:t>
              </a:r>
            </a:p>
          </p:txBody>
        </p:sp>
      </p:grpSp>
      <p:grpSp>
        <p:nvGrpSpPr>
          <p:cNvPr id="51" name="p9-r7"/>
          <p:cNvGrpSpPr/>
          <p:nvPr/>
        </p:nvGrpSpPr>
        <p:grpSpPr>
          <a:xfrm>
            <a:off x="609600" y="4591050"/>
            <a:ext cx="10972800" cy="438150"/>
            <a:chOff x="609600" y="4591050"/>
            <a:chExt cx="10972800" cy="438150"/>
          </a:xfrm>
        </p:grpSpPr>
        <p:sp>
          <p:nvSpPr>
            <p:cNvPr id="47" name="Rectangle 47"/>
            <p:cNvSpPr/>
            <p:nvPr/>
          </p:nvSpPr>
          <p:spPr>
            <a:xfrm>
              <a:off x="609600" y="4591050"/>
              <a:ext cx="10972800" cy="4381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7620">
              <a:solidFill>
                <a:srgbClr val="CBD5E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TextBox 48"/>
            <p:cNvSpPr/>
            <p:nvPr/>
          </p:nvSpPr>
          <p:spPr>
            <a:xfrm>
              <a:off x="833056" y="4730782"/>
              <a:ext cx="55416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1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优化取舍</a:t>
              </a:r>
            </a:p>
          </p:txBody>
        </p:sp>
        <p:sp>
          <p:nvSpPr>
            <p:cNvPr id="49" name="TextBox 49"/>
            <p:cNvSpPr/>
            <p:nvPr/>
          </p:nvSpPr>
          <p:spPr>
            <a:xfrm>
              <a:off x="2852547" y="4743450"/>
              <a:ext cx="146113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官方电商API（规划）</a:t>
              </a:r>
            </a:p>
          </p:txBody>
        </p:sp>
        <p:sp>
          <p:nvSpPr>
            <p:cNvPr id="50" name="TextBox 50"/>
            <p:cNvSpPr/>
            <p:nvPr/>
          </p:nvSpPr>
          <p:spPr>
            <a:xfrm>
              <a:off x="6281547" y="4743450"/>
              <a:ext cx="365769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授权API增强商品信息，OpenCLI做公开资料调研</a:t>
              </a:r>
            </a:p>
          </p:txBody>
        </p:sp>
      </p:grpSp>
      <p:grpSp>
        <p:nvGrpSpPr>
          <p:cNvPr id="56" name="p9-r8"/>
          <p:cNvGrpSpPr/>
          <p:nvPr/>
        </p:nvGrpSpPr>
        <p:grpSpPr>
          <a:xfrm>
            <a:off x="609600" y="5048250"/>
            <a:ext cx="10972800" cy="438150"/>
            <a:chOff x="609600" y="5048250"/>
            <a:chExt cx="10972800" cy="438150"/>
          </a:xfrm>
        </p:grpSpPr>
        <p:sp>
          <p:nvSpPr>
            <p:cNvPr id="52" name="Rectangle 52"/>
            <p:cNvSpPr/>
            <p:nvPr/>
          </p:nvSpPr>
          <p:spPr>
            <a:xfrm>
              <a:off x="609600" y="5048250"/>
              <a:ext cx="10972800" cy="438150"/>
            </a:xfrm>
            <a:prstGeom prst="roundRect">
              <a:avLst>
                <a:gd name="adj" fmla="val 13043"/>
              </a:avLst>
            </a:prstGeom>
            <a:solidFill>
              <a:srgbClr val="F1F5F9"/>
            </a:solidFill>
            <a:ln w="7620">
              <a:solidFill>
                <a:srgbClr val="CBD5E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TextBox 53"/>
            <p:cNvSpPr/>
            <p:nvPr/>
          </p:nvSpPr>
          <p:spPr>
            <a:xfrm>
              <a:off x="833056" y="5187982"/>
              <a:ext cx="41814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10" b="1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-</a:t>
              </a:r>
            </a:p>
          </p:txBody>
        </p:sp>
        <p:sp>
          <p:nvSpPr>
            <p:cNvPr id="54" name="TextBox 54"/>
            <p:cNvSpPr/>
            <p:nvPr/>
          </p:nvSpPr>
          <p:spPr>
            <a:xfrm>
              <a:off x="2852547" y="5200650"/>
              <a:ext cx="134893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资源消耗未测</a:t>
              </a:r>
            </a:p>
          </p:txBody>
        </p:sp>
        <p:sp>
          <p:nvSpPr>
            <p:cNvPr id="55" name="TextBox 55"/>
            <p:cNvSpPr/>
            <p:nvPr/>
          </p:nvSpPr>
          <p:spPr>
            <a:xfrm>
              <a:off x="6281547" y="5200650"/>
              <a:ext cx="379618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并发、资源占用与扩容效果仍需独立验证</a:t>
              </a:r>
            </a:p>
          </p:txBody>
        </p:sp>
      </p:grpSp>
      <p:grpSp>
        <p:nvGrpSpPr>
          <p:cNvPr id="59" name="p9-note"/>
          <p:cNvGrpSpPr/>
          <p:nvPr/>
        </p:nvGrpSpPr>
        <p:grpSpPr>
          <a:xfrm>
            <a:off x="609600" y="5524500"/>
            <a:ext cx="10972800" cy="419100"/>
            <a:chOff x="609600" y="5524500"/>
            <a:chExt cx="10972800" cy="419100"/>
          </a:xfrm>
        </p:grpSpPr>
        <p:sp>
          <p:nvSpPr>
            <p:cNvPr id="57" name="Rectangle 57"/>
            <p:cNvSpPr/>
            <p:nvPr/>
          </p:nvSpPr>
          <p:spPr>
            <a:xfrm>
              <a:off x="609600" y="5524500"/>
              <a:ext cx="10972800" cy="419100"/>
            </a:xfrm>
            <a:prstGeom prst="roundRect">
              <a:avLst>
                <a:gd name="adj" fmla="val 22727"/>
              </a:avLst>
            </a:prstGeom>
            <a:solidFill>
              <a:srgbClr val="FEF3C7"/>
            </a:solidFill>
            <a:ln w="13335">
              <a:solidFill>
                <a:srgbClr val="B45309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TextBox 58"/>
            <p:cNvSpPr/>
            <p:nvPr/>
          </p:nvSpPr>
          <p:spPr>
            <a:xfrm>
              <a:off x="833438" y="5676900"/>
              <a:ext cx="8329708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40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接口墙钟时间与provider耗时分开；原始账本、配置与阶段输出随附。</a:t>
              </a:r>
            </a:p>
          </p:txBody>
        </p:sp>
      </p:grp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2-title"/>
          <p:cNvGrpSpPr/>
          <p:nvPr/>
        </p:nvGrpSpPr>
        <p:grpSpPr>
          <a:xfrm>
            <a:off x="609600" y="539782"/>
            <a:ext cx="4808220" cy="450818"/>
            <a:chOff x="609600" y="539782"/>
            <a:chExt cx="4808220" cy="450818"/>
          </a:xfrm>
        </p:grpSpPr>
        <p:sp>
          <p:nvSpPr>
            <p:cNvPr id="2" name="Rectangle 2"/>
            <p:cNvSpPr/>
            <p:nvPr/>
          </p:nvSpPr>
          <p:spPr>
            <a:xfrm>
              <a:off x="609600" y="571500"/>
              <a:ext cx="57150" cy="419100"/>
            </a:xfrm>
            <a:prstGeom prst="roundRect">
              <a:avLst>
                <a:gd name="adj" fmla="val 50000"/>
              </a:avLst>
            </a:prstGeom>
            <a:solidFill>
              <a:srgbClr val="4338C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TextBox 3"/>
            <p:cNvSpPr/>
            <p:nvPr/>
          </p:nvSpPr>
          <p:spPr>
            <a:xfrm>
              <a:off x="788670" y="539782"/>
              <a:ext cx="46291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22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总结与不足</a:t>
              </a:r>
            </a:p>
          </p:txBody>
        </p:sp>
      </p:grpSp>
      <p:grpSp>
        <p:nvGrpSpPr>
          <p:cNvPr id="6" name="p12-kicker"/>
          <p:cNvGrpSpPr/>
          <p:nvPr/>
        </p:nvGrpSpPr>
        <p:grpSpPr>
          <a:xfrm>
            <a:off x="794576" y="939832"/>
            <a:ext cx="2505551" cy="213170"/>
            <a:chOff x="794576" y="939832"/>
            <a:chExt cx="2505551" cy="213170"/>
          </a:xfrm>
        </p:grpSpPr>
        <p:sp>
          <p:nvSpPr>
            <p:cNvPr id="5" name="TextBox 5"/>
            <p:cNvSpPr/>
            <p:nvPr/>
          </p:nvSpPr>
          <p:spPr>
            <a:xfrm>
              <a:off x="794576" y="939832"/>
              <a:ext cx="2505551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9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边界明确，优先改进真实缺口</a:t>
              </a:r>
            </a:p>
          </p:txBody>
        </p:sp>
      </p:grpSp>
      <p:grpSp>
        <p:nvGrpSpPr>
          <p:cNvPr id="8" name="p12-rule"/>
          <p:cNvGrpSpPr/>
          <p:nvPr/>
        </p:nvGrpSpPr>
        <p:grpSpPr>
          <a:xfrm>
            <a:off x="609600" y="1228725"/>
            <a:ext cx="10972800" cy="9525"/>
            <a:chOff x="609600" y="1228725"/>
            <a:chExt cx="10972800" cy="9525"/>
          </a:xfrm>
        </p:grpSpPr>
        <p:sp>
          <p:nvSpPr>
            <p:cNvPr id="7" name="Line 7"/>
            <p:cNvSpPr/>
            <p:nvPr/>
          </p:nvSpPr>
          <p:spPr>
            <a:xfrm>
              <a:off x="609600" y="12287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4288">
              <a:solidFill>
                <a:srgbClr val="CBD5E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p12-foot"/>
          <p:cNvGrpSpPr/>
          <p:nvPr/>
        </p:nvGrpSpPr>
        <p:grpSpPr>
          <a:xfrm>
            <a:off x="604838" y="6553200"/>
            <a:ext cx="10982325" cy="176212"/>
            <a:chOff x="604838" y="6553200"/>
            <a:chExt cx="10982325" cy="176212"/>
          </a:xfrm>
        </p:grpSpPr>
        <p:sp>
          <p:nvSpPr>
            <p:cNvPr id="9" name="TextBox 9"/>
            <p:cNvSpPr/>
            <p:nvPr/>
          </p:nvSpPr>
          <p:spPr>
            <a:xfrm>
              <a:off x="604838" y="6553200"/>
              <a:ext cx="8458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快照9887572 · 源码ZIP随附</a:t>
              </a:r>
            </a:p>
          </p:txBody>
        </p:sp>
        <p:sp>
          <p:nvSpPr>
            <p:cNvPr id="10" name="TextBox 10"/>
            <p:cNvSpPr/>
            <p:nvPr/>
          </p:nvSpPr>
          <p:spPr>
            <a:xfrm>
              <a:off x="11207115" y="6553200"/>
              <a:ext cx="38004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00" b="1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8 / 8</a:t>
              </a:r>
            </a:p>
          </p:txBody>
        </p:sp>
      </p:grpSp>
      <p:grpSp>
        <p:nvGrpSpPr>
          <p:cNvPr id="22" name="p11-kpi"/>
          <p:cNvGrpSpPr/>
          <p:nvPr/>
        </p:nvGrpSpPr>
        <p:grpSpPr>
          <a:xfrm>
            <a:off x="609600" y="1447800"/>
            <a:ext cx="10972800" cy="1257300"/>
            <a:chOff x="609600" y="1447800"/>
            <a:chExt cx="10972800" cy="1257300"/>
          </a:xfrm>
        </p:grpSpPr>
        <p:sp>
          <p:nvSpPr>
            <p:cNvPr id="12" name="Rectangle 12"/>
            <p:cNvSpPr/>
            <p:nvPr/>
          </p:nvSpPr>
          <p:spPr>
            <a:xfrm>
              <a:off x="609600" y="1447800"/>
              <a:ext cx="3467100" cy="1257300"/>
            </a:xfrm>
            <a:prstGeom prst="roundRect">
              <a:avLst>
                <a:gd name="adj" fmla="val 10606"/>
              </a:avLst>
            </a:prstGeom>
            <a:solidFill>
              <a:srgbClr val="EEF2FF"/>
            </a:solidFill>
            <a:ln w="15240">
              <a:solidFill>
                <a:srgbClr val="4338CA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Box 13"/>
            <p:cNvSpPr/>
            <p:nvPr/>
          </p:nvSpPr>
          <p:spPr>
            <a:xfrm>
              <a:off x="844296" y="1530382"/>
              <a:ext cx="7989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4338CA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14" name="TextBox 14"/>
            <p:cNvSpPr/>
            <p:nvPr/>
          </p:nvSpPr>
          <p:spPr>
            <a:xfrm>
              <a:off x="852297" y="1930432"/>
              <a:ext cx="2785396" cy="4583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98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三个有据礼物方向</a:t>
              </a:r>
              <a:br>
                <a:rPr lang="zh-CN" sz="98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</a:br>
              <a:r>
                <a:rPr lang="zh-CN" sz="98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解释选择理由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362450" y="1447800"/>
              <a:ext cx="3467100" cy="1257300"/>
            </a:xfrm>
            <a:prstGeom prst="roundRect">
              <a:avLst>
                <a:gd name="adj" fmla="val 10606"/>
              </a:avLst>
            </a:prstGeom>
            <a:solidFill>
              <a:srgbClr val="CCFBF1"/>
            </a:solidFill>
            <a:ln w="15240">
              <a:solidFill>
                <a:srgbClr val="0F766E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Box 16"/>
            <p:cNvSpPr/>
            <p:nvPr/>
          </p:nvSpPr>
          <p:spPr>
            <a:xfrm>
              <a:off x="4597146" y="1530382"/>
              <a:ext cx="69389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0F766E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7" name="TextBox 17"/>
            <p:cNvSpPr/>
            <p:nvPr/>
          </p:nvSpPr>
          <p:spPr>
            <a:xfrm>
              <a:off x="4605147" y="1930432"/>
              <a:ext cx="2013680" cy="4583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98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用户选择一个合格项</a:t>
              </a:r>
              <a:br>
                <a:rPr lang="zh-CN" sz="98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</a:br>
              <a:r>
                <a:rPr lang="zh-CN" sz="98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系统不擅自替选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115300" y="1447800"/>
              <a:ext cx="3467100" cy="1257300"/>
            </a:xfrm>
            <a:prstGeom prst="roundRect">
              <a:avLst>
                <a:gd name="adj" fmla="val 10606"/>
              </a:avLst>
            </a:prstGeom>
            <a:solidFill>
              <a:srgbClr val="F0FDF4"/>
            </a:solidFill>
            <a:ln w="15240">
              <a:solidFill>
                <a:srgbClr val="15803D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49996" y="1530350"/>
              <a:ext cx="2168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5803D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/>
            <p:nvPr/>
          </p:nvSpPr>
          <p:spPr>
            <a:xfrm>
              <a:off x="8358188" y="2019300"/>
              <a:ext cx="3206210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4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全任务最多一次业务修订</a:t>
              </a:r>
            </a:p>
          </p:txBody>
        </p:sp>
        <p:sp>
          <p:nvSpPr>
            <p:cNvPr id="21" name="TextBox 21"/>
            <p:cNvSpPr/>
            <p:nvPr/>
          </p:nvSpPr>
          <p:spPr>
            <a:xfrm>
              <a:off x="8358188" y="2286000"/>
              <a:ext cx="3128772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40" dirty="0">
                  <a:solidFill>
                    <a:srgbClr val="B91C1C"/>
                  </a:solidFill>
                  <a:latin typeface="Arial"/>
                  <a:ea typeface="Microsoft YaHei"/>
                  <a:cs typeface="Arial"/>
                </a:rPr>
                <a:t>失败与未知如实保留</a:t>
              </a:r>
            </a:p>
          </p:txBody>
        </p:sp>
      </p:grpSp>
      <p:grpSp>
        <p:nvGrpSpPr>
          <p:cNvPr id="27" name="p11-close"/>
          <p:cNvGrpSpPr/>
          <p:nvPr/>
        </p:nvGrpSpPr>
        <p:grpSpPr>
          <a:xfrm>
            <a:off x="609600" y="2895600"/>
            <a:ext cx="10972800" cy="1676400"/>
            <a:chOff x="609600" y="2895600"/>
            <a:chExt cx="10972800" cy="1676400"/>
          </a:xfrm>
        </p:grpSpPr>
        <p:sp>
          <p:nvSpPr>
            <p:cNvPr id="23" name="Rectangle 23"/>
            <p:cNvSpPr/>
            <p:nvPr/>
          </p:nvSpPr>
          <p:spPr>
            <a:xfrm>
              <a:off x="609600" y="2895600"/>
              <a:ext cx="10972800" cy="1676400"/>
            </a:xfrm>
            <a:prstGeom prst="roundRect">
              <a:avLst>
                <a:gd name="adj" fmla="val 7955"/>
              </a:avLst>
            </a:prstGeom>
            <a:solidFill>
              <a:srgbClr val="FFFFFF"/>
            </a:solidFill>
            <a:ln w="17145">
              <a:solidFill>
                <a:srgbClr val="4338CA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Box 24"/>
            <p:cNvSpPr/>
            <p:nvPr/>
          </p:nvSpPr>
          <p:spPr>
            <a:xfrm>
              <a:off x="832485" y="3098768"/>
              <a:ext cx="7653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rgbClr val="4338CA"/>
                  </a:solidFill>
                  <a:latin typeface="Arial"/>
                  <a:ea typeface="Microsoft YaHei"/>
                  <a:cs typeface="Arial"/>
                </a:rPr>
                <a:t>当前交付</a:t>
              </a:r>
            </a:p>
          </p:txBody>
        </p:sp>
        <p:sp>
          <p:nvSpPr>
            <p:cNvPr id="25" name="TextBox 25"/>
            <p:cNvSpPr/>
            <p:nvPr/>
          </p:nvSpPr>
          <p:spPr>
            <a:xfrm>
              <a:off x="832104" y="3378232"/>
              <a:ext cx="702259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现场保留冻结演示，候选不切换。</a:t>
              </a:r>
              <a:br>
                <a:rPr lang="zh-CN" sz="12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</a:br>
              <a:r>
                <a:rPr lang="zh-CN" sz="12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复现源码ZIP随附，快照9887572。</a:t>
              </a:r>
              <a:br>
                <a:rPr lang="zh-CN" sz="12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</a:br>
              <a:r>
                <a:rPr lang="zh-CN" sz="12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未推快照不宣称可直接从远端取得。</a:t>
              </a:r>
            </a:p>
          </p:txBody>
        </p:sp>
        <p:sp>
          <p:nvSpPr>
            <p:cNvPr id="26" name="TextBox 26"/>
            <p:cNvSpPr/>
            <p:nvPr/>
          </p:nvSpPr>
          <p:spPr>
            <a:xfrm>
              <a:off x="833056" y="4273582"/>
              <a:ext cx="572090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01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下一步：评估获授权电商API，改进商品绑定、生图和状态恢复；云部署与金额测算仍待完成。</a:t>
              </a:r>
            </a:p>
          </p:txBody>
        </p:sp>
      </p:grpSp>
      <p:grpSp>
        <p:nvGrpSpPr>
          <p:cNvPr id="32" name="p11-thanks"/>
          <p:cNvGrpSpPr/>
          <p:nvPr/>
        </p:nvGrpSpPr>
        <p:grpSpPr>
          <a:xfrm>
            <a:off x="609600" y="4762500"/>
            <a:ext cx="10972800" cy="1333500"/>
            <a:chOff x="609600" y="4762500"/>
            <a:chExt cx="10972800" cy="1333500"/>
          </a:xfrm>
        </p:grpSpPr>
        <p:sp>
          <p:nvSpPr>
            <p:cNvPr id="28" name="Rectangle 28"/>
            <p:cNvSpPr/>
            <p:nvPr/>
          </p:nvSpPr>
          <p:spPr>
            <a:xfrm>
              <a:off x="609600" y="4762500"/>
              <a:ext cx="10972800" cy="1333500"/>
            </a:xfrm>
            <a:prstGeom prst="roundRect">
              <a:avLst>
                <a:gd name="adj" fmla="val 10000"/>
              </a:avLst>
            </a:prstGeom>
            <a:solidFill>
              <a:srgbClr val="EEF2FF"/>
            </a:solidFill>
            <a:ln w="13335">
              <a:solidFill>
                <a:srgbClr val="4338CA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TextBox 29"/>
            <p:cNvSpPr/>
            <p:nvPr/>
          </p:nvSpPr>
          <p:spPr>
            <a:xfrm>
              <a:off x="832294" y="4965668"/>
              <a:ext cx="356720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160" b="1" dirty="0">
                  <a:solidFill>
                    <a:srgbClr val="4338CA"/>
                  </a:solidFill>
                  <a:latin typeface="Arial"/>
                  <a:ea typeface="Microsoft YaHei"/>
                  <a:cs typeface="Arial"/>
                </a:rPr>
                <a:t>现场演示与不足</a:t>
              </a:r>
            </a:p>
          </p:txBody>
        </p:sp>
        <p:sp>
          <p:nvSpPr>
            <p:cNvPr id="30" name="TextBox 30"/>
            <p:cNvSpPr/>
            <p:nvPr/>
          </p:nvSpPr>
          <p:spPr>
            <a:xfrm>
              <a:off x="833247" y="5187982"/>
              <a:ext cx="8367427" cy="4583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98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按冻结版本演示：输入 → 三方案 → 选择 → 赠送指南。</a:t>
              </a:r>
              <a:br>
                <a:rPr lang="zh-CN" sz="98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</a:br>
              <a:r>
                <a:rPr lang="zh-CN" sz="98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生图失败、来源不匹配或外部故障直接说明，不换成旧成功。</a:t>
              </a:r>
            </a:p>
          </p:txBody>
        </p:sp>
        <p:sp>
          <p:nvSpPr>
            <p:cNvPr id="31" name="TextBox 31"/>
            <p:cNvSpPr/>
            <p:nvPr/>
          </p:nvSpPr>
          <p:spPr>
            <a:xfrm>
              <a:off x="833438" y="5810250"/>
              <a:ext cx="5356003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4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回放必须标非实时；外观、价格库存与物流均未验证。</a:t>
              </a:r>
            </a:p>
          </p:txBody>
        </p:sp>
      </p:grp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giftwise-defense">
  <a:themeElements>
    <a:clrScheme name="giftwise-defens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iftwise-defens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iftwise-defens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giftwise-defense">
  <a:themeElements>
    <a:clrScheme name="giftwise-defens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iftwise-defens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iftwise-defens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9</ns0:TotalTime>
  <ns0:Words>3097</ns0:Words>
  <ns0:Application>Microsoft Office PowerPoint</ns0:Application>
  <ns0:PresentationFormat>宽屏</ns0:PresentationFormat>
  <ns0:Paragraphs>171</ns0:Paragraphs>
  <ns0:Slides>8</ns0:Slides>
  <ns0:Notes>8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1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8</ns1:i4>
      </ns1:variant>
    </ns1:vector>
  </ns0:HeadingPairs>
  <ns0:TitlesOfParts>
    <ns1:vector size="10" baseType="lpstr">
      <ns1:lpstr>Arial</ns1:lpstr>
      <ns1:lpstr>giftwise-defense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</ns1:vector>
  </ns0:TitlesOfParts>
  <ns0:Manager/>
  <ns0:Company/>
  <ns0:LinksUpToDate>false</ns0:LinksUpToDate>
  <ns0:SharedDoc>false</ns0:SharedDoc>
  <ns0:HyperlinkBase/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Yang Tong</cp:lastModifiedBy>
  <cp:revision>2</cp:revision>
  <dcterms:created xsi:type="dcterms:W3CDTF">2026-10-31T16:40:32Z</dcterms:created>
  <dcterms:modified xsi:type="dcterms:W3CDTF">2026-10-31T18:08:27Z</dcterms:modified>
  <cp:category/>
  <cp:contentStatus/>
  <dc:language>zh-CN</dc:language>
</cp:coreProperties>
</file>